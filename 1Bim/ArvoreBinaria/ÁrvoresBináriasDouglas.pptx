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C415DF-0398-179C-1039-2BEA52C571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0B6227-0BBF-CE9A-8331-058FF88B3E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EDDBB1-B7D2-39D6-51F8-F85ED8A0A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EA6C-801B-467F-B8C3-17C06CCD87B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07835A-222D-D034-583F-5D562B0D4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2C54C7-B43A-40D6-737D-8B691CAB9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03CFD-3F2B-4391-8568-08D3296D3A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1639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7D226C-FC9A-B84B-FF26-09E90405D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7EA916-B260-3972-3804-2EF093B03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5C87D8-8F7A-ED65-F2C5-EEB672D9E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EA6C-801B-467F-B8C3-17C06CCD87B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7CAAC7-12DC-13F5-0D80-2FE5AD750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2BABE5-D634-FD9D-CADE-3FE044223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03CFD-3F2B-4391-8568-08D3296D3A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729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957C0-056A-FE64-76DA-AAB8D8821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84EF1A-1B82-E24F-F96B-BEF4C74D0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373458-F583-8C95-965B-CB18C262B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EA6C-801B-467F-B8C3-17C06CCD87B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9F1FA-5544-FB1F-7ADA-0FE3D2E89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FFD526-7D82-F26C-C064-5DB0BD31C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03CFD-3F2B-4391-8568-08D3296D3A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8231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42F23F-1E91-F57C-0600-8EE1727E7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E40D7E-DDB1-2085-B8CA-EA35784091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6730F5E-EDE2-EC9C-9EAC-632C916092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E950C08-4BAD-F0A0-2FB8-8F84F3CE4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EA6C-801B-467F-B8C3-17C06CCD87B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DF288F-5712-2667-E7D2-49E4C08A6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7A2DCD9-61A9-E1D9-57EC-F8F8DBFAD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03CFD-3F2B-4391-8568-08D3296D3A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1065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121A95-0488-3F98-4B5B-F9A2BFE59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1AC494-699C-B9B9-72E7-3919DF3F3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0BE53C1-0BC8-9E2B-7E29-9122D7766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5B206A6-117B-EF26-66D0-5B2BAA6544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0BF6C3A-1152-87C5-0337-CC86EDB499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2524021-E2D4-6554-F07C-DA8C6BAAB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EA6C-801B-467F-B8C3-17C06CCD87B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B1A1263-8585-C002-C0D6-C983AC19E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7FF60EA-B5A2-EBC7-EF5F-2E19A7D2B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03CFD-3F2B-4391-8568-08D3296D3A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9700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DE9C90-6F7E-D3F3-10F6-1B9E64FE3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6AEB346-53CD-B02F-397A-5A03AEBBC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EA6C-801B-467F-B8C3-17C06CCD87B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8AF85BC-71FE-8F97-020C-82A03C3DC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A11BEFD-AD09-792C-4840-BA71C7236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03CFD-3F2B-4391-8568-08D3296D3A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9477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E58736C-2A48-A2EE-9699-B79F7E336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EA6C-801B-467F-B8C3-17C06CCD87B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5EEB8FF-7567-0192-C1A2-F551F1EE0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A639DBA-0D69-B9CD-D076-B64B6FEEE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03CFD-3F2B-4391-8568-08D3296D3A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9967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EF9980-49BA-8A9E-3CF7-208843974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EA4F21-CD38-8D4E-4B3F-345B2CCCF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5B10DFB-2369-8599-B92F-AFD4086C1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841723-E3D5-9F04-79EB-36897E9D5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EA6C-801B-467F-B8C3-17C06CCD87B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6ADF86-7BCF-D367-82C7-F03590552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F68D24-6941-1D02-1FA9-D5EA0286E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03CFD-3F2B-4391-8568-08D3296D3A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3094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B458A-0497-1F98-9847-38DD8BE37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A1C5F06-6DD6-BFB5-DAB5-DA8A9D35BE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5F0A5E-CD61-594F-8954-B5F6AE873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395EB2-3DBD-51C7-AFFF-919AB6E77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EA6C-801B-467F-B8C3-17C06CCD87B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16EAB70-14BE-84FA-FAA9-3EBABC0DF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B962BF-057A-BF41-5809-8AA9E9246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03CFD-3F2B-4391-8568-08D3296D3A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3686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6C66DE-AB35-8F9D-646A-A799B57AF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876CDF1-081B-1421-C2FB-6C7102FFA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EA07D7-963D-330A-B9FA-82891C53C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EA6C-801B-467F-B8C3-17C06CCD87B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216F4F-A1AE-7F04-059B-D8AEEDE56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6EF272-82C9-0FF6-B7EF-B1A3909C1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03CFD-3F2B-4391-8568-08D3296D3A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9081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57647A-70D9-7F2F-9B4D-D1DF2325C9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E7A439-9EF4-A02E-A1BF-06AAE7B7E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BDB467-D05F-8106-6960-C074BF94C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EA6C-801B-467F-B8C3-17C06CCD87B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F2500D-E9FB-510E-B239-03BF302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2EB6C4-77FB-F594-F2C7-2DB9F1110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03CFD-3F2B-4391-8568-08D3296D3A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7958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3FF67B9-FA9F-0028-15FC-090B16C8E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B37A519-A42B-D834-C9D2-C8A11084F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30A269-A2AA-353F-3768-D1AAE66B4D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70EA6C-801B-467F-B8C3-17C06CCD87B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176282-E21F-EFE3-0C4B-EE173AFE4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D38260-2EB8-9B0F-9D87-E5C30B96D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603CFD-3F2B-4391-8568-08D3296D3A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933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1A0455-1FAE-1C20-C59E-9DAD5C9A1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361714" cy="2763837"/>
          </a:xfrm>
        </p:spPr>
        <p:txBody>
          <a:bodyPr/>
          <a:lstStyle/>
          <a:p>
            <a:r>
              <a:rPr lang="pt-BR" dirty="0"/>
              <a:t>Árvores Binárias/Árvores Balanceadas</a:t>
            </a:r>
          </a:p>
        </p:txBody>
      </p:sp>
    </p:spTree>
    <p:extLst>
      <p:ext uri="{BB962C8B-B14F-4D97-AF65-F5344CB8AC3E}">
        <p14:creationId xmlns:p14="http://schemas.microsoft.com/office/powerpoint/2010/main" val="3294329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F8B14-CD02-880F-E018-C45A62A51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A349F316-00E2-6A56-972B-57067EE06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23" y="261495"/>
            <a:ext cx="11488753" cy="633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203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0DCBC-BBCD-23B2-7B7B-563044474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C6C0A6C-E817-AF1E-EE11-E4844E5BC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84" y="4814"/>
            <a:ext cx="10374087" cy="685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683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A7A71-12D8-D8E5-911A-032F260D7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0EC4115-AA07-649D-8C6A-6A740EC9F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" y="0"/>
            <a:ext cx="7347857" cy="621574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3FB0735-7609-904C-DF50-DE021449BCDC}"/>
              </a:ext>
            </a:extLst>
          </p:cNvPr>
          <p:cNvSpPr txBox="1"/>
          <p:nvPr/>
        </p:nvSpPr>
        <p:spPr>
          <a:xfrm>
            <a:off x="7685314" y="163286"/>
            <a:ext cx="424542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Para representar um nó de uma árvore binária em </a:t>
            </a:r>
            <a:r>
              <a:rPr lang="pt-BR" sz="2800" b="1" dirty="0"/>
              <a:t>linguagem C</a:t>
            </a:r>
            <a:r>
              <a:rPr lang="pt-BR" sz="2800" dirty="0"/>
              <a:t>, utilizamos uma </a:t>
            </a:r>
            <a:r>
              <a:rPr lang="pt-BR" sz="2800" dirty="0" err="1"/>
              <a:t>struct</a:t>
            </a:r>
            <a:r>
              <a:rPr lang="pt-BR" sz="2800" dirty="0"/>
              <a:t>. Na programação, cada "moldura" (ou pessoa) da sua árvore genealógica anterior seria um objeto dessa estrutura, contendo um valor e dois ponteiros</a:t>
            </a:r>
          </a:p>
        </p:txBody>
      </p:sp>
    </p:spTree>
    <p:extLst>
      <p:ext uri="{BB962C8B-B14F-4D97-AF65-F5344CB8AC3E}">
        <p14:creationId xmlns:p14="http://schemas.microsoft.com/office/powerpoint/2010/main" val="1202429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A445B-F921-8C16-6E33-44D09ABC2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166B7E0-197D-78A3-CF14-C080FAEA0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771" y="0"/>
            <a:ext cx="4669971" cy="293914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185D168-E29B-17F3-47D1-5E74688B3171}"/>
              </a:ext>
            </a:extLst>
          </p:cNvPr>
          <p:cNvSpPr txBox="1"/>
          <p:nvPr/>
        </p:nvSpPr>
        <p:spPr>
          <a:xfrm>
            <a:off x="4735287" y="76201"/>
            <a:ext cx="733697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O "Dado" (</a:t>
            </a:r>
            <a:r>
              <a:rPr lang="pt-BR" sz="2400" b="1" dirty="0" err="1"/>
              <a:t>int</a:t>
            </a:r>
            <a:r>
              <a:rPr lang="pt-BR" sz="2400" b="1" dirty="0"/>
              <a:t> dado)</a:t>
            </a:r>
            <a:r>
              <a:rPr lang="pt-BR" sz="2400" dirty="0"/>
              <a:t>: É o conteúdo do nó. Na sua árvore anterior, seria o nome e a foto da pessoa (</a:t>
            </a:r>
            <a:r>
              <a:rPr lang="pt-BR" sz="2400" dirty="0" err="1"/>
              <a:t>ex</a:t>
            </a:r>
            <a:r>
              <a:rPr lang="pt-BR" sz="2400" dirty="0"/>
              <a:t>: "Joaquim &amp; Maria").</a:t>
            </a:r>
          </a:p>
          <a:p>
            <a:pPr algn="just"/>
            <a:r>
              <a:rPr lang="pt-BR" sz="2400" b="1" dirty="0"/>
              <a:t>Ponteiro Esquerdo (*esquerda)</a:t>
            </a:r>
            <a:r>
              <a:rPr lang="pt-BR" sz="2400" dirty="0"/>
              <a:t>: Uma "seta" ou conexão que guarda o endereço de memória do filho à esquerda (</a:t>
            </a:r>
            <a:r>
              <a:rPr lang="pt-BR" sz="2400" dirty="0" err="1"/>
              <a:t>ex</a:t>
            </a:r>
            <a:r>
              <a:rPr lang="pt-BR" sz="2400" dirty="0"/>
              <a:t>: "João").</a:t>
            </a:r>
          </a:p>
          <a:p>
            <a:pPr algn="just"/>
            <a:r>
              <a:rPr lang="pt-BR" sz="2400" b="1" dirty="0"/>
              <a:t>Ponteiro Direito (*direita)</a:t>
            </a:r>
            <a:r>
              <a:rPr lang="pt-BR" sz="2400" dirty="0"/>
              <a:t>: Uma conexão para o filho à direita (</a:t>
            </a:r>
            <a:r>
              <a:rPr lang="pt-BR" sz="2400" dirty="0" err="1"/>
              <a:t>ex</a:t>
            </a:r>
            <a:r>
              <a:rPr lang="pt-BR" sz="2400" dirty="0"/>
              <a:t>: "Maria Teresa").</a:t>
            </a:r>
          </a:p>
          <a:p>
            <a:pPr algn="just"/>
            <a:r>
              <a:rPr lang="pt-BR" sz="2400" b="1" dirty="0"/>
              <a:t>NULL</a:t>
            </a:r>
            <a:r>
              <a:rPr lang="pt-BR" sz="2400" dirty="0"/>
              <a:t>: Quando um nó não tem filhos (como os "Bisnetos" na G3 da sua imagem), os ponteiros esquerda e direita apontam para NULL, indicando o fim daquela ramificação.</a:t>
            </a:r>
          </a:p>
          <a:p>
            <a:pPr algn="just"/>
            <a:r>
              <a:rPr lang="pt-BR" sz="2400" b="1" dirty="0"/>
              <a:t>REGRA</a:t>
            </a:r>
            <a:r>
              <a:rPr lang="pt-BR" sz="2400" dirty="0"/>
              <a:t>: um novo elemento será inserido a esquerda ou à direita de outro, se seu valor for menor ou maior respectivamente.</a:t>
            </a:r>
          </a:p>
          <a:p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C2EB578-78CE-9E3C-7C64-80704A4C6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771" y="2939143"/>
            <a:ext cx="4757057" cy="388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525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AF037429-D80E-24D0-EB26-8BBFAEDE9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030" y="174171"/>
            <a:ext cx="4876800" cy="5714999"/>
          </a:xfrm>
        </p:spPr>
        <p:txBody>
          <a:bodyPr>
            <a:normAutofit/>
          </a:bodyPr>
          <a:lstStyle/>
          <a:p>
            <a:r>
              <a:rPr lang="pt-BR" dirty="0"/>
              <a:t>Criamos o no raiz com o valor “5”, vamos criar elementos filhos</a:t>
            </a:r>
          </a:p>
          <a:p>
            <a:r>
              <a:rPr lang="pt-BR" dirty="0"/>
              <a:t>Criamos o elemento com o valor “2”.</a:t>
            </a:r>
          </a:p>
          <a:p>
            <a:r>
              <a:rPr lang="pt-BR" dirty="0"/>
              <a:t>Verificamos o valor, caso o elemento “2” tenha um valor menor que “5”, então vamos inserir ao seu lado esquerdo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74C4979-FCB5-3FFB-6AD5-DAD87ADDF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72" y="364367"/>
            <a:ext cx="5366657" cy="552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396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91DA0-39B8-C0B6-3BE7-45D442568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6577177-90CB-74F3-FB23-B0BA1732B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43" y="87086"/>
            <a:ext cx="7108371" cy="6455228"/>
          </a:xfrm>
        </p:spPr>
        <p:txBody>
          <a:bodyPr>
            <a:normAutofit/>
          </a:bodyPr>
          <a:lstStyle/>
          <a:p>
            <a:r>
              <a:rPr lang="pt-BR" dirty="0"/>
              <a:t>Criamos o no raiz com o valor “5”, vamos criar elementos filhos</a:t>
            </a:r>
          </a:p>
          <a:p>
            <a:r>
              <a:rPr lang="pt-BR" dirty="0"/>
              <a:t>Criamos o elemento com o valor “2”.</a:t>
            </a:r>
          </a:p>
          <a:p>
            <a:r>
              <a:rPr lang="pt-BR" dirty="0"/>
              <a:t>Verificamos o valor, caso o elemento “2” tenha um valor menor que “5”, então vamos inserir ao seu lado esquerdo</a:t>
            </a:r>
          </a:p>
          <a:p>
            <a:r>
              <a:rPr lang="pt-BR" dirty="0"/>
              <a:t>Depois criamos o elemento “1”</a:t>
            </a:r>
          </a:p>
          <a:p>
            <a:r>
              <a:rPr lang="pt-BR" dirty="0"/>
              <a:t>Verificamos o valor, caso o elemento”1”  tenha um valor menor que “5” vamos inserir a esquerda</a:t>
            </a:r>
          </a:p>
          <a:p>
            <a:r>
              <a:rPr lang="pt-BR" dirty="0"/>
              <a:t>Na esquerda já temos um elemento então verificamos, se “1”  menor que “2” vamos inserir a esquerda  </a:t>
            </a:r>
          </a:p>
          <a:p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CB3BF4D-23FC-1E69-AFED-F5E9276B0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314" y="-11093"/>
            <a:ext cx="4887686" cy="676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097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B2B9C-C5D3-D11A-6801-0FB4B792E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2708CCF-AF75-0565-0046-34AD98020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43" y="87086"/>
            <a:ext cx="7108371" cy="6455228"/>
          </a:xfrm>
        </p:spPr>
        <p:txBody>
          <a:bodyPr>
            <a:normAutofit/>
          </a:bodyPr>
          <a:lstStyle/>
          <a:p>
            <a:r>
              <a:rPr lang="pt-BR" dirty="0"/>
              <a:t>Criamos o no raiz com o valor “5”, vamos criar elementos filhos</a:t>
            </a:r>
          </a:p>
          <a:p>
            <a:r>
              <a:rPr lang="pt-BR" dirty="0"/>
              <a:t>Criamos o elemento com o valor “2”.</a:t>
            </a:r>
          </a:p>
          <a:p>
            <a:r>
              <a:rPr lang="pt-BR" dirty="0"/>
              <a:t>Verificamos o valor, caso o elemento “2” tenha um valor menor que “5”, então vamos inserir ao seu lado esquerdo</a:t>
            </a:r>
          </a:p>
          <a:p>
            <a:r>
              <a:rPr lang="pt-BR" dirty="0"/>
              <a:t>Depois criamos o elemento “1”</a:t>
            </a:r>
          </a:p>
          <a:p>
            <a:r>
              <a:rPr lang="pt-BR" dirty="0"/>
              <a:t>Verificamos o valor, caso o elemento”1”  tenha um valor menor que “5” vamos inserir a esquerda</a:t>
            </a:r>
          </a:p>
          <a:p>
            <a:r>
              <a:rPr lang="pt-BR" dirty="0"/>
              <a:t>Na esquerda já temos um elemento então verificamos, se “1”  menor que “2” vamos inserir a esquerda  </a:t>
            </a:r>
          </a:p>
          <a:p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4355720-82A3-4D59-2F95-CA79FEDD2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113" y="87085"/>
            <a:ext cx="4685944" cy="657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871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58696-7E05-6013-52BB-DC91FCACD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668EB45-AE37-858B-29BF-590B13394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43" y="87086"/>
            <a:ext cx="5900057" cy="6455228"/>
          </a:xfrm>
        </p:spPr>
        <p:txBody>
          <a:bodyPr>
            <a:normAutofit/>
          </a:bodyPr>
          <a:lstStyle/>
          <a:p>
            <a:r>
              <a:rPr lang="pt-BR" dirty="0"/>
              <a:t>Agora vamos inserir o elemento “8”, verificamos se “8” e menor que “5”, se não for vamos inserir a </a:t>
            </a:r>
            <a:r>
              <a:rPr lang="pt-BR" dirty="0" err="1"/>
              <a:t>diretia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7154B5D-73DC-8779-2367-04578727C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263" y="205224"/>
            <a:ext cx="4782217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096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76C7B-F37D-AA02-E878-45B9C46EE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24F91AB-EA60-38E5-B0B2-9A69C3F2F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44" y="87086"/>
            <a:ext cx="4942114" cy="6455228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Agora vamos inserir o elemento “4”, verificamos se “4” e menor que “5”, se for vamos inserir a esquerda, se na esquerda já temos elemento então verificamos novamente com base nesse elemento preenchido na esquerda do elemento “5”, no caso o elemento “2”, o elemento “4” é menor que o elemento “2”? se for inserimos a esquerda caso contrario a direita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83B3119-4053-D373-47FD-4B1471C27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7785" y="87086"/>
            <a:ext cx="6068272" cy="547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1561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537</Words>
  <Application>Microsoft Office PowerPoint</Application>
  <PresentationFormat>Widescreen</PresentationFormat>
  <Paragraphs>24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do Office</vt:lpstr>
      <vt:lpstr>Árvores Binárias/Árvores Balanceadas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Douglas Lopes Farias</dc:creator>
  <cp:lastModifiedBy>Douglas Lopes Farias</cp:lastModifiedBy>
  <cp:revision>2</cp:revision>
  <dcterms:created xsi:type="dcterms:W3CDTF">2026-03-09T19:35:12Z</dcterms:created>
  <dcterms:modified xsi:type="dcterms:W3CDTF">2026-03-09T20:48:52Z</dcterms:modified>
</cp:coreProperties>
</file>