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61180-9C8D-50C2-54C9-25D047FFF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198267-ED1A-9249-3539-59AD5EF11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02597-6BC1-6D18-E408-1CD9FC5F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EDD99-112A-76D3-C737-FF396C40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FFA8C0-E6D9-4050-1732-92153766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58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E5446-8077-3BA4-318A-930ADF06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1FBACF-71F0-4734-CE01-A10D8C79C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45951-9985-32C9-F524-716936C1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AD350E-1782-2510-0D2F-316B6815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08C566-D18F-EF02-652E-FEE295C0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5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A31C0-ECFE-0BF7-E2D4-78296C019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BAF466-7855-595C-058A-8F22E3DDE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E7CD5C-12C8-A421-E5E2-946C0A75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E0DDBA-BE27-C22E-85C2-556F1EE5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5A5FD4-FF21-CCF6-B414-97B30603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02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899BC-0E2A-126A-A5A3-8CA4AEA8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B7565-B24F-E680-E48F-857ACBB11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FD1A14-E81A-B2FA-CC13-2ABF4A464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6558DD-7BEC-7FF1-4E59-BDBE92BA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0AEA16-AAE0-C944-8767-5D3CEDB2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397E5C-60C9-AF88-10C2-3DB17D61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396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F7C97-0AF7-0D16-4154-520754A6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F42568-2229-75FF-8F0A-C5131E2A9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62161A-72D0-82D6-29C5-DF14CFDDC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4BA4D15-EE2A-B595-701B-6518E3D44E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CC13611-FE8A-3C42-3A2C-BCEE69185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5766E8-3481-7BBA-BD1F-95BE8E5F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755AEC-2CF6-74BD-AF2E-851F0E3A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51451E-1462-F329-B2EE-3428C310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77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0009F-E12A-7317-8004-7719F41B9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A9403B-BC51-C2C4-BDEC-089464E2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76B489-7B0B-BB96-6333-27DD296B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7BB3BC-0871-D0EC-6E30-7C24EAE1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03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681E01-C393-A8AD-5B1B-1528F64C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D2C1E8-1611-58AC-5492-DB16C20B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6F30E3-C970-2712-4477-3A915EAD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65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7D9BB-4B60-4D26-9132-B09FFEEA5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994121-61BF-31BC-BF84-0A6203F0C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12271E-D08A-0657-27B1-4B34D4EE1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495E4C-40A2-0634-CB5B-A7E368A3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7523E4-8526-BE3C-2381-1C65B1D5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DA30E2-ADA2-99D5-2E1B-223C9FD4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9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69C40-4EE2-28AC-3DDD-8F369AED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AFC440-AD52-4D8D-6792-C7E3A98BD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273CF5-4C37-7C5B-2364-23662DA45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59B927-F8CD-BC88-1619-36DDA72AF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A0FAAF-5949-B703-E838-5A45FD87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0D6CA7-2751-1ED7-3F3B-20AED3C6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22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59E8F-B86D-8894-DC6A-9BC08CE04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3D034-4A52-DDD8-4B6A-922B037AD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590C12-8101-D997-3624-6171092A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BFA910-6372-BBC5-8BC8-8C8DD977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E648A3-E1C0-BF6B-1EF8-202402D4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341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55C554-5AE5-86E3-38E7-CDF3539C8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66ADC0-B7DC-E1D4-AF02-45F4BB71F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D251BB-6DFA-7DFE-6B0F-3A2AE388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096240-B2AA-68C2-94A6-9773F32F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D32F1B-479E-C1CE-83B4-991C0DE2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858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4FE56B4-A29D-1C09-E59F-83D1BCC9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37CAB9-62E7-A30E-4370-CFE7AE176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FF40DC-AB7C-6362-0EB4-0BA293B9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6B202-CC50-4BA4-B728-B6F39ED687E2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875463-96E8-C715-5801-75E2CB9AF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0058D8-D524-BED0-E2AB-86F3865F9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6A6F9-B577-4748-BE40-1703744F6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00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DE6F6-8499-B192-AB1B-19DFE32EA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7B4AFD-0624-0CA2-399D-77E2B36F2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14" y="1458686"/>
            <a:ext cx="12050486" cy="5399314"/>
          </a:xfrm>
        </p:spPr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4400" dirty="0"/>
              <a:t>Merge </a:t>
            </a:r>
            <a:r>
              <a:rPr lang="pt-BR" sz="4400" dirty="0" err="1"/>
              <a:t>Sort</a:t>
            </a:r>
            <a:r>
              <a:rPr lang="pt-BR" sz="4400" dirty="0"/>
              <a:t> é um algoritmo de ordenação que divide uma lista em partes menores até que cada parte tenha apenas um elemento.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4400" dirty="0"/>
              <a:t>Depois, ele junta essas partes novamente em ordem, formando uma lista completamente organizada.</a:t>
            </a:r>
          </a:p>
        </p:txBody>
      </p:sp>
    </p:spTree>
    <p:extLst>
      <p:ext uri="{BB962C8B-B14F-4D97-AF65-F5344CB8AC3E}">
        <p14:creationId xmlns:p14="http://schemas.microsoft.com/office/powerpoint/2010/main" val="234643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C28E-3212-8442-B24B-14B8BF75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992FB-052F-D7CB-1E1B-D75584140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4E0DCB-1A9E-9320-7667-C5A092C77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14" y="805543"/>
            <a:ext cx="12050486" cy="6052457"/>
          </a:xfrm>
        </p:spPr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4400" dirty="0"/>
              <a:t>Considere o vetor:</a:t>
            </a:r>
          </a:p>
          <a:p>
            <a:pPr algn="just"/>
            <a:r>
              <a:rPr lang="pt-BR" sz="4400" dirty="0"/>
              <a:t>[8, 3, 5, 2]</a:t>
            </a:r>
          </a:p>
          <a:p>
            <a:pPr algn="just"/>
            <a:endParaRPr lang="pt-BR" sz="4400" dirty="0"/>
          </a:p>
          <a:p>
            <a:pPr algn="l"/>
            <a:r>
              <a:rPr lang="pt-BR" sz="4400" b="1" dirty="0"/>
              <a:t>1. Dividir</a:t>
            </a:r>
          </a:p>
          <a:p>
            <a:pPr algn="l"/>
            <a:r>
              <a:rPr lang="pt-BR" sz="4000" dirty="0"/>
              <a:t>O vetor é dividido ao meio:</a:t>
            </a:r>
          </a:p>
          <a:p>
            <a:pPr algn="l"/>
            <a:r>
              <a:rPr lang="pt-BR" sz="4000" dirty="0"/>
              <a:t>[8, 3]    [5, 2]</a:t>
            </a:r>
          </a:p>
          <a:p>
            <a:pPr algn="l"/>
            <a:r>
              <a:rPr lang="pt-BR" sz="4000" dirty="0"/>
              <a:t>Depois, cada parte é dividida novamente:</a:t>
            </a:r>
          </a:p>
          <a:p>
            <a:pPr algn="l"/>
            <a:r>
              <a:rPr lang="pt-BR" sz="4000" dirty="0"/>
              <a:t>[8] [3]   [5] [2]</a:t>
            </a:r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55522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CE78-9744-AD16-6D36-2B13328E5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3A539-18BC-61C4-13D2-8F6DC0AA1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13E583-9537-8CBF-79F9-EA6CFEB8B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14" y="805543"/>
            <a:ext cx="12050486" cy="6052457"/>
          </a:xfrm>
        </p:spPr>
        <p:txBody>
          <a:bodyPr>
            <a:normAutofit/>
          </a:bodyPr>
          <a:lstStyle/>
          <a:p>
            <a:pPr algn="l"/>
            <a:r>
              <a:rPr lang="pt-BR" sz="4400" b="1" dirty="0"/>
              <a:t>2. Combinar (Merge)</a:t>
            </a:r>
          </a:p>
          <a:p>
            <a:pPr algn="l"/>
            <a:r>
              <a:rPr lang="pt-BR" sz="4400" dirty="0"/>
              <a:t>Agora os elementos são reunidos em ordem:</a:t>
            </a:r>
          </a:p>
          <a:p>
            <a:pPr algn="l"/>
            <a:r>
              <a:rPr lang="pt-BR" sz="4400" dirty="0"/>
              <a:t>[8] e [3]  →  [3, 8]</a:t>
            </a:r>
            <a:br>
              <a:rPr lang="pt-BR" sz="4400" dirty="0"/>
            </a:br>
            <a:br>
              <a:rPr lang="pt-BR" sz="4400" dirty="0"/>
            </a:br>
            <a:r>
              <a:rPr lang="pt-BR" sz="4400" dirty="0"/>
              <a:t>[5] e [2]  →  [2, 5]</a:t>
            </a:r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691622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D3FB-5460-805E-C6A6-E18EE6C6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21FBD-3EAB-5664-8850-2A2359897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627D8-AE5F-177D-8956-B4C6CBD48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14" y="805543"/>
            <a:ext cx="12050486" cy="6052457"/>
          </a:xfrm>
        </p:spPr>
        <p:txBody>
          <a:bodyPr>
            <a:normAutofit/>
          </a:bodyPr>
          <a:lstStyle/>
          <a:p>
            <a:pPr algn="l"/>
            <a:r>
              <a:rPr lang="pt-BR" sz="4400" b="1" dirty="0"/>
              <a:t>3. Combinar novamente</a:t>
            </a:r>
          </a:p>
          <a:p>
            <a:pPr algn="l"/>
            <a:r>
              <a:rPr lang="pt-BR" sz="4400" dirty="0"/>
              <a:t>[3, 8] e [2, 5]</a:t>
            </a:r>
          </a:p>
          <a:p>
            <a:pPr algn="l"/>
            <a:endParaRPr lang="pt-BR" sz="4400" dirty="0"/>
          </a:p>
          <a:p>
            <a:pPr algn="l"/>
            <a:r>
              <a:rPr lang="pt-BR" sz="4400" dirty="0"/>
              <a:t>Comparando os elementos em ordem:</a:t>
            </a:r>
          </a:p>
          <a:p>
            <a:pPr algn="l"/>
            <a:r>
              <a:rPr lang="pt-BR" sz="4400" dirty="0"/>
              <a:t>2, 3, 5, 8</a:t>
            </a:r>
          </a:p>
          <a:p>
            <a:pPr algn="l"/>
            <a:r>
              <a:rPr lang="pt-BR" sz="4400" dirty="0"/>
              <a:t>Resultado:</a:t>
            </a:r>
          </a:p>
          <a:p>
            <a:pPr algn="l"/>
            <a:r>
              <a:rPr lang="pt-BR" sz="4400" dirty="0"/>
              <a:t>[2, 3, 5, 8]</a:t>
            </a:r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409057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A1555-8249-E24B-59E7-5210DD05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BEEE1-7094-8814-2DF5-49028B06C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03F57C-BC29-AFC1-49CB-6E836589B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14" y="805543"/>
            <a:ext cx="12050486" cy="6052457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3900" dirty="0"/>
              <a:t>Imagine que você recebeu um monte de cartas embaralhadas.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3900" dirty="0"/>
              <a:t>Em vez de tentar organizar todas de uma vez, você:</a:t>
            </a:r>
          </a:p>
          <a:p>
            <a:pPr marL="742950" indent="-742950" algn="l">
              <a:buFont typeface="+mj-lt"/>
              <a:buAutoNum type="arabicPeriod"/>
            </a:pPr>
            <a:r>
              <a:rPr lang="pt-BR" sz="3900" dirty="0"/>
              <a:t>Divide o monte em montes menores. </a:t>
            </a:r>
          </a:p>
          <a:p>
            <a:pPr marL="742950" indent="-742950" algn="l">
              <a:buFont typeface="+mj-lt"/>
              <a:buAutoNum type="arabicPeriod"/>
            </a:pPr>
            <a:r>
              <a:rPr lang="pt-BR" sz="3900" dirty="0"/>
              <a:t>Continua dividindo até restar apenas uma carta em cada monte. </a:t>
            </a:r>
          </a:p>
          <a:p>
            <a:pPr marL="742950" indent="-742950" algn="l">
              <a:buFont typeface="+mj-lt"/>
              <a:buAutoNum type="arabicPeriod"/>
            </a:pPr>
            <a:r>
              <a:rPr lang="pt-BR" sz="3900" dirty="0"/>
              <a:t>Junta os montes comparando as cartas e colocando-as em ordem. </a:t>
            </a:r>
          </a:p>
          <a:p>
            <a:pPr marL="742950" indent="-742950" algn="l">
              <a:buFont typeface="+mj-lt"/>
              <a:buAutoNum type="arabicPeriod"/>
            </a:pPr>
            <a:r>
              <a:rPr lang="pt-BR" sz="3900" dirty="0"/>
              <a:t>Ao final, todas as cartas estarão organizadas.</a:t>
            </a:r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18583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76FE-A589-0D9E-7A4C-5145AA9D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84B9E-62A2-60ED-D45A-CCF8071B1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C6A68C76-2CF4-3666-D4A9-79390C95D47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41514" y="1023257"/>
                <a:ext cx="12050486" cy="5834743"/>
              </a:xfrm>
            </p:spPr>
            <p:txBody>
              <a:bodyPr>
                <a:normAutofit/>
              </a:bodyPr>
              <a:lstStyle/>
              <a:p>
                <a:pPr marL="571500" indent="-571500" algn="l">
                  <a:buFont typeface="Arial" panose="020B0604020202020204" pitchFamily="34" charset="0"/>
                  <a:buChar char="•"/>
                </a:pPr>
                <a:r>
                  <a:rPr lang="pt-BR" sz="3200" dirty="0"/>
                  <a:t>Utiliza a estratégia </a:t>
                </a:r>
                <a:r>
                  <a:rPr lang="pt-BR" sz="3200" b="1" dirty="0"/>
                  <a:t>"dividir para conquistar"</a:t>
                </a:r>
                <a:r>
                  <a:rPr lang="pt-BR" sz="3200" dirty="0"/>
                  <a:t>. </a:t>
                </a:r>
              </a:p>
              <a:p>
                <a:pPr marL="571500" indent="-571500" algn="l">
                  <a:buFont typeface="Arial" panose="020B0604020202020204" pitchFamily="34" charset="0"/>
                  <a:buChar char="•"/>
                </a:pPr>
                <a:r>
                  <a:rPr lang="pt-BR" sz="3200" dirty="0"/>
                  <a:t>Sempre divide o vetor ao meio. </a:t>
                </a:r>
              </a:p>
              <a:p>
                <a:pPr marL="571500" indent="-571500" algn="l">
                  <a:buFont typeface="Arial" panose="020B0604020202020204" pitchFamily="34" charset="0"/>
                  <a:buChar char="•"/>
                </a:pPr>
                <a:r>
                  <a:rPr lang="pt-BR" sz="3200" dirty="0"/>
                  <a:t>Tem desempenho consistente, mesmo para grandes quantidades de dados. </a:t>
                </a:r>
              </a:p>
              <a:p>
                <a:pPr marL="571500" indent="-571500" algn="l">
                  <a:buFont typeface="Arial" panose="020B0604020202020204" pitchFamily="34" charset="0"/>
                  <a:buChar char="•"/>
                </a:pPr>
                <a:r>
                  <a:rPr lang="pt-BR" sz="3200" dirty="0"/>
                  <a:t>Necessita de memória auxiliar para realizar a intercalação (merge). </a:t>
                </a:r>
              </a:p>
              <a:p>
                <a:pPr marL="571500" indent="-571500" algn="l">
                  <a:buFont typeface="Arial" panose="020B0604020202020204" pitchFamily="34" charset="0"/>
                  <a:buChar char="•"/>
                </a:pPr>
                <a:r>
                  <a:rPr lang="pt-BR" sz="3200" dirty="0"/>
                  <a:t>Complexidade do Merge </a:t>
                </a:r>
                <a:r>
                  <a:rPr lang="pt-BR" sz="3200" dirty="0" err="1"/>
                  <a:t>Sort</a:t>
                </a:r>
                <a:r>
                  <a:rPr lang="pt-BR" sz="3200" dirty="0"/>
                  <a:t>: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3200" i="1"/>
                      <m:t>𝑂</m:t>
                    </m:r>
                    <m:d>
                      <m:dPr>
                        <m:ctrlPr>
                          <a:rPr lang="pt-BR" sz="3200" i="1"/>
                        </m:ctrlPr>
                      </m:dPr>
                      <m:e>
                        <m:r>
                          <a:rPr lang="pt-BR" sz="3200" i="1"/>
                          <m:t>𝑛</m:t>
                        </m:r>
                        <m:func>
                          <m:funcPr>
                            <m:ctrlPr>
                              <a:rPr lang="pt-BR" sz="3200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sz="3200"/>
                              <m:t>log</m:t>
                            </m:r>
                          </m:fName>
                          <m:e>
                            <m:r>
                              <a:rPr lang="pt-BR" sz="3200" i="1"/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pt-BR" sz="3200" dirty="0"/>
              </a:p>
              <a:p>
                <a:pPr marL="571500" indent="-571500" algn="l">
                  <a:buFont typeface="Arial" panose="020B0604020202020204" pitchFamily="34" charset="0"/>
                  <a:buChar char="•"/>
                </a:pPr>
                <a:r>
                  <a:rPr lang="pt-BR" sz="3200" dirty="0"/>
                  <a:t>Essa complexidade ocorre tanto no melhor quanto no pior caso.</a:t>
                </a:r>
              </a:p>
              <a:p>
                <a:pPr algn="just"/>
                <a:endParaRPr lang="pt-BR" sz="4400" dirty="0"/>
              </a:p>
            </p:txBody>
          </p:sp>
        </mc:Choice>
        <mc:Fallback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C6A68C76-2CF4-3666-D4A9-79390C95D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41514" y="1023257"/>
                <a:ext cx="12050486" cy="5834743"/>
              </a:xfrm>
              <a:blipFill>
                <a:blip r:embed="rId2"/>
                <a:stretch>
                  <a:fillRect l="-1163" t="-2090" r="-3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811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C9DD-184F-8881-35C5-4FCF95FD5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1EC12-6828-D005-71B1-27F789EC0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x Quick </a:t>
            </a:r>
            <a:r>
              <a:rPr lang="pt-BR" dirty="0" err="1"/>
              <a:t>Sort</a:t>
            </a: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EFD067B-8604-F79C-24CB-03B8C0C9B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491425"/>
              </p:ext>
            </p:extLst>
          </p:nvPr>
        </p:nvGraphicFramePr>
        <p:xfrm>
          <a:off x="0" y="1394749"/>
          <a:ext cx="12192000" cy="640080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426259187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291584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b="1" dirty="0"/>
                        <a:t>Quick </a:t>
                      </a:r>
                      <a:r>
                        <a:rPr lang="pt-BR" sz="3600" b="1" dirty="0" err="1"/>
                        <a:t>Sort</a:t>
                      </a:r>
                      <a:endParaRPr lang="pt-BR" sz="3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Merge </a:t>
                      </a:r>
                      <a:r>
                        <a:rPr lang="pt-BR" sz="3600" dirty="0" err="1"/>
                        <a:t>Sort</a:t>
                      </a:r>
                      <a:endParaRPr lang="pt-BR" sz="3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98299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DDC395BD-D4F7-9ED8-E412-D6395052E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998816"/>
              </p:ext>
            </p:extLst>
          </p:nvPr>
        </p:nvGraphicFramePr>
        <p:xfrm>
          <a:off x="-87086" y="2376314"/>
          <a:ext cx="12279086" cy="640080"/>
        </p:xfrm>
        <a:graphic>
          <a:graphicData uri="http://schemas.openxmlformats.org/drawingml/2006/table">
            <a:tbl>
              <a:tblPr/>
              <a:tblGrid>
                <a:gridCol w="6139543">
                  <a:extLst>
                    <a:ext uri="{9D8B030D-6E8A-4147-A177-3AD203B41FA5}">
                      <a16:colId xmlns:a16="http://schemas.microsoft.com/office/drawing/2014/main" val="282348689"/>
                    </a:ext>
                  </a:extLst>
                </a:gridCol>
                <a:gridCol w="6139543">
                  <a:extLst>
                    <a:ext uri="{9D8B030D-6E8A-4147-A177-3AD203B41FA5}">
                      <a16:colId xmlns:a16="http://schemas.microsoft.com/office/drawing/2014/main" val="400441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Escolhe um pivô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Divide sempre ao meio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0583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6A6F22F-12D8-51D3-2BA8-5F210B2EC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414176"/>
              </p:ext>
            </p:extLst>
          </p:nvPr>
        </p:nvGraphicFramePr>
        <p:xfrm>
          <a:off x="-87086" y="3170277"/>
          <a:ext cx="12279086" cy="640080"/>
        </p:xfrm>
        <a:graphic>
          <a:graphicData uri="http://schemas.openxmlformats.org/drawingml/2006/table">
            <a:tbl>
              <a:tblPr/>
              <a:tblGrid>
                <a:gridCol w="6139543">
                  <a:extLst>
                    <a:ext uri="{9D8B030D-6E8A-4147-A177-3AD203B41FA5}">
                      <a16:colId xmlns:a16="http://schemas.microsoft.com/office/drawing/2014/main" val="3937270330"/>
                    </a:ext>
                  </a:extLst>
                </a:gridCol>
                <a:gridCol w="6139543">
                  <a:extLst>
                    <a:ext uri="{9D8B030D-6E8A-4147-A177-3AD203B41FA5}">
                      <a16:colId xmlns:a16="http://schemas.microsoft.com/office/drawing/2014/main" val="2781729428"/>
                    </a:ext>
                  </a:extLst>
                </a:gridCol>
              </a:tblGrid>
              <a:tr h="345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Organiza durante a divisão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Organiza durante a junção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716632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3635B5F-0B0F-25D2-1056-E2CECA42D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39114"/>
              </p:ext>
            </p:extLst>
          </p:nvPr>
        </p:nvGraphicFramePr>
        <p:xfrm>
          <a:off x="-87086" y="4151842"/>
          <a:ext cx="12279086" cy="640080"/>
        </p:xfrm>
        <a:graphic>
          <a:graphicData uri="http://schemas.openxmlformats.org/drawingml/2006/table">
            <a:tbl>
              <a:tblPr/>
              <a:tblGrid>
                <a:gridCol w="6139543">
                  <a:extLst>
                    <a:ext uri="{9D8B030D-6E8A-4147-A177-3AD203B41FA5}">
                      <a16:colId xmlns:a16="http://schemas.microsoft.com/office/drawing/2014/main" val="2053870854"/>
                    </a:ext>
                  </a:extLst>
                </a:gridCol>
                <a:gridCol w="6139543">
                  <a:extLst>
                    <a:ext uri="{9D8B030D-6E8A-4147-A177-3AD203B41FA5}">
                      <a16:colId xmlns:a16="http://schemas.microsoft.com/office/drawing/2014/main" val="596228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Mais rápido na prática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Desempenho mais previsível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12059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111E1001-FC9F-AD40-AA8D-362636907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492667"/>
              </p:ext>
            </p:extLst>
          </p:nvPr>
        </p:nvGraphicFramePr>
        <p:xfrm>
          <a:off x="-87086" y="5143211"/>
          <a:ext cx="12104914" cy="640080"/>
        </p:xfrm>
        <a:graphic>
          <a:graphicData uri="http://schemas.openxmlformats.org/drawingml/2006/table">
            <a:tbl>
              <a:tblPr/>
              <a:tblGrid>
                <a:gridCol w="6052457">
                  <a:extLst>
                    <a:ext uri="{9D8B030D-6E8A-4147-A177-3AD203B41FA5}">
                      <a16:colId xmlns:a16="http://schemas.microsoft.com/office/drawing/2014/main" val="3421095022"/>
                    </a:ext>
                  </a:extLst>
                </a:gridCol>
                <a:gridCol w="6052457">
                  <a:extLst>
                    <a:ext uri="{9D8B030D-6E8A-4147-A177-3AD203B41FA5}">
                      <a16:colId xmlns:a16="http://schemas.microsoft.com/office/drawing/2014/main" val="2439485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Usa pouca memória extra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Usa memória auxiliar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028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6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FD036-B261-BEDC-2B87-524EE366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4D3F5-9380-E9AC-F91F-8CA8E0111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426" y="1396180"/>
            <a:ext cx="3814916" cy="2654709"/>
          </a:xfrm>
        </p:spPr>
        <p:txBody>
          <a:bodyPr>
            <a:normAutofit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Código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EAA059-F853-CD22-1D9E-B4B73E08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63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58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8E70-504E-BE3A-4CF8-BB426C265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5C62B-B714-2342-1A41-0D87002E5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426" y="1396180"/>
            <a:ext cx="3814916" cy="2654709"/>
          </a:xfrm>
        </p:spPr>
        <p:txBody>
          <a:bodyPr>
            <a:normAutofit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Código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A5CB07-FAFF-7F6D-FCF2-E16DDF8FC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16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38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DB80-A76D-7895-1883-22949815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A09FE-80CD-8A06-1619-5B7F7DD19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426" y="1396180"/>
            <a:ext cx="3814916" cy="2654709"/>
          </a:xfrm>
        </p:spPr>
        <p:txBody>
          <a:bodyPr>
            <a:normAutofit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Código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9DDFC7C-B1DC-237A-B78E-EADF514AF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64064" cy="69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99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2A15E-6AC4-C79E-E204-C88019A6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508BA-32FD-7996-0D6A-28C7987FF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426" y="1396180"/>
            <a:ext cx="3814916" cy="2654709"/>
          </a:xfrm>
        </p:spPr>
        <p:txBody>
          <a:bodyPr>
            <a:normAutofit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Código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3495D32-185A-A19B-E937-D44EDF320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26245" cy="696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1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10220-C9B8-6B7C-122C-11972D17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5B2AD-97BC-234F-6F4A-E66CA8A62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426" y="1396180"/>
            <a:ext cx="3814916" cy="2654709"/>
          </a:xfrm>
        </p:spPr>
        <p:txBody>
          <a:bodyPr>
            <a:normAutofit/>
          </a:bodyPr>
          <a:lstStyle/>
          <a:p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Código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057CDC-2C4E-3FD6-E923-A91B1E24C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45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93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A72C-FA40-267A-4187-0767046B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7E7E0-6344-F603-415B-277D15B16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86D6FD-619A-B3E8-6898-313919F27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r>
              <a:rPr lang="pt-BR" sz="4400" dirty="0"/>
              <a:t>Vetor inicial:</a:t>
            </a:r>
          </a:p>
          <a:p>
            <a:pPr marL="0" indent="0">
              <a:buNone/>
            </a:pPr>
            <a:r>
              <a:rPr lang="pt-BR" sz="4400" dirty="0"/>
              <a:t>[8, 3, 5, 2]</a:t>
            </a:r>
          </a:p>
          <a:p>
            <a:pPr marL="0" indent="0">
              <a:buNone/>
            </a:pPr>
            <a:endParaRPr lang="pt-BR" sz="4400" dirty="0"/>
          </a:p>
          <a:p>
            <a:pPr marL="0" indent="0">
              <a:buNone/>
            </a:pPr>
            <a:r>
              <a:rPr lang="pt-BR" sz="4400" b="1" dirty="0"/>
              <a:t>1. Divisão</a:t>
            </a:r>
          </a:p>
          <a:p>
            <a:pPr marL="0" indent="0">
              <a:buNone/>
            </a:pPr>
            <a:r>
              <a:rPr lang="pt-BR" sz="4400" dirty="0"/>
              <a:t>O Merge </a:t>
            </a:r>
            <a:r>
              <a:rPr lang="pt-BR" sz="4400" dirty="0" err="1"/>
              <a:t>Sort</a:t>
            </a:r>
            <a:r>
              <a:rPr lang="pt-BR" sz="4400" dirty="0"/>
              <a:t> divide o vetor ao meio:</a:t>
            </a:r>
          </a:p>
          <a:p>
            <a:pPr marL="0" indent="0">
              <a:buNone/>
            </a:pPr>
            <a:r>
              <a:rPr lang="pt-BR" dirty="0"/>
              <a:t>[8, 3]    [5, 2]</a:t>
            </a:r>
          </a:p>
          <a:p>
            <a:pPr marL="0" indent="0">
              <a:buNone/>
            </a:pPr>
            <a:r>
              <a:rPr lang="pt-BR" sz="4400" dirty="0"/>
              <a:t>Divide novamente:</a:t>
            </a:r>
          </a:p>
          <a:p>
            <a:pPr marL="0" indent="0">
              <a:buNone/>
            </a:pPr>
            <a:r>
              <a:rPr lang="pt-BR" dirty="0"/>
              <a:t>[8] [3]    [5] [2]</a:t>
            </a:r>
          </a:p>
          <a:p>
            <a:pPr marL="0" indent="0">
              <a:buNone/>
            </a:pP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63616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E446-970A-DA65-171F-AE0ADBA2A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B5AC3-9F39-87FC-0FDC-B18AA3BB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9618FB-0129-862D-D68B-C562D225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4400" b="1" dirty="0"/>
              <a:t>2. Primeira intercalação (merge)</a:t>
            </a:r>
          </a:p>
          <a:p>
            <a:pPr marL="0" indent="0">
              <a:buNone/>
            </a:pPr>
            <a:r>
              <a:rPr lang="pt-BR" sz="4400" dirty="0"/>
              <a:t>Junta </a:t>
            </a:r>
            <a:r>
              <a:rPr lang="pt-BR" dirty="0"/>
              <a:t>[8]</a:t>
            </a:r>
            <a:r>
              <a:rPr lang="pt-BR" sz="4400" dirty="0"/>
              <a:t> e </a:t>
            </a:r>
            <a:r>
              <a:rPr lang="pt-BR" dirty="0"/>
              <a:t>[3]</a:t>
            </a:r>
            <a:r>
              <a:rPr lang="pt-BR" sz="4400" dirty="0"/>
              <a:t>:</a:t>
            </a:r>
          </a:p>
          <a:p>
            <a:pPr marL="0" indent="0">
              <a:buNone/>
            </a:pPr>
            <a:r>
              <a:rPr lang="pt-BR" dirty="0"/>
              <a:t>Comparação:</a:t>
            </a:r>
            <a:br>
              <a:rPr lang="pt-BR" dirty="0"/>
            </a:br>
            <a:r>
              <a:rPr lang="pt-BR" dirty="0"/>
              <a:t>3 &lt; 8</a:t>
            </a:r>
            <a:br>
              <a:rPr lang="pt-BR" dirty="0"/>
            </a:br>
            <a:br>
              <a:rPr lang="pt-BR" dirty="0"/>
            </a:br>
            <a:r>
              <a:rPr lang="pt-BR" dirty="0"/>
              <a:t>Resultado:</a:t>
            </a:r>
            <a:br>
              <a:rPr lang="pt-BR" dirty="0"/>
            </a:br>
            <a:r>
              <a:rPr lang="pt-BR" dirty="0"/>
              <a:t>[3, 8]</a:t>
            </a:r>
          </a:p>
          <a:p>
            <a:pPr marL="0" indent="0">
              <a:buNone/>
            </a:pPr>
            <a:r>
              <a:rPr lang="pt-BR" sz="4400" dirty="0"/>
              <a:t>Junta </a:t>
            </a:r>
            <a:r>
              <a:rPr lang="pt-BR" dirty="0"/>
              <a:t>[5]</a:t>
            </a:r>
            <a:r>
              <a:rPr lang="pt-BR" sz="4400" dirty="0"/>
              <a:t> e </a:t>
            </a:r>
            <a:r>
              <a:rPr lang="pt-BR" dirty="0"/>
              <a:t>[2]</a:t>
            </a:r>
            <a:r>
              <a:rPr lang="pt-BR" sz="4400" dirty="0"/>
              <a:t>:</a:t>
            </a:r>
          </a:p>
          <a:p>
            <a:pPr marL="0" indent="0">
              <a:buNone/>
            </a:pPr>
            <a:r>
              <a:rPr lang="pt-BR" dirty="0"/>
              <a:t>Comparação:</a:t>
            </a:r>
            <a:br>
              <a:rPr lang="pt-BR" dirty="0"/>
            </a:br>
            <a:r>
              <a:rPr lang="pt-BR" dirty="0"/>
              <a:t>2 &lt; 5</a:t>
            </a:r>
            <a:br>
              <a:rPr lang="pt-BR" dirty="0"/>
            </a:br>
            <a:br>
              <a:rPr lang="pt-BR" dirty="0"/>
            </a:br>
            <a:r>
              <a:rPr lang="pt-BR" dirty="0"/>
              <a:t>Resultado:</a:t>
            </a:r>
            <a:br>
              <a:rPr lang="pt-BR" dirty="0"/>
            </a:br>
            <a:r>
              <a:rPr lang="pt-BR" dirty="0"/>
              <a:t>[2, 5]</a:t>
            </a:r>
          </a:p>
          <a:p>
            <a:pPr marL="0" indent="0">
              <a:buNone/>
            </a:pPr>
            <a:r>
              <a:rPr lang="pt-BR" sz="4400" dirty="0"/>
              <a:t>Agora temos:</a:t>
            </a:r>
          </a:p>
          <a:p>
            <a:pPr marL="0" indent="0">
              <a:buNone/>
            </a:pPr>
            <a:r>
              <a:rPr lang="pt-BR" dirty="0"/>
              <a:t>[3, 8]    [2, 5]</a:t>
            </a:r>
          </a:p>
          <a:p>
            <a:pPr marL="0" indent="0">
              <a:buNone/>
            </a:pP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23900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91575-E5DE-D683-C954-1AA0038EC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0908D-30BA-A00B-2BAC-83203317C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555170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Merge </a:t>
            </a:r>
            <a:r>
              <a:rPr lang="pt-BR" dirty="0" err="1"/>
              <a:t>Sort</a:t>
            </a:r>
            <a:r>
              <a:rPr lang="pt-BR" dirty="0"/>
              <a:t> 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F2B602-24F8-E8A8-952B-0582D4294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751114"/>
            <a:ext cx="11081657" cy="6030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400" b="1" dirty="0"/>
              <a:t>3. Intercalação final</a:t>
            </a:r>
          </a:p>
          <a:p>
            <a:pPr marL="0" indent="0">
              <a:buNone/>
            </a:pPr>
            <a:r>
              <a:rPr lang="pt-BR" sz="4400" dirty="0"/>
              <a:t>Comparações:</a:t>
            </a:r>
          </a:p>
          <a:p>
            <a:pPr marL="0" indent="0">
              <a:buNone/>
            </a:pPr>
            <a:r>
              <a:rPr lang="pt-BR" dirty="0"/>
              <a:t>3 e 2  → 2</a:t>
            </a:r>
            <a:br>
              <a:rPr lang="pt-BR" dirty="0"/>
            </a:br>
            <a:r>
              <a:rPr lang="pt-BR" dirty="0"/>
              <a:t>3 e 5  → 3</a:t>
            </a:r>
            <a:br>
              <a:rPr lang="pt-BR" dirty="0"/>
            </a:br>
            <a:r>
              <a:rPr lang="pt-BR" dirty="0"/>
              <a:t>8 e 5  → 5</a:t>
            </a:r>
            <a:br>
              <a:rPr lang="pt-BR" dirty="0"/>
            </a:br>
            <a:r>
              <a:rPr lang="pt-BR" dirty="0"/>
              <a:t>resta 8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4400" dirty="0"/>
              <a:t>Resultado:</a:t>
            </a:r>
          </a:p>
          <a:p>
            <a:pPr marL="0" indent="0">
              <a:buNone/>
            </a:pPr>
            <a:r>
              <a:rPr lang="pt-BR" dirty="0"/>
              <a:t>[2, 3, 5, 8]</a:t>
            </a:r>
          </a:p>
          <a:p>
            <a:pPr marL="0" indent="0">
              <a:buNone/>
            </a:pP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6041930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516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Merge Sort</vt:lpstr>
      <vt:lpstr>Merge Sort</vt:lpstr>
      <vt:lpstr>Merge Sort</vt:lpstr>
      <vt:lpstr>Merge Sort</vt:lpstr>
      <vt:lpstr>Merge Sort</vt:lpstr>
      <vt:lpstr>Merge Sort</vt:lpstr>
      <vt:lpstr>Merge Sort x Quick Sort</vt:lpstr>
      <vt:lpstr>Merge Sort Código</vt:lpstr>
      <vt:lpstr>Merge Sort Código</vt:lpstr>
      <vt:lpstr>Merge Sort Código</vt:lpstr>
      <vt:lpstr>Merge Sort Código</vt:lpstr>
      <vt:lpstr>Merge Sort Código</vt:lpstr>
      <vt:lpstr>Merge Sort Código</vt:lpstr>
      <vt:lpstr>Merge Sort Código</vt:lpstr>
      <vt:lpstr>Merge Sort Código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3</cp:revision>
  <dcterms:created xsi:type="dcterms:W3CDTF">2026-06-02T18:35:16Z</dcterms:created>
  <dcterms:modified xsi:type="dcterms:W3CDTF">2026-06-02T19:20:12Z</dcterms:modified>
</cp:coreProperties>
</file>