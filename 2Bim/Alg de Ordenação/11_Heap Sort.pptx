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08159-5A67-295D-9F27-E7937C8BC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BB89DF-9613-46D7-CD58-79472A9F0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54DCCA-07CF-368D-38E2-26F10053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3297B-81B8-43AD-B6F6-70ED8C257AA9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99C37F-00C7-EA59-2579-C48F47CEA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E9C568-8AD1-A949-1745-CB0C54FCD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4EA02-040C-450F-8EE3-061E72CB77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4730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E5E77-05A5-3E4D-2D4E-A48E474C7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4F2B14-DC72-7D03-58D5-9472C10FF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D57CF0-B7A9-6FB6-8E91-E5A10B5E0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3297B-81B8-43AD-B6F6-70ED8C257AA9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6B93DE-4BE9-8C3B-8430-DA269BFE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3D232D-AC58-3109-7EEB-3115DD47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4EA02-040C-450F-8EE3-061E72CB77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3667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4A798-55B3-06D7-3B2E-EFCE78F3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428D4B-0D7A-664D-C7F2-C4AB26195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AEAA64-8D44-E875-D378-49D5F845B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3297B-81B8-43AD-B6F6-70ED8C257AA9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259649-1A59-89D0-A7A3-1982EDA42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8512D3-829F-77C2-52B1-A71D0F615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4EA02-040C-450F-8EE3-061E72CB77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6642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4B8696-50BC-DFBD-07DC-268BBFF90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D25984-E002-AF11-E85E-83E1F18DF0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1607B4D-19D5-F4AE-228B-FF4B33E30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3A1C35-57AF-86CE-E675-4D905B878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3297B-81B8-43AD-B6F6-70ED8C257AA9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20EC2A-ED4C-D518-187D-CF3C41C9E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D493ED-E65C-C1E7-D6E2-A59CDB89B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4EA02-040C-450F-8EE3-061E72CB77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552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27F8BC-95A4-6151-2525-1970FD32B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5CF794-4D38-8201-0219-698B53B0F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18EFD2-9231-713A-458C-4931B8A08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9E2764B-6B1E-8A34-A83A-082B0BD764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4602967-2C1F-5253-C39D-934925C996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E654A84-49F4-BDDF-E77D-09BB4596C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3297B-81B8-43AD-B6F6-70ED8C257AA9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6F07549-DBB4-7CAD-AD8B-AB826884E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A09F06-A3AD-AE29-8EBF-90DCF1B5A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4EA02-040C-450F-8EE3-061E72CB77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162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92510-EFEF-855C-4A8D-B6CCD2E77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50E3E35-416A-3674-2261-13CA1ED87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3297B-81B8-43AD-B6F6-70ED8C257AA9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A6C8251-1743-5652-16F9-00E598CD8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7B08C3D-C7CA-7830-DA28-C449A444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4EA02-040C-450F-8EE3-061E72CB77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0483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105918A-8F32-ED2D-F6C8-B9C3535E7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3297B-81B8-43AD-B6F6-70ED8C257AA9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C3E2558-6770-6AA6-042B-2D837EB78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2E4707-D054-8972-5ED5-C2DD04D3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4EA02-040C-450F-8EE3-061E72CB77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546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5D41CB-3FBA-D417-CF86-97361511F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A8FB5E-602B-565E-5B34-D67388EA1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DE6C9B-225C-9765-5B56-257DE3CFB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ED1ED4-9B78-C104-0F35-FAB72BA0B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3297B-81B8-43AD-B6F6-70ED8C257AA9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56E33C-D90A-E4F9-6D01-7F73FE588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D77109-83BE-4950-7907-CE6B632F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4EA02-040C-450F-8EE3-061E72CB77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7820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498885-793B-9785-23A5-FE64E7250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6DBC2BE-CF22-69E4-B9BE-8669B9B30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9EA6503-2E45-308F-446E-4D048569E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D39EB05-E01B-E698-99F8-7B5E7E6EA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3297B-81B8-43AD-B6F6-70ED8C257AA9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D9BAFC-B5EB-3A80-FE7C-0F867BD38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ED23C-230A-C78D-8EEB-8F8CCF9E3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4EA02-040C-450F-8EE3-061E72CB77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8307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9292D1-EA19-7206-6445-1D32A490B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12BF6F-3F1B-2475-29BE-5BF3B0A99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DB2C11-EDE7-AD76-B3E4-AC1787144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3297B-81B8-43AD-B6F6-70ED8C257AA9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050921-4006-4E9A-46EB-A360E652F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65398B-62EB-2565-B593-BA6B04AAA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4EA02-040C-450F-8EE3-061E72CB77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873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A4EDFA-D5B3-4835-D2D1-8AE81B7E7C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29F2EF-029D-E362-E95B-1CC5BDC032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AB35FB-4DD8-D8E8-C6FE-F56FFCFB9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3297B-81B8-43AD-B6F6-70ED8C257AA9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C73657-5BC3-627D-2E22-8F26271C3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7DD873-6FBE-EC5A-99FD-AA0ECA5CF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4EA02-040C-450F-8EE3-061E72CB77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0067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D6CC30F-ED3B-8983-DCB9-EBCA0A90A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5BCE41-6663-8802-4B68-8E7BEC568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78C25B-0246-B887-D795-EF25478E23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D3297B-81B8-43AD-B6F6-70ED8C257AA9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5476D0-B2B8-DBFC-2103-CDED2277B7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612446-8DE4-262A-B55C-DF3CA7322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B4EA02-040C-450F-8EE3-061E72CB77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3246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5B50A6-A8CE-805E-111A-9CFD470FEB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6029" y="0"/>
            <a:ext cx="9144000" cy="989466"/>
          </a:xfrm>
        </p:spPr>
        <p:txBody>
          <a:bodyPr/>
          <a:lstStyle/>
          <a:p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7AC9D1-CC61-54C1-3700-2F1D7BFFE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943" y="2361633"/>
            <a:ext cx="11615057" cy="2134734"/>
          </a:xfrm>
        </p:spPr>
        <p:txBody>
          <a:bodyPr>
            <a:normAutofit/>
          </a:bodyPr>
          <a:lstStyle/>
          <a:p>
            <a:pPr algn="just"/>
            <a:r>
              <a:rPr lang="pt-BR" sz="4000" dirty="0"/>
              <a:t>O </a:t>
            </a:r>
            <a:r>
              <a:rPr lang="pt-BR" sz="4000" b="1" dirty="0" err="1"/>
              <a:t>Heap</a:t>
            </a:r>
            <a:r>
              <a:rPr lang="pt-BR" sz="4000" b="1" dirty="0"/>
              <a:t> </a:t>
            </a:r>
            <a:r>
              <a:rPr lang="pt-BR" sz="4000" b="1" dirty="0" err="1"/>
              <a:t>Sort</a:t>
            </a:r>
            <a:r>
              <a:rPr lang="pt-BR" sz="4000" dirty="0"/>
              <a:t> é um algoritmo de ordenação que utiliza uma estrutura chamada </a:t>
            </a:r>
            <a:r>
              <a:rPr lang="pt-BR" sz="4000" b="1" dirty="0" err="1"/>
              <a:t>Heap</a:t>
            </a:r>
            <a:r>
              <a:rPr lang="pt-BR" sz="4000" b="1" dirty="0"/>
              <a:t> (Monte)</a:t>
            </a:r>
            <a:r>
              <a:rPr lang="pt-BR" sz="4000" dirty="0"/>
              <a:t>, representada por uma </a:t>
            </a:r>
            <a:r>
              <a:rPr lang="pt-BR" sz="4000" b="1" dirty="0"/>
              <a:t>árvore binária completa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091762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68418-E5CD-7C32-82E7-7A6BA689E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5B313-0329-6E44-BFDF-C0F1A7FB4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6029" y="0"/>
            <a:ext cx="9144000" cy="989466"/>
          </a:xfrm>
        </p:spPr>
        <p:txBody>
          <a:bodyPr/>
          <a:lstStyle/>
          <a:p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A509AE-28DD-6F82-E858-693E22BE29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943" y="2361633"/>
            <a:ext cx="11615057" cy="2134734"/>
          </a:xfrm>
        </p:spPr>
        <p:txBody>
          <a:bodyPr>
            <a:normAutofit/>
          </a:bodyPr>
          <a:lstStyle/>
          <a:p>
            <a:pPr algn="just"/>
            <a:r>
              <a:rPr lang="pt-BR" sz="4000" dirty="0"/>
              <a:t>Imagine que você organiza números em uma árvore onde o maior valor sempre fica no topo (raiz). Essa estrutura é chamada de </a:t>
            </a:r>
            <a:r>
              <a:rPr lang="pt-BR" sz="4000" b="1" dirty="0"/>
              <a:t>Max-</a:t>
            </a:r>
            <a:r>
              <a:rPr lang="pt-BR" sz="4000" b="1" dirty="0" err="1"/>
              <a:t>Heap</a:t>
            </a:r>
            <a:r>
              <a:rPr lang="pt-BR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9281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82931-D7ED-8122-0DB7-5AED69D4A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06F2B-B954-7EEF-0E79-B22B18BB2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6029" y="0"/>
            <a:ext cx="9144000" cy="989466"/>
          </a:xfrm>
        </p:spPr>
        <p:txBody>
          <a:bodyPr/>
          <a:lstStyle/>
          <a:p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923E7B-6867-4135-7081-379345C4C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1" y="1589314"/>
            <a:ext cx="11963400" cy="2907053"/>
          </a:xfrm>
        </p:spPr>
        <p:txBody>
          <a:bodyPr>
            <a:normAutofit/>
          </a:bodyPr>
          <a:lstStyle/>
          <a:p>
            <a:pPr algn="l"/>
            <a:r>
              <a:rPr lang="pt-BR" sz="4000" dirty="0"/>
              <a:t>Exemplo de regra do Max-</a:t>
            </a:r>
            <a:r>
              <a:rPr lang="pt-BR" sz="4000" dirty="0" err="1"/>
              <a:t>Heap</a:t>
            </a:r>
            <a:r>
              <a:rPr lang="pt-BR" sz="4000" dirty="0"/>
              <a:t>:</a:t>
            </a:r>
          </a:p>
          <a:p>
            <a:pPr algn="l"/>
            <a:r>
              <a:rPr lang="pt-BR" sz="4000" dirty="0"/>
              <a:t>Pai ≥ Filho esquerdo </a:t>
            </a:r>
          </a:p>
          <a:p>
            <a:pPr algn="l"/>
            <a:r>
              <a:rPr lang="pt-BR" sz="4000" dirty="0"/>
              <a:t>Pai ≥ Filho direito</a:t>
            </a:r>
          </a:p>
        </p:txBody>
      </p:sp>
    </p:spTree>
    <p:extLst>
      <p:ext uri="{BB962C8B-B14F-4D97-AF65-F5344CB8AC3E}">
        <p14:creationId xmlns:p14="http://schemas.microsoft.com/office/powerpoint/2010/main" val="2078090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106A7-FA01-BD30-5688-951352D66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8F8755-D196-72B4-9D16-2E21703E6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6029" y="0"/>
            <a:ext cx="9144000" cy="989466"/>
          </a:xfrm>
        </p:spPr>
        <p:txBody>
          <a:bodyPr/>
          <a:lstStyle/>
          <a:p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D3D810-0E56-4343-97AC-06CD7B4CA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1" y="1589314"/>
            <a:ext cx="11963400" cy="445225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4000" dirty="0"/>
              <a:t>Depois de construir essa árvore, o algoritmo: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pt-BR" sz="4600" dirty="0"/>
              <a:t>Coloca o maior elemento na raiz.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pt-BR" sz="4600" dirty="0"/>
              <a:t>Troca a raiz pelo último elemento.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pt-BR" sz="4600" dirty="0"/>
              <a:t>Remove o maior elemento da árvore.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pt-BR" sz="4600" dirty="0"/>
              <a:t>Reconstrói o </a:t>
            </a:r>
            <a:r>
              <a:rPr lang="pt-BR" sz="4600" dirty="0" err="1"/>
              <a:t>Heap</a:t>
            </a:r>
            <a:r>
              <a:rPr lang="pt-BR" sz="4600" dirty="0"/>
              <a:t>.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pt-BR" sz="4600" dirty="0"/>
              <a:t>Repete até que todos os elementos estejam ordenados.</a:t>
            </a:r>
          </a:p>
        </p:txBody>
      </p:sp>
    </p:spTree>
    <p:extLst>
      <p:ext uri="{BB962C8B-B14F-4D97-AF65-F5344CB8AC3E}">
        <p14:creationId xmlns:p14="http://schemas.microsoft.com/office/powerpoint/2010/main" val="3350223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F6A54-D19E-F111-A6E3-9E57351F2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93A0AC-8790-41C2-C524-ADE6CA1E1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6029" y="0"/>
            <a:ext cx="9144000" cy="989466"/>
          </a:xfrm>
        </p:spPr>
        <p:txBody>
          <a:bodyPr/>
          <a:lstStyle/>
          <a:p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C3D221-20AC-214B-150A-08AF3D76C3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1" y="1589314"/>
            <a:ext cx="11963400" cy="4452257"/>
          </a:xfrm>
        </p:spPr>
        <p:txBody>
          <a:bodyPr>
            <a:normAutofit/>
          </a:bodyPr>
          <a:lstStyle/>
          <a:p>
            <a:pPr algn="l"/>
            <a:r>
              <a:rPr lang="pt-BR" sz="4800" dirty="0"/>
              <a:t>Vetor inicial</a:t>
            </a:r>
          </a:p>
          <a:p>
            <a:pPr algn="l"/>
            <a:r>
              <a:rPr lang="pt-BR" sz="4800" dirty="0"/>
              <a:t>[8, 5, 6, 4, 7, 9]</a:t>
            </a:r>
          </a:p>
          <a:p>
            <a:pPr algn="l"/>
            <a:r>
              <a:rPr lang="pt-BR" sz="4800" b="1" dirty="0"/>
              <a:t>Passo 1 - Representar como árvore binária</a:t>
            </a:r>
          </a:p>
          <a:p>
            <a:pPr algn="l"/>
            <a:r>
              <a:rPr lang="pt-BR" sz="4800" dirty="0"/>
              <a:t>Em um </a:t>
            </a:r>
            <a:r>
              <a:rPr lang="pt-BR" sz="4800" dirty="0" err="1"/>
              <a:t>Heap</a:t>
            </a:r>
            <a:r>
              <a:rPr lang="pt-BR" sz="4800" dirty="0"/>
              <a:t>, os índices do vetor representam posições na árvore.</a:t>
            </a:r>
          </a:p>
          <a:p>
            <a:pPr algn="l"/>
            <a:endParaRPr lang="pt-BR" sz="4600" dirty="0"/>
          </a:p>
        </p:txBody>
      </p:sp>
    </p:spTree>
    <p:extLst>
      <p:ext uri="{BB962C8B-B14F-4D97-AF65-F5344CB8AC3E}">
        <p14:creationId xmlns:p14="http://schemas.microsoft.com/office/powerpoint/2010/main" val="3777976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722AE-A989-F4E5-B7B8-370703C7B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D023A-DC78-A6B9-8CC2-853CFF817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6029" y="0"/>
            <a:ext cx="9144000" cy="989466"/>
          </a:xfrm>
        </p:spPr>
        <p:txBody>
          <a:bodyPr/>
          <a:lstStyle/>
          <a:p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FC63F8-A23B-1AEF-5321-75AFC88875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328056"/>
            <a:ext cx="11963400" cy="445225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Árvore:</a:t>
            </a:r>
          </a:p>
          <a:p>
            <a:pPr algn="l"/>
            <a:r>
              <a:rPr lang="pt-BR" sz="4600" dirty="0"/>
              <a:t>          8</a:t>
            </a:r>
          </a:p>
          <a:p>
            <a:pPr algn="l"/>
            <a:r>
              <a:rPr lang="pt-BR" sz="4600" dirty="0"/>
              <a:t>       /     \</a:t>
            </a:r>
          </a:p>
          <a:p>
            <a:pPr algn="l"/>
            <a:r>
              <a:rPr lang="pt-BR" sz="4600" dirty="0"/>
              <a:t>     5         6</a:t>
            </a:r>
          </a:p>
          <a:p>
            <a:pPr algn="l"/>
            <a:r>
              <a:rPr lang="pt-BR" sz="4600" dirty="0"/>
              <a:t>    / \       /</a:t>
            </a:r>
          </a:p>
          <a:p>
            <a:pPr algn="l"/>
            <a:r>
              <a:rPr lang="pt-BR" sz="4600" dirty="0"/>
              <a:t> 4   7    9</a:t>
            </a:r>
          </a:p>
        </p:txBody>
      </p:sp>
    </p:spTree>
    <p:extLst>
      <p:ext uri="{BB962C8B-B14F-4D97-AF65-F5344CB8AC3E}">
        <p14:creationId xmlns:p14="http://schemas.microsoft.com/office/powerpoint/2010/main" val="1141902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B406-BB18-B3DD-0B67-7C00F19FD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18110-1407-894B-674F-C002265A96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6029" y="0"/>
            <a:ext cx="9144000" cy="989466"/>
          </a:xfrm>
        </p:spPr>
        <p:txBody>
          <a:bodyPr/>
          <a:lstStyle/>
          <a:p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7A5EC7-5236-023C-EF45-0BD909BCCB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1328056"/>
            <a:ext cx="11963400" cy="445225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800" dirty="0"/>
              <a:t>Observe que ainda NÃO é um Max-</a:t>
            </a:r>
            <a:r>
              <a:rPr lang="pt-BR" sz="4800" dirty="0" err="1"/>
              <a:t>Heap</a:t>
            </a:r>
            <a:r>
              <a:rPr lang="pt-BR" sz="4800" dirty="0"/>
              <a:t> porque: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9 &gt; 6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O pai deveria ser maior que os filhos.</a:t>
            </a:r>
            <a:endParaRPr lang="pt-BR" sz="4600" dirty="0"/>
          </a:p>
        </p:txBody>
      </p:sp>
    </p:spTree>
    <p:extLst>
      <p:ext uri="{BB962C8B-B14F-4D97-AF65-F5344CB8AC3E}">
        <p14:creationId xmlns:p14="http://schemas.microsoft.com/office/powerpoint/2010/main" val="3902023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9DB50-7005-939E-A2AB-62C312579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1866F-9C53-FF93-4B70-CCDE67F217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6029" y="0"/>
            <a:ext cx="9144000" cy="989466"/>
          </a:xfrm>
        </p:spPr>
        <p:txBody>
          <a:bodyPr/>
          <a:lstStyle/>
          <a:p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AE626A-0DBE-818F-C677-6E6A25234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892628"/>
            <a:ext cx="11963400" cy="596537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2800" b="1" dirty="0"/>
              <a:t>Passo 2 </a:t>
            </a:r>
            <a:r>
              <a:rPr lang="pt-BR" sz="2800" dirty="0"/>
              <a:t>- Construir o Max-</a:t>
            </a:r>
            <a:r>
              <a:rPr lang="pt-BR" sz="2800" dirty="0" err="1"/>
              <a:t>Heap</a:t>
            </a:r>
            <a:endParaRPr lang="pt-BR" sz="2800" dirty="0"/>
          </a:p>
          <a:p>
            <a:pPr algn="l"/>
            <a:r>
              <a:rPr lang="pt-BR" sz="2800" dirty="0"/>
              <a:t>Começamos ajustando os nós de baixo para cima.</a:t>
            </a:r>
          </a:p>
          <a:p>
            <a:pPr algn="l"/>
            <a:r>
              <a:rPr lang="pt-BR" sz="2800" dirty="0"/>
              <a:t>Verificando o nó 6</a:t>
            </a:r>
          </a:p>
          <a:p>
            <a:pPr algn="l"/>
            <a:r>
              <a:rPr lang="pt-BR" sz="2800" dirty="0"/>
              <a:t>         6</a:t>
            </a:r>
          </a:p>
          <a:p>
            <a:pPr algn="l"/>
            <a:r>
              <a:rPr lang="pt-BR" sz="2800" dirty="0"/>
              <a:t>       /</a:t>
            </a:r>
          </a:p>
          <a:p>
            <a:pPr algn="l"/>
            <a:r>
              <a:rPr lang="pt-BR" sz="2800" dirty="0"/>
              <a:t>    9</a:t>
            </a:r>
          </a:p>
          <a:p>
            <a:pPr algn="l"/>
            <a:r>
              <a:rPr lang="pt-BR" sz="2800" dirty="0"/>
              <a:t>Como 9 é maior que 6, trocamos:</a:t>
            </a:r>
          </a:p>
          <a:p>
            <a:pPr algn="l"/>
            <a:r>
              <a:rPr lang="pt-BR" sz="2800" dirty="0"/>
              <a:t>           8</a:t>
            </a:r>
          </a:p>
          <a:p>
            <a:pPr algn="l"/>
            <a:r>
              <a:rPr lang="pt-BR" sz="2800" dirty="0"/>
              <a:t>        /     \</a:t>
            </a:r>
          </a:p>
          <a:p>
            <a:pPr algn="l"/>
            <a:r>
              <a:rPr lang="pt-BR" sz="2800" dirty="0"/>
              <a:t>      5         9</a:t>
            </a:r>
          </a:p>
          <a:p>
            <a:pPr algn="l"/>
            <a:r>
              <a:rPr lang="pt-BR" sz="2800" dirty="0"/>
              <a:t>    /   \      /</a:t>
            </a:r>
          </a:p>
          <a:p>
            <a:pPr algn="l"/>
            <a:r>
              <a:rPr lang="pt-BR" sz="2800" dirty="0"/>
              <a:t>  4     7   6</a:t>
            </a:r>
          </a:p>
        </p:txBody>
      </p:sp>
    </p:spTree>
    <p:extLst>
      <p:ext uri="{BB962C8B-B14F-4D97-AF65-F5344CB8AC3E}">
        <p14:creationId xmlns:p14="http://schemas.microsoft.com/office/powerpoint/2010/main" val="1171053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E3748-8900-F262-A924-D91E3F5AC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29BAD-7914-B33C-4969-3C383F68E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6029" y="0"/>
            <a:ext cx="9144000" cy="989466"/>
          </a:xfrm>
        </p:spPr>
        <p:txBody>
          <a:bodyPr/>
          <a:lstStyle/>
          <a:p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3A00E3-70F9-D27A-2115-C47F3F32D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892628"/>
            <a:ext cx="11963400" cy="596537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2800" dirty="0"/>
              <a:t>Vetor:</a:t>
            </a:r>
          </a:p>
          <a:p>
            <a:pPr algn="l"/>
            <a:r>
              <a:rPr lang="pt-BR" sz="2800" dirty="0"/>
              <a:t>[8,5,9,4,7,6]</a:t>
            </a:r>
          </a:p>
          <a:p>
            <a:pPr algn="l"/>
            <a:r>
              <a:rPr lang="pt-BR" sz="2800" dirty="0"/>
              <a:t>Verificando o nó 5</a:t>
            </a:r>
          </a:p>
          <a:p>
            <a:pPr algn="l"/>
            <a:r>
              <a:rPr lang="pt-BR" sz="2800" dirty="0"/>
              <a:t>       5</a:t>
            </a:r>
          </a:p>
          <a:p>
            <a:pPr algn="l"/>
            <a:r>
              <a:rPr lang="pt-BR" sz="2800" dirty="0"/>
              <a:t>     /   \</a:t>
            </a:r>
          </a:p>
          <a:p>
            <a:pPr algn="l"/>
            <a:r>
              <a:rPr lang="pt-BR" sz="2800" dirty="0"/>
              <a:t>  4      7</a:t>
            </a:r>
          </a:p>
          <a:p>
            <a:pPr algn="l"/>
            <a:r>
              <a:rPr lang="pt-BR" sz="2800" dirty="0"/>
              <a:t>7 é maior que 5. Troca:</a:t>
            </a:r>
          </a:p>
          <a:p>
            <a:pPr algn="l"/>
            <a:r>
              <a:rPr lang="pt-BR" sz="2800" dirty="0"/>
              <a:t>          8</a:t>
            </a:r>
          </a:p>
          <a:p>
            <a:pPr algn="l"/>
            <a:r>
              <a:rPr lang="pt-BR" sz="2800" dirty="0"/>
              <a:t>       /      \</a:t>
            </a:r>
          </a:p>
          <a:p>
            <a:pPr algn="l"/>
            <a:r>
              <a:rPr lang="pt-BR" sz="2800" dirty="0"/>
              <a:t>    7          9</a:t>
            </a:r>
          </a:p>
          <a:p>
            <a:pPr algn="l"/>
            <a:r>
              <a:rPr lang="pt-BR" sz="2800" dirty="0"/>
              <a:t> /     \      /</a:t>
            </a:r>
          </a:p>
          <a:p>
            <a:pPr algn="l"/>
            <a:r>
              <a:rPr lang="pt-BR" sz="2800" dirty="0"/>
              <a:t>4     5    6</a:t>
            </a:r>
          </a:p>
          <a:p>
            <a:pPr algn="l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662121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E1BFB-EF3D-24BE-DBB2-0F21D57B3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1F335-1E16-486C-2DDF-A16F32C31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6029" y="0"/>
            <a:ext cx="9144000" cy="989466"/>
          </a:xfrm>
        </p:spPr>
        <p:txBody>
          <a:bodyPr/>
          <a:lstStyle/>
          <a:p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9C72C8-2D65-6017-EF5B-7B696FF6AC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892628"/>
            <a:ext cx="11963400" cy="596537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2800" dirty="0"/>
              <a:t>Vetor:</a:t>
            </a:r>
          </a:p>
          <a:p>
            <a:pPr algn="l"/>
            <a:r>
              <a:rPr lang="pt-BR" sz="2800" dirty="0"/>
              <a:t>[8,7,9,4,5,6]</a:t>
            </a:r>
          </a:p>
          <a:p>
            <a:pPr algn="l"/>
            <a:r>
              <a:rPr lang="pt-BR" sz="2800" dirty="0"/>
              <a:t>Verificando a raiz 8</a:t>
            </a:r>
          </a:p>
          <a:p>
            <a:pPr algn="l"/>
            <a:r>
              <a:rPr lang="pt-BR" sz="2800" dirty="0"/>
              <a:t>        8</a:t>
            </a:r>
          </a:p>
          <a:p>
            <a:pPr algn="l"/>
            <a:r>
              <a:rPr lang="pt-BR" sz="2800" dirty="0"/>
              <a:t>      /    \</a:t>
            </a:r>
          </a:p>
          <a:p>
            <a:pPr algn="l"/>
            <a:r>
              <a:rPr lang="pt-BR" sz="2800" dirty="0"/>
              <a:t>   7        9</a:t>
            </a:r>
          </a:p>
          <a:p>
            <a:pPr algn="l"/>
            <a:r>
              <a:rPr lang="pt-BR" sz="2800" dirty="0"/>
              <a:t>9 é maior. Troca:</a:t>
            </a:r>
          </a:p>
          <a:p>
            <a:pPr algn="l"/>
            <a:r>
              <a:rPr lang="pt-BR" sz="2800" dirty="0"/>
              <a:t>             9</a:t>
            </a:r>
          </a:p>
          <a:p>
            <a:pPr algn="l"/>
            <a:r>
              <a:rPr lang="pt-BR" sz="2800" dirty="0"/>
              <a:t>        /         \</a:t>
            </a:r>
          </a:p>
          <a:p>
            <a:pPr algn="l"/>
            <a:r>
              <a:rPr lang="pt-BR" sz="2800" dirty="0"/>
              <a:t>      7            8</a:t>
            </a:r>
          </a:p>
          <a:p>
            <a:pPr algn="l"/>
            <a:r>
              <a:rPr lang="pt-BR" sz="2800" dirty="0"/>
              <a:t>    /  \         /</a:t>
            </a:r>
          </a:p>
          <a:p>
            <a:pPr algn="l"/>
            <a:r>
              <a:rPr lang="pt-BR" sz="2800" dirty="0"/>
              <a:t> 4      5    6</a:t>
            </a:r>
          </a:p>
          <a:p>
            <a:pPr algn="l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729462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367B8-530F-2308-708B-A518BF251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33A28F-B50A-F3E3-08FF-7C747D31A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6029" y="0"/>
            <a:ext cx="9144000" cy="989466"/>
          </a:xfrm>
        </p:spPr>
        <p:txBody>
          <a:bodyPr/>
          <a:lstStyle/>
          <a:p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5A1F46-A0E0-38A1-2856-0B6DBC5E1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892628"/>
            <a:ext cx="11963400" cy="596537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2800" dirty="0"/>
              <a:t>Vetor:</a:t>
            </a:r>
          </a:p>
          <a:p>
            <a:pPr algn="l"/>
            <a:r>
              <a:rPr lang="pt-BR" sz="2800" dirty="0"/>
              <a:t>[9,7,8,4,5,6]</a:t>
            </a:r>
          </a:p>
          <a:p>
            <a:pPr algn="l"/>
            <a:r>
              <a:rPr lang="pt-BR" sz="2800" dirty="0"/>
              <a:t>Agora temos um </a:t>
            </a:r>
            <a:r>
              <a:rPr lang="pt-BR" sz="2800" b="1" dirty="0"/>
              <a:t>Max-</a:t>
            </a:r>
            <a:r>
              <a:rPr lang="pt-BR" sz="2800" b="1" dirty="0" err="1"/>
              <a:t>Heap</a:t>
            </a:r>
            <a:r>
              <a:rPr lang="pt-BR" sz="2800" dirty="0"/>
              <a:t>.</a:t>
            </a:r>
          </a:p>
          <a:p>
            <a:pPr algn="l"/>
            <a:r>
              <a:rPr lang="pt-BR" sz="2800" b="1" dirty="0"/>
              <a:t>Passo 3 </a:t>
            </a:r>
            <a:r>
              <a:rPr lang="pt-BR" sz="2800" dirty="0"/>
              <a:t>- Primeira ordenação</a:t>
            </a:r>
          </a:p>
          <a:p>
            <a:pPr algn="l"/>
            <a:r>
              <a:rPr lang="pt-BR" sz="2800" dirty="0"/>
              <a:t>Maior elemento: 9</a:t>
            </a:r>
          </a:p>
          <a:p>
            <a:pPr algn="l"/>
            <a:r>
              <a:rPr lang="pt-BR" sz="2800" dirty="0"/>
              <a:t>Troca com o último: [6,7,8,4,5,9]</a:t>
            </a:r>
          </a:p>
          <a:p>
            <a:pPr algn="l"/>
            <a:r>
              <a:rPr lang="pt-BR" sz="2800" dirty="0"/>
              <a:t>9 já está na posição correta.</a:t>
            </a:r>
          </a:p>
          <a:p>
            <a:pPr algn="l"/>
            <a:r>
              <a:rPr lang="pt-BR" sz="2800" dirty="0"/>
              <a:t>Árvore restante:</a:t>
            </a:r>
          </a:p>
          <a:p>
            <a:pPr algn="l"/>
            <a:r>
              <a:rPr lang="pt-BR" sz="2800" dirty="0"/>
              <a:t>         6</a:t>
            </a:r>
          </a:p>
          <a:p>
            <a:pPr algn="l"/>
            <a:r>
              <a:rPr lang="pt-BR" sz="2800" dirty="0"/>
              <a:t>        /   \</a:t>
            </a:r>
          </a:p>
          <a:p>
            <a:pPr algn="l"/>
            <a:r>
              <a:rPr lang="pt-BR" sz="2800" dirty="0"/>
              <a:t>      7     8</a:t>
            </a:r>
          </a:p>
          <a:p>
            <a:pPr algn="l"/>
            <a:r>
              <a:rPr lang="pt-BR" sz="2800" dirty="0"/>
              <a:t>     /  \</a:t>
            </a:r>
          </a:p>
          <a:p>
            <a:pPr algn="l"/>
            <a:r>
              <a:rPr lang="pt-BR" sz="2800" dirty="0"/>
              <a:t>   4    5</a:t>
            </a:r>
          </a:p>
        </p:txBody>
      </p:sp>
    </p:spTree>
    <p:extLst>
      <p:ext uri="{BB962C8B-B14F-4D97-AF65-F5344CB8AC3E}">
        <p14:creationId xmlns:p14="http://schemas.microsoft.com/office/powerpoint/2010/main" val="1248027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8AF6C-8BB9-CB34-A3A7-67964AE6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BE270-0AF9-A23A-678C-7875015C7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6029" y="0"/>
            <a:ext cx="9144000" cy="989466"/>
          </a:xfrm>
        </p:spPr>
        <p:txBody>
          <a:bodyPr/>
          <a:lstStyle/>
          <a:p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6E7EF8-4CF2-3E96-CF9F-B0271A95F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892628"/>
            <a:ext cx="11963400" cy="5965372"/>
          </a:xfrm>
        </p:spPr>
        <p:txBody>
          <a:bodyPr>
            <a:normAutofit/>
          </a:bodyPr>
          <a:lstStyle/>
          <a:p>
            <a:pPr algn="l"/>
            <a:r>
              <a:rPr lang="pt-BR" sz="2800" b="1" dirty="0"/>
              <a:t>Reorganizando o </a:t>
            </a:r>
            <a:r>
              <a:rPr lang="pt-BR" sz="2800" b="1" dirty="0" err="1"/>
              <a:t>Heap</a:t>
            </a:r>
            <a:endParaRPr lang="pt-BR" sz="2800" b="1" dirty="0"/>
          </a:p>
          <a:p>
            <a:pPr algn="l"/>
            <a:r>
              <a:rPr lang="pt-BR" sz="2800" dirty="0"/>
              <a:t>8 é o maior filho.</a:t>
            </a:r>
          </a:p>
          <a:p>
            <a:pPr algn="l"/>
            <a:r>
              <a:rPr lang="pt-BR" sz="2800" dirty="0"/>
              <a:t>Troca:</a:t>
            </a:r>
          </a:p>
          <a:p>
            <a:pPr algn="l"/>
            <a:r>
              <a:rPr lang="pt-BR" sz="2800" dirty="0"/>
              <a:t>         8</a:t>
            </a:r>
          </a:p>
          <a:p>
            <a:pPr algn="l"/>
            <a:r>
              <a:rPr lang="pt-BR" sz="2800" dirty="0"/>
              <a:t>       /   \</a:t>
            </a:r>
          </a:p>
          <a:p>
            <a:pPr algn="l"/>
            <a:r>
              <a:rPr lang="pt-BR" sz="2800" dirty="0"/>
              <a:t>     7     6</a:t>
            </a:r>
          </a:p>
          <a:p>
            <a:pPr algn="l"/>
            <a:r>
              <a:rPr lang="pt-BR" sz="2800" dirty="0"/>
              <a:t>   /   \</a:t>
            </a:r>
          </a:p>
          <a:p>
            <a:pPr algn="l"/>
            <a:r>
              <a:rPr lang="pt-BR" sz="2800" dirty="0"/>
              <a:t>  4    5</a:t>
            </a:r>
          </a:p>
          <a:p>
            <a:pPr algn="l"/>
            <a:r>
              <a:rPr lang="pt-BR" sz="2800" dirty="0"/>
              <a:t>Vetor: </a:t>
            </a:r>
          </a:p>
          <a:p>
            <a:pPr algn="l"/>
            <a:r>
              <a:rPr lang="pt-BR" sz="2800" dirty="0"/>
              <a:t>[8,7,6,4,5,9]</a:t>
            </a:r>
          </a:p>
          <a:p>
            <a:pPr algn="l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283630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12E24-8207-BDBC-E319-AF0FBCC1C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70729-4014-993F-6EE2-49B92FA4B8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6029" y="0"/>
            <a:ext cx="9144000" cy="989466"/>
          </a:xfrm>
        </p:spPr>
        <p:txBody>
          <a:bodyPr/>
          <a:lstStyle/>
          <a:p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5F6477-C288-4CB1-8C05-E7E61940B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892628"/>
            <a:ext cx="11963400" cy="596537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2800" b="1" dirty="0"/>
              <a:t>Passo 4 - Segunda ordenação</a:t>
            </a:r>
          </a:p>
          <a:p>
            <a:pPr algn="l"/>
            <a:r>
              <a:rPr lang="pt-BR" sz="2800" dirty="0"/>
              <a:t>Troca raiz com último elemento válido: [5,7,6,4,8,9]</a:t>
            </a:r>
          </a:p>
          <a:p>
            <a:pPr algn="l"/>
            <a:r>
              <a:rPr lang="pt-BR" sz="2800" dirty="0"/>
              <a:t>Árvore:</a:t>
            </a:r>
          </a:p>
          <a:p>
            <a:pPr algn="l"/>
            <a:r>
              <a:rPr lang="pt-BR" sz="2800" dirty="0"/>
              <a:t>         5</a:t>
            </a:r>
          </a:p>
          <a:p>
            <a:pPr algn="l"/>
            <a:r>
              <a:rPr lang="pt-BR" sz="2800" dirty="0"/>
              <a:t>        /   \</a:t>
            </a:r>
          </a:p>
          <a:p>
            <a:pPr algn="l"/>
            <a:r>
              <a:rPr lang="pt-BR" sz="2800" dirty="0"/>
              <a:t>      7     6</a:t>
            </a:r>
          </a:p>
          <a:p>
            <a:pPr algn="l"/>
            <a:r>
              <a:rPr lang="pt-BR" sz="2800" dirty="0"/>
              <a:t>     /</a:t>
            </a:r>
          </a:p>
          <a:p>
            <a:pPr algn="l"/>
            <a:r>
              <a:rPr lang="pt-BR" sz="2800" dirty="0"/>
              <a:t>   4</a:t>
            </a:r>
          </a:p>
          <a:p>
            <a:pPr algn="l"/>
            <a:r>
              <a:rPr lang="pt-BR" sz="2800" dirty="0"/>
              <a:t>Reorganizando:</a:t>
            </a:r>
          </a:p>
          <a:p>
            <a:pPr algn="l"/>
            <a:r>
              <a:rPr lang="pt-BR" sz="2800" dirty="0"/>
              <a:t>         7</a:t>
            </a:r>
          </a:p>
          <a:p>
            <a:pPr algn="l"/>
            <a:r>
              <a:rPr lang="pt-BR" sz="2800" dirty="0"/>
              <a:t>        /   \</a:t>
            </a:r>
          </a:p>
          <a:p>
            <a:pPr algn="l"/>
            <a:r>
              <a:rPr lang="pt-BR" sz="2800" dirty="0"/>
              <a:t>       5     6</a:t>
            </a:r>
          </a:p>
          <a:p>
            <a:pPr algn="l"/>
            <a:r>
              <a:rPr lang="pt-BR" sz="2800" dirty="0"/>
              <a:t>      /</a:t>
            </a:r>
          </a:p>
          <a:p>
            <a:pPr algn="l"/>
            <a:r>
              <a:rPr lang="pt-BR" sz="2800" dirty="0"/>
              <a:t>     4</a:t>
            </a:r>
          </a:p>
          <a:p>
            <a:pPr algn="l"/>
            <a:r>
              <a:rPr lang="pt-BR" sz="2800" dirty="0"/>
              <a:t>Vetor: [7,5,6,4,8,9]</a:t>
            </a:r>
          </a:p>
          <a:p>
            <a:pPr algn="l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398054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38F18-6946-EF77-EBD8-938605B2E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FB003-9EE6-7CF9-1E5A-F7DAE2417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6029" y="0"/>
            <a:ext cx="9144000" cy="989466"/>
          </a:xfrm>
        </p:spPr>
        <p:txBody>
          <a:bodyPr/>
          <a:lstStyle/>
          <a:p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33000B-67F5-2084-E510-17EF53A63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892628"/>
            <a:ext cx="11963400" cy="5965372"/>
          </a:xfrm>
        </p:spPr>
        <p:txBody>
          <a:bodyPr>
            <a:normAutofit/>
          </a:bodyPr>
          <a:lstStyle/>
          <a:p>
            <a:pPr algn="l"/>
            <a:r>
              <a:rPr lang="pt-BR" sz="2800" b="1" dirty="0"/>
              <a:t>Passo 5 - Terceira ordenação</a:t>
            </a:r>
          </a:p>
          <a:p>
            <a:pPr algn="l"/>
            <a:r>
              <a:rPr lang="pt-BR" sz="2800" dirty="0"/>
              <a:t>Troca: [4,5,6,7,8,9]</a:t>
            </a:r>
          </a:p>
          <a:p>
            <a:pPr algn="l"/>
            <a:r>
              <a:rPr lang="pt-BR" sz="2800" dirty="0"/>
              <a:t>Árvore:</a:t>
            </a:r>
          </a:p>
          <a:p>
            <a:pPr algn="l"/>
            <a:r>
              <a:rPr lang="pt-BR" sz="2800" dirty="0"/>
              <a:t>       4</a:t>
            </a:r>
          </a:p>
          <a:p>
            <a:pPr algn="l"/>
            <a:r>
              <a:rPr lang="pt-BR" sz="2800" dirty="0"/>
              <a:t>      /   \</a:t>
            </a:r>
          </a:p>
          <a:p>
            <a:pPr algn="l"/>
            <a:r>
              <a:rPr lang="pt-BR" sz="2800" dirty="0"/>
              <a:t>     5     6</a:t>
            </a:r>
          </a:p>
          <a:p>
            <a:pPr algn="l"/>
            <a:r>
              <a:rPr lang="pt-BR" sz="2800" dirty="0"/>
              <a:t>Reorganizando:</a:t>
            </a:r>
          </a:p>
          <a:p>
            <a:pPr algn="l"/>
            <a:r>
              <a:rPr lang="pt-BR" sz="2800" dirty="0"/>
              <a:t>        6</a:t>
            </a:r>
          </a:p>
          <a:p>
            <a:pPr algn="l"/>
            <a:r>
              <a:rPr lang="pt-BR" sz="2800" dirty="0"/>
              <a:t>      /   \</a:t>
            </a:r>
          </a:p>
          <a:p>
            <a:pPr algn="l"/>
            <a:r>
              <a:rPr lang="pt-BR" sz="2800" dirty="0"/>
              <a:t>     5     4</a:t>
            </a:r>
          </a:p>
          <a:p>
            <a:pPr algn="l"/>
            <a:r>
              <a:rPr lang="pt-BR" sz="2800" dirty="0"/>
              <a:t>Vetor: [6,5,4,7,8,9]</a:t>
            </a:r>
          </a:p>
          <a:p>
            <a:pPr algn="l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149518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B9A0A-86A0-5400-E58F-966095EBA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F01A4-D470-936C-66DF-63FA00376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6029" y="0"/>
            <a:ext cx="9144000" cy="989466"/>
          </a:xfrm>
        </p:spPr>
        <p:txBody>
          <a:bodyPr/>
          <a:lstStyle/>
          <a:p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A0A5E8C-6DC4-3134-EC21-2BDB781C3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892628"/>
            <a:ext cx="11963400" cy="5965372"/>
          </a:xfrm>
        </p:spPr>
        <p:txBody>
          <a:bodyPr>
            <a:normAutofit/>
          </a:bodyPr>
          <a:lstStyle/>
          <a:p>
            <a:pPr algn="l"/>
            <a:r>
              <a:rPr lang="pt-BR" sz="2800" b="1" dirty="0"/>
              <a:t>Passo 6 - Quarta ordenação</a:t>
            </a:r>
          </a:p>
          <a:p>
            <a:pPr algn="l"/>
            <a:r>
              <a:rPr lang="pt-BR" sz="2800" dirty="0"/>
              <a:t>Troca: [4,5,6,7,8,9]</a:t>
            </a:r>
          </a:p>
          <a:p>
            <a:pPr algn="l"/>
            <a:r>
              <a:rPr lang="pt-BR" sz="2800" dirty="0"/>
              <a:t>Reorganizando:</a:t>
            </a:r>
          </a:p>
          <a:p>
            <a:pPr algn="l"/>
            <a:r>
              <a:rPr lang="pt-BR" sz="2800" dirty="0"/>
              <a:t>      5</a:t>
            </a:r>
          </a:p>
          <a:p>
            <a:pPr algn="l"/>
            <a:r>
              <a:rPr lang="pt-BR" sz="2800" dirty="0"/>
              <a:t>    /</a:t>
            </a:r>
          </a:p>
          <a:p>
            <a:pPr algn="l"/>
            <a:r>
              <a:rPr lang="pt-BR" sz="2800" dirty="0"/>
              <a:t>  4</a:t>
            </a:r>
          </a:p>
          <a:p>
            <a:pPr algn="l"/>
            <a:r>
              <a:rPr lang="pt-BR" sz="2800" dirty="0"/>
              <a:t>Vetor:</a:t>
            </a:r>
          </a:p>
          <a:p>
            <a:pPr algn="l"/>
            <a:r>
              <a:rPr lang="pt-BR" sz="2800" dirty="0"/>
              <a:t>[5,4,6,7,8,9]</a:t>
            </a:r>
          </a:p>
        </p:txBody>
      </p:sp>
    </p:spTree>
    <p:extLst>
      <p:ext uri="{BB962C8B-B14F-4D97-AF65-F5344CB8AC3E}">
        <p14:creationId xmlns:p14="http://schemas.microsoft.com/office/powerpoint/2010/main" val="4037754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FA0D2-68DC-E6E6-9612-2840C306A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C57597-B0BE-7F7A-08A8-FB7A60D1E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6029" y="0"/>
            <a:ext cx="9144000" cy="989466"/>
          </a:xfrm>
        </p:spPr>
        <p:txBody>
          <a:bodyPr/>
          <a:lstStyle/>
          <a:p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238B3E-E955-770B-61EE-EF4B5F2FB4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892628"/>
            <a:ext cx="11963400" cy="5965372"/>
          </a:xfrm>
        </p:spPr>
        <p:txBody>
          <a:bodyPr>
            <a:normAutofit/>
          </a:bodyPr>
          <a:lstStyle/>
          <a:p>
            <a:pPr algn="l"/>
            <a:r>
              <a:rPr lang="pt-BR" sz="2800" b="1" dirty="0"/>
              <a:t>Passo 7 - Última ordenação</a:t>
            </a:r>
          </a:p>
          <a:p>
            <a:pPr algn="l"/>
            <a:r>
              <a:rPr lang="pt-BR" sz="2800" dirty="0"/>
              <a:t>Troca: [4,5,6,7,8,9]</a:t>
            </a:r>
          </a:p>
          <a:p>
            <a:pPr algn="l"/>
            <a:r>
              <a:rPr lang="pt-BR" sz="2800" dirty="0"/>
              <a:t>Fim da ordenação.</a:t>
            </a:r>
          </a:p>
          <a:p>
            <a:pPr algn="l"/>
            <a:endParaRPr lang="pt-BR" sz="2800" dirty="0"/>
          </a:p>
          <a:p>
            <a:pPr algn="l"/>
            <a:r>
              <a:rPr lang="pt-BR" sz="2800" b="1" dirty="0"/>
              <a:t>Resultado final</a:t>
            </a:r>
          </a:p>
          <a:p>
            <a:pPr algn="l"/>
            <a:r>
              <a:rPr lang="pt-BR" dirty="0"/>
              <a:t>[4,5,6,7,8,9]</a:t>
            </a:r>
          </a:p>
          <a:p>
            <a:pPr algn="l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982727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E8CB7-2D9E-7FED-38E7-6DE6BA74C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427A6-104B-C931-DED1-814A43394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6029" y="0"/>
            <a:ext cx="9144000" cy="989466"/>
          </a:xfrm>
        </p:spPr>
        <p:txBody>
          <a:bodyPr/>
          <a:lstStyle/>
          <a:p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257C03-9110-5D8D-4C5A-9DC7C95E1A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892628"/>
            <a:ext cx="11963400" cy="5965372"/>
          </a:xfrm>
        </p:spPr>
        <p:txBody>
          <a:bodyPr>
            <a:normAutofit/>
          </a:bodyPr>
          <a:lstStyle/>
          <a:p>
            <a:pPr algn="l"/>
            <a:r>
              <a:rPr lang="pt-BR" sz="2800" b="1" dirty="0"/>
              <a:t>Resumo visual</a:t>
            </a:r>
          </a:p>
          <a:p>
            <a:pPr algn="l"/>
            <a:r>
              <a:rPr lang="pt-BR" sz="2800" b="1" dirty="0"/>
              <a:t>Vetor inicial</a:t>
            </a:r>
          </a:p>
          <a:p>
            <a:pPr algn="l"/>
            <a:r>
              <a:rPr lang="pt-BR" dirty="0"/>
              <a:t>[8,5,6,4,7,9]</a:t>
            </a:r>
          </a:p>
          <a:p>
            <a:pPr algn="l"/>
            <a:r>
              <a:rPr lang="pt-BR" dirty="0"/>
              <a:t>Max-</a:t>
            </a:r>
            <a:r>
              <a:rPr lang="pt-BR" dirty="0" err="1"/>
              <a:t>Heap</a:t>
            </a:r>
            <a:r>
              <a:rPr lang="pt-BR" dirty="0"/>
              <a:t> construído</a:t>
            </a:r>
          </a:p>
          <a:p>
            <a:pPr algn="l"/>
            <a:r>
              <a:rPr lang="pt-BR" dirty="0"/>
              <a:t>         9</a:t>
            </a:r>
          </a:p>
          <a:p>
            <a:pPr algn="l"/>
            <a:r>
              <a:rPr lang="pt-BR" dirty="0"/>
              <a:t>       /     \</a:t>
            </a:r>
          </a:p>
          <a:p>
            <a:pPr algn="l"/>
            <a:r>
              <a:rPr lang="pt-BR" dirty="0"/>
              <a:t>     7        8</a:t>
            </a:r>
          </a:p>
          <a:p>
            <a:pPr algn="l"/>
            <a:r>
              <a:rPr lang="pt-BR" dirty="0"/>
              <a:t>   /   \      /</a:t>
            </a:r>
          </a:p>
          <a:p>
            <a:pPr algn="l"/>
            <a:r>
              <a:rPr lang="pt-BR" dirty="0"/>
              <a:t> 4     5  6</a:t>
            </a:r>
          </a:p>
          <a:p>
            <a:pPr algn="l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35651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4ACD9-5A7E-F140-56FF-B9E29D773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976E8-AEA1-4BA4-5389-4CFEBF7DE1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6029" y="0"/>
            <a:ext cx="9144000" cy="989466"/>
          </a:xfrm>
        </p:spPr>
        <p:txBody>
          <a:bodyPr/>
          <a:lstStyle/>
          <a:p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0176AF-DB30-C204-7CDA-DD24BB34D1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892628"/>
            <a:ext cx="11963400" cy="5965372"/>
          </a:xfrm>
        </p:spPr>
        <p:txBody>
          <a:bodyPr>
            <a:normAutofit/>
          </a:bodyPr>
          <a:lstStyle/>
          <a:p>
            <a:pPr algn="l"/>
            <a:r>
              <a:rPr lang="pt-BR" sz="2800" b="1" dirty="0"/>
              <a:t>Extrações</a:t>
            </a:r>
          </a:p>
          <a:p>
            <a:pPr algn="l"/>
            <a:r>
              <a:rPr lang="pt-BR" dirty="0"/>
              <a:t>9 → [8,7,6,4,5]</a:t>
            </a:r>
            <a:br>
              <a:rPr lang="pt-BR" dirty="0"/>
            </a:br>
            <a:r>
              <a:rPr lang="pt-BR" dirty="0"/>
              <a:t>8 → [7,5,6,4]</a:t>
            </a:r>
            <a:br>
              <a:rPr lang="pt-BR" dirty="0"/>
            </a:br>
            <a:r>
              <a:rPr lang="pt-BR" dirty="0"/>
              <a:t>7 → [6,5,4]</a:t>
            </a:r>
            <a:br>
              <a:rPr lang="pt-BR" dirty="0"/>
            </a:br>
            <a:r>
              <a:rPr lang="pt-BR" dirty="0"/>
              <a:t>6 → [5,4]</a:t>
            </a:r>
            <a:br>
              <a:rPr lang="pt-BR" dirty="0"/>
            </a:br>
            <a:r>
              <a:rPr lang="pt-BR" dirty="0"/>
              <a:t>5 → [4]</a:t>
            </a:r>
          </a:p>
          <a:p>
            <a:pPr algn="l"/>
            <a:r>
              <a:rPr lang="pt-BR" sz="2800" b="1" dirty="0"/>
              <a:t>Vetor ordenado</a:t>
            </a:r>
          </a:p>
          <a:p>
            <a:pPr algn="l"/>
            <a:r>
              <a:rPr lang="pt-BR" dirty="0"/>
              <a:t>[</a:t>
            </a:r>
            <a:r>
              <a:rPr lang="pt-BR"/>
              <a:t>4,5,6,7,8,9]</a:t>
            </a:r>
          </a:p>
          <a:p>
            <a:pPr algn="l"/>
            <a:endParaRPr lang="pt-BR" dirty="0"/>
          </a:p>
          <a:p>
            <a:pPr algn="l"/>
            <a:r>
              <a:rPr lang="pt-BR" b="1" dirty="0"/>
              <a:t>Ideia principal para memorizar</a:t>
            </a:r>
          </a:p>
          <a:p>
            <a:pPr algn="l"/>
            <a:r>
              <a:rPr lang="pt-BR" dirty="0"/>
              <a:t>O </a:t>
            </a:r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Sort</a:t>
            </a:r>
            <a:r>
              <a:rPr lang="pt-BR" dirty="0"/>
              <a:t> primeiro transforma o vetor em uma árvore onde o maior valor fica na raiz (Max-</a:t>
            </a:r>
            <a:r>
              <a:rPr lang="pt-BR" dirty="0" err="1"/>
              <a:t>Heap</a:t>
            </a:r>
            <a:r>
              <a:rPr lang="pt-BR" dirty="0"/>
              <a:t>). Depois ele remove repetidamente o maior elemento, colocando-o no final do vetor, até que todos os elementos estejam ordenados.</a:t>
            </a:r>
          </a:p>
          <a:p>
            <a:pPr algn="l"/>
            <a:endParaRPr lang="pt-BR" dirty="0"/>
          </a:p>
          <a:p>
            <a:pPr algn="l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8360315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657</Words>
  <Application>Microsoft Office PowerPoint</Application>
  <PresentationFormat>Widescreen</PresentationFormat>
  <Paragraphs>159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Tema do Office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  <vt:lpstr>Heap Sort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Lopes Farias</dc:creator>
  <cp:lastModifiedBy>Douglas Lopes Farias</cp:lastModifiedBy>
  <cp:revision>1</cp:revision>
  <dcterms:created xsi:type="dcterms:W3CDTF">2026-06-08T20:27:56Z</dcterms:created>
  <dcterms:modified xsi:type="dcterms:W3CDTF">2026-06-08T20:54:42Z</dcterms:modified>
</cp:coreProperties>
</file>