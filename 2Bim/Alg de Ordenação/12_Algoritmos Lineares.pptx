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74" r:id="rId7"/>
    <p:sldId id="270" r:id="rId8"/>
    <p:sldId id="263" r:id="rId9"/>
    <p:sldId id="271" r:id="rId10"/>
    <p:sldId id="265" r:id="rId11"/>
    <p:sldId id="266" r:id="rId12"/>
    <p:sldId id="267" r:id="rId13"/>
    <p:sldId id="268" r:id="rId14"/>
    <p:sldId id="269" r:id="rId15"/>
    <p:sldId id="275" r:id="rId16"/>
    <p:sldId id="262" r:id="rId17"/>
    <p:sldId id="264" r:id="rId18"/>
    <p:sldId id="273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18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A81C5-05DA-B6C1-443B-E088A59F0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7D8B38-6C3E-756C-5392-7267541D6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39B7AE-AE1E-948B-B203-D92766A5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8F3B9B-D497-E426-3EE7-9C1FFCD14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9B6307-3124-9BB1-4C6A-E68D123B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1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56ACA1-836C-FF57-1B1E-506AE8FE3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BE2032-E29F-5361-E990-4A7B37932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1D8B21-6E07-F723-1A4C-A3F5D853A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120675-5B03-DFE0-84CC-BF99F8A1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153C31-5C83-C93A-BEA4-23EA2251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76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4C372-9D1C-965D-B2AE-7A22A3D7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80E692-1EC4-7332-CAFC-322489D67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53DFDE-D002-B802-6FBD-C4DE6CF2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0126A0-FB22-DEB7-DC53-16E78D1EF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136DED-0A3A-1674-5695-22F053635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722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CA7B6-326C-7D57-A8A2-E3E42615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362BA-3426-4577-904B-E894C98E1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9F620A-1F01-1CB1-62A7-714256AAA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AFB01A-CE00-FF45-174C-0F2261B8F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6B6798-7EF8-F152-5A3C-E5B8BDE90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7E4060-52EC-5CCE-33E5-5FF47C99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75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8F057-D64D-4E6F-4A21-DDE8E47A6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ABBF8E-0AF7-A6EC-F2B3-88859076D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E2F22C-AD30-C54C-D616-951248E6A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35DF62D-7EC3-9D74-1E97-6D673CEE1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2E0DBB1-A1DD-C4D3-990C-67FC8C0CD2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092A5C3-2806-7693-1798-246D0C19F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8D47B5-E38A-8EA7-D008-805C99D8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3872387-BAC9-B246-EA8F-0030FEFCB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74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DC6F9-1CA6-ECE3-B802-8668E381C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E48A5C2-A18D-2E34-6CCB-A6C36AB5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E9D519D-AAC6-D094-21F4-5C294D59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C4EA5F-C590-DED6-87DD-52307E95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91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7D1318-9D3A-7751-7AAF-C2403ECE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A07F9CA-FE1B-9BED-2782-2C736CFC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821FF-72EF-743F-08E7-62D848BF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33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47E25-E6FC-A01E-9453-3C637741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DCE2A9-CAFE-5DF5-A7C6-1199F4EC1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88A836-0CD0-A7C5-9E1C-1BE6AD70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B7D79B-BC46-475F-7BBB-A10D8493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17EEF3-AACB-F527-AB33-F024935F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E7097A-8DEA-BD0C-BE26-C5B4C176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202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1C4DC-EDF2-C153-4B05-C8547A7D5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28575C-3759-815C-B635-E87F924BD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F23235-7DAD-EAC3-3C8B-DEF35F69E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E0400F-2541-3EBB-86F2-9DA29106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016094-35BF-CB6E-4642-264E4DAA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4C599F-7544-E436-A741-61E66510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3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7A549-FAAA-0BC4-26EB-77DAA0E5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379BAC-E599-50F0-291B-9D3A01C39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262E9D-1CB4-E803-E1FE-F689EB499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172EC2-3775-5778-D4BD-0CF5E418C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7A5133-B5D3-6800-76FD-93F58B6E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53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3AA4BE-36DE-32AD-2374-1B2E508CC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4D283E-7F30-A2FD-4AB8-36C1E5CB9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3B9AF4-B3DE-7F80-CC81-FE514602C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CA53B-3F4C-1225-E002-3C638752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ADB1E-1840-0E0A-34AA-4FDD726B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24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C7B608B-5C53-445A-5884-D5F49387E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9355EF-F93E-729A-B52F-731158351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5B953B-C652-453D-43A3-398FEF25B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D669C-B174-403A-995E-2AE8D3027BFE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DE56F0-E077-1C33-03EA-C3B7D18AD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55A80F-CC47-9C97-57D6-FB929301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867B1-BF13-4C11-BB31-11739E02D4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81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ECAEE-901A-FE0D-0D6D-187EFECA8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1571675"/>
          </a:xfrm>
        </p:spPr>
        <p:txBody>
          <a:bodyPr>
            <a:normAutofit fontScale="90000"/>
          </a:bodyPr>
          <a:lstStyle/>
          <a:p>
            <a:r>
              <a:rPr lang="pt-BR" dirty="0"/>
              <a:t>Algoritmos Lineares: </a:t>
            </a:r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e </a:t>
            </a:r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84550E-9D10-D5FB-51F2-E13E32EE83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just">
              <a:lnSpc>
                <a:spcPct val="250000"/>
              </a:lnSpc>
            </a:pPr>
            <a:r>
              <a:rPr lang="pt-BR" dirty="0"/>
              <a:t>Os algoritmos </a:t>
            </a:r>
            <a:r>
              <a:rPr lang="pt-BR" b="1" dirty="0" err="1"/>
              <a:t>Counting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e </a:t>
            </a:r>
            <a:r>
              <a:rPr lang="pt-BR" b="1" dirty="0" err="1"/>
              <a:t>Radix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são chamados de </a:t>
            </a:r>
            <a:r>
              <a:rPr lang="pt-BR" b="1" dirty="0"/>
              <a:t>algoritmos lineares</a:t>
            </a:r>
            <a:r>
              <a:rPr lang="pt-BR" dirty="0"/>
              <a:t> porque, em determinadas condições, conseguem ordenar elementos em tempo próximo de </a:t>
            </a:r>
            <a:r>
              <a:rPr lang="pt-BR" b="1" dirty="0"/>
              <a:t>O(n)</a:t>
            </a:r>
            <a:r>
              <a:rPr lang="pt-BR" dirty="0"/>
              <a:t>, sendo mais rápidos que algoritmos de comparação como Quick </a:t>
            </a:r>
            <a:r>
              <a:rPr lang="pt-BR" dirty="0" err="1"/>
              <a:t>Sort</a:t>
            </a:r>
            <a:r>
              <a:rPr lang="pt-BR" dirty="0"/>
              <a:t>, Merge </a:t>
            </a:r>
            <a:r>
              <a:rPr lang="pt-BR" dirty="0" err="1"/>
              <a:t>Sort</a:t>
            </a:r>
            <a:r>
              <a:rPr lang="pt-BR" dirty="0"/>
              <a:t> e </a:t>
            </a:r>
            <a:r>
              <a:rPr lang="pt-BR" dirty="0" err="1"/>
              <a:t>Heap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(que normalmente possuem complexidade O(n log n)).</a:t>
            </a:r>
          </a:p>
        </p:txBody>
      </p:sp>
    </p:spTree>
    <p:extLst>
      <p:ext uri="{BB962C8B-B14F-4D97-AF65-F5344CB8AC3E}">
        <p14:creationId xmlns:p14="http://schemas.microsoft.com/office/powerpoint/2010/main" val="2161572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A9BEA-E512-319C-6421-B39CEF5C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9D939-A18B-25B3-317D-DD3F606CC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DFC31C-6824-B6FE-C6DA-367927CF0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1. </a:t>
            </a:r>
            <a:r>
              <a:rPr lang="pt-BR" b="1" dirty="0" err="1"/>
              <a:t>Counting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pt-BR" b="1" dirty="0"/>
          </a:p>
          <a:p>
            <a:pPr algn="l"/>
            <a:r>
              <a:rPr lang="pt-BR" b="1" dirty="0"/>
              <a:t>Conceito</a:t>
            </a:r>
          </a:p>
          <a:p>
            <a:pPr algn="l"/>
            <a:r>
              <a:rPr lang="pt-BR" dirty="0"/>
              <a:t>O </a:t>
            </a:r>
            <a:r>
              <a:rPr lang="pt-BR" b="1" dirty="0" err="1"/>
              <a:t>Counting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não compara elementos entre si.</a:t>
            </a:r>
          </a:p>
          <a:p>
            <a:pPr algn="l"/>
            <a:r>
              <a:rPr lang="pt-BR" dirty="0"/>
              <a:t>Ele funciona contando quantas vezes cada valor aparece no vetor e depois reconstruindo o vetor ordenado.</a:t>
            </a:r>
          </a:p>
          <a:p>
            <a:pPr algn="l"/>
            <a:r>
              <a:rPr lang="pt-BR" dirty="0"/>
              <a:t>É ideal quando: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Os valores são inteiros.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O maior valor não é muito grande.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Existe uma faixa conhecida de valores.</a:t>
            </a:r>
          </a:p>
        </p:txBody>
      </p:sp>
    </p:spTree>
    <p:extLst>
      <p:ext uri="{BB962C8B-B14F-4D97-AF65-F5344CB8AC3E}">
        <p14:creationId xmlns:p14="http://schemas.microsoft.com/office/powerpoint/2010/main" val="285181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8641C-B841-31EC-38F1-31D44EC28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77FCA-9E7F-7B7A-6763-CFE0C02BD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942411"/>
          </a:xfrm>
        </p:spPr>
        <p:txBody>
          <a:bodyPr>
            <a:normAutofit/>
          </a:bodyPr>
          <a:lstStyle/>
          <a:p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624C16-192A-3182-4F62-E84552F8D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Exemplo</a:t>
            </a:r>
          </a:p>
          <a:p>
            <a:pPr algn="l"/>
            <a:r>
              <a:rPr lang="pt-BR" dirty="0"/>
              <a:t>Vetor:</a:t>
            </a:r>
          </a:p>
          <a:p>
            <a:pPr algn="l"/>
            <a:r>
              <a:rPr lang="pt-BR" b="1" dirty="0"/>
              <a:t>[4, 2, 2, 8, 3, 3, 1]</a:t>
            </a:r>
          </a:p>
          <a:p>
            <a:pPr algn="l"/>
            <a:endParaRPr lang="pt-BR" dirty="0"/>
          </a:p>
          <a:p>
            <a:pPr algn="l"/>
            <a:r>
              <a:rPr lang="pt-BR" b="1" dirty="0"/>
              <a:t>Passo 1: Encontrar o maior elemento</a:t>
            </a:r>
          </a:p>
          <a:p>
            <a:pPr algn="l"/>
            <a:r>
              <a:rPr lang="pt-BR" dirty="0"/>
              <a:t>Maior valor:</a:t>
            </a:r>
          </a:p>
          <a:p>
            <a:pPr algn="l"/>
            <a:r>
              <a:rPr lang="pt-BR" b="1" dirty="0"/>
              <a:t>8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Criamos um vetor de contagem com posições de 0 a 8.</a:t>
            </a:r>
          </a:p>
          <a:p>
            <a:pPr algn="l"/>
            <a:r>
              <a:rPr lang="pt-BR" b="1" dirty="0"/>
              <a:t>Índice:     0 1 2 3 4 5 6 7 8</a:t>
            </a:r>
            <a:br>
              <a:rPr lang="pt-BR" b="1" dirty="0"/>
            </a:br>
            <a:r>
              <a:rPr lang="pt-BR" b="1" dirty="0"/>
              <a:t>Contagem:   0 0 0 0 0 0 0 0 0</a:t>
            </a:r>
          </a:p>
        </p:txBody>
      </p:sp>
    </p:spTree>
    <p:extLst>
      <p:ext uri="{BB962C8B-B14F-4D97-AF65-F5344CB8AC3E}">
        <p14:creationId xmlns:p14="http://schemas.microsoft.com/office/powerpoint/2010/main" val="3599790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5CC7-BC7B-DD89-69C7-C11A3485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8AF13E-DA12-52F6-BE5D-1F6727846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ABCCDA-9C2B-D062-6B46-BFC6D074D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Passo 2: Contar ocorrências</a:t>
            </a:r>
          </a:p>
          <a:p>
            <a:pPr algn="l"/>
            <a:r>
              <a:rPr lang="pt-BR" dirty="0"/>
              <a:t>Percorremos o vetor original:</a:t>
            </a:r>
          </a:p>
          <a:p>
            <a:pPr algn="l"/>
            <a:r>
              <a:rPr lang="pt-BR" b="1" dirty="0"/>
              <a:t>4 → conta[4]++</a:t>
            </a:r>
            <a:br>
              <a:rPr lang="pt-BR" b="1" dirty="0"/>
            </a:br>
            <a:r>
              <a:rPr lang="pt-BR" b="1" dirty="0"/>
              <a:t>2 → conta[2]++</a:t>
            </a:r>
            <a:br>
              <a:rPr lang="pt-BR" b="1" dirty="0"/>
            </a:br>
            <a:r>
              <a:rPr lang="pt-BR" b="1" dirty="0"/>
              <a:t>2 → conta[2]++</a:t>
            </a:r>
            <a:br>
              <a:rPr lang="pt-BR" b="1" dirty="0"/>
            </a:br>
            <a:r>
              <a:rPr lang="pt-BR" b="1" dirty="0"/>
              <a:t>8 → conta[8]++</a:t>
            </a:r>
            <a:br>
              <a:rPr lang="pt-BR" b="1" dirty="0"/>
            </a:br>
            <a:r>
              <a:rPr lang="pt-BR" b="1" dirty="0"/>
              <a:t>3 → conta[3]++</a:t>
            </a:r>
            <a:br>
              <a:rPr lang="pt-BR" b="1" dirty="0"/>
            </a:br>
            <a:r>
              <a:rPr lang="pt-BR" b="1" dirty="0"/>
              <a:t>3 → conta[3]++</a:t>
            </a:r>
            <a:br>
              <a:rPr lang="pt-BR" b="1" dirty="0"/>
            </a:br>
            <a:r>
              <a:rPr lang="pt-BR" b="1" dirty="0"/>
              <a:t>1 → conta[1]++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Resultado:</a:t>
            </a:r>
          </a:p>
          <a:p>
            <a:pPr algn="l"/>
            <a:r>
              <a:rPr lang="pt-BR" b="1" dirty="0"/>
              <a:t>Índice:     0 1 2 3 4 5 6 7 8</a:t>
            </a:r>
            <a:br>
              <a:rPr lang="pt-BR" b="1" dirty="0"/>
            </a:br>
            <a:r>
              <a:rPr lang="pt-BR" b="1" dirty="0"/>
              <a:t>Contagem:   0 1 2 2 1 0 0 0 1</a:t>
            </a:r>
          </a:p>
        </p:txBody>
      </p:sp>
    </p:spTree>
    <p:extLst>
      <p:ext uri="{BB962C8B-B14F-4D97-AF65-F5344CB8AC3E}">
        <p14:creationId xmlns:p14="http://schemas.microsoft.com/office/powerpoint/2010/main" val="2485454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DF77-73CE-3731-FECB-B6D38E09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3145B-7722-E608-A21F-2238E7333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D3C356-0459-9758-7963-769355079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Passo 3: Reconstruir o vetor</a:t>
            </a:r>
          </a:p>
          <a:p>
            <a:pPr algn="l"/>
            <a:r>
              <a:rPr lang="pt-BR" dirty="0"/>
              <a:t>Lemos o vetor de contagem:</a:t>
            </a:r>
          </a:p>
          <a:p>
            <a:pPr algn="l"/>
            <a:r>
              <a:rPr lang="pt-BR" b="1" dirty="0"/>
              <a:t>1 aparece 1 vez</a:t>
            </a:r>
            <a:br>
              <a:rPr lang="pt-BR" b="1" dirty="0"/>
            </a:br>
            <a:r>
              <a:rPr lang="pt-BR" b="1" dirty="0"/>
              <a:t>2 aparece 2 vezes</a:t>
            </a:r>
            <a:br>
              <a:rPr lang="pt-BR" b="1" dirty="0"/>
            </a:br>
            <a:r>
              <a:rPr lang="pt-BR" b="1" dirty="0"/>
              <a:t>3 aparece 2 vezes</a:t>
            </a:r>
            <a:br>
              <a:rPr lang="pt-BR" b="1" dirty="0"/>
            </a:br>
            <a:r>
              <a:rPr lang="pt-BR" b="1" dirty="0"/>
              <a:t>4 aparece 1 vez</a:t>
            </a:r>
            <a:br>
              <a:rPr lang="pt-BR" b="1" dirty="0"/>
            </a:br>
            <a:r>
              <a:rPr lang="pt-BR" b="1" dirty="0"/>
              <a:t>8 aparece 1 vez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Resultado:</a:t>
            </a:r>
          </a:p>
          <a:p>
            <a:pPr algn="l"/>
            <a:r>
              <a:rPr lang="pt-BR" b="1" dirty="0"/>
              <a:t>[1, 2, 2, 3, 3, 4, 8]</a:t>
            </a:r>
          </a:p>
        </p:txBody>
      </p:sp>
    </p:spTree>
    <p:extLst>
      <p:ext uri="{BB962C8B-B14F-4D97-AF65-F5344CB8AC3E}">
        <p14:creationId xmlns:p14="http://schemas.microsoft.com/office/powerpoint/2010/main" val="372511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0060A-107A-883A-98F7-63A61F22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B66DFC8-AF6D-9A4C-FF8C-AD3D36FC5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795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67BC-9E40-EB04-53EB-6F1B6971F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891FD-0836-364E-0148-889CF1E8B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2CC4C1-D1F8-5880-93D0-3C900D6DC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27588"/>
            <a:ext cx="12192000" cy="6130412"/>
          </a:xfrm>
        </p:spPr>
        <p:txBody>
          <a:bodyPr>
            <a:normAutofit/>
          </a:bodyPr>
          <a:lstStyle/>
          <a:p>
            <a:pPr algn="l"/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2F2544-9439-A246-E078-630EA0E9C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588"/>
            <a:ext cx="11946194" cy="533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6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632AF-52E7-4A91-25B1-C2EAD4B0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10FA2-B5DE-6BC6-597D-7720A13D1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613403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8E7658-37DB-71E7-85FE-054EF72F8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27588"/>
            <a:ext cx="12192000" cy="6130412"/>
          </a:xfrm>
        </p:spPr>
        <p:txBody>
          <a:bodyPr>
            <a:normAutofit/>
          </a:bodyPr>
          <a:lstStyle/>
          <a:p>
            <a:pPr algn="l"/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EAA5A6-7F9A-DBC9-8160-DEE137660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588"/>
            <a:ext cx="7737987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4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E91F4-F722-7D37-CA61-47B1342D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23F32-4825-B070-A1AA-9AAE79D31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613403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A6F81E-DDCB-672B-A454-7AF2E2EBC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27588"/>
            <a:ext cx="12192000" cy="6130412"/>
          </a:xfrm>
        </p:spPr>
        <p:txBody>
          <a:bodyPr>
            <a:normAutofit/>
          </a:bodyPr>
          <a:lstStyle/>
          <a:p>
            <a:pPr algn="l"/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2EBB059-89C2-9188-2A3A-394000E50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044"/>
            <a:ext cx="9598178" cy="602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67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B40AA-C3E2-2191-D4AD-E69858DD5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E47E7-69DB-434A-A1AA-9FEE57C8F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41B4F3-35D6-A573-0861-3878C183B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b="1" dirty="0"/>
              <a:t>2. </a:t>
            </a:r>
            <a:r>
              <a:rPr lang="pt-BR" b="1" dirty="0" err="1"/>
              <a:t>Radix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endParaRPr lang="pt-BR" b="1" dirty="0"/>
          </a:p>
          <a:p>
            <a:pPr algn="l"/>
            <a:r>
              <a:rPr lang="pt-BR" b="1" dirty="0"/>
              <a:t>Conceito</a:t>
            </a:r>
          </a:p>
          <a:p>
            <a:pPr algn="l"/>
            <a:r>
              <a:rPr lang="pt-BR" dirty="0"/>
              <a:t>O </a:t>
            </a:r>
            <a:r>
              <a:rPr lang="pt-BR" b="1" dirty="0" err="1"/>
              <a:t>Radix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ordena os números dígito por dígito.</a:t>
            </a:r>
          </a:p>
          <a:p>
            <a:pPr algn="l"/>
            <a:r>
              <a:rPr lang="pt-BR" dirty="0"/>
              <a:t>Ele normalmente utiliza o </a:t>
            </a:r>
            <a:r>
              <a:rPr lang="pt-BR" b="1" dirty="0" err="1"/>
              <a:t>Counting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dirty="0"/>
              <a:t> como algoritmo auxiliar.</a:t>
            </a:r>
          </a:p>
          <a:p>
            <a:pPr algn="l"/>
            <a:r>
              <a:rPr lang="pt-BR" dirty="0"/>
              <a:t>A ordenação começa pelo:</a:t>
            </a:r>
          </a:p>
          <a:p>
            <a:pPr algn="l"/>
            <a:r>
              <a:rPr lang="pt-BR" dirty="0"/>
              <a:t>Dígito das unidades </a:t>
            </a:r>
          </a:p>
          <a:p>
            <a:pPr algn="l"/>
            <a:r>
              <a:rPr lang="pt-BR" dirty="0"/>
              <a:t>Dígito das dezenas </a:t>
            </a:r>
          </a:p>
          <a:p>
            <a:pPr algn="l"/>
            <a:r>
              <a:rPr lang="pt-BR" dirty="0"/>
              <a:t>Dígito das centenas </a:t>
            </a:r>
          </a:p>
          <a:p>
            <a:pPr algn="l"/>
            <a:r>
              <a:rPr lang="pt-BR" dirty="0"/>
              <a:t>E assim por diante </a:t>
            </a:r>
          </a:p>
          <a:p>
            <a:pPr algn="l"/>
            <a:br>
              <a:rPr lang="pt-BR" dirty="0"/>
            </a:br>
            <a:endParaRPr lang="pt-BR" dirty="0"/>
          </a:p>
          <a:p>
            <a:pPr algn="l"/>
            <a:r>
              <a:rPr lang="pt-BR" b="1" dirty="0"/>
              <a:t>Exemplo</a:t>
            </a:r>
          </a:p>
          <a:p>
            <a:pPr algn="l"/>
            <a:r>
              <a:rPr lang="pt-BR" dirty="0"/>
              <a:t>Vetor:</a:t>
            </a:r>
          </a:p>
          <a:p>
            <a:pPr algn="l"/>
            <a:r>
              <a:rPr lang="pt-BR" dirty="0"/>
              <a:t>[170, 45, 75, 90, 802, 24, 2, 66]</a:t>
            </a:r>
          </a:p>
        </p:txBody>
      </p:sp>
    </p:spTree>
    <p:extLst>
      <p:ext uri="{BB962C8B-B14F-4D97-AF65-F5344CB8AC3E}">
        <p14:creationId xmlns:p14="http://schemas.microsoft.com/office/powerpoint/2010/main" val="865252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74F31-0402-DF64-2A9D-AF52119F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43B55-B2E2-906A-C93F-356EE7C3B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8808ED-DE1A-55ED-AAC0-FA922312D4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Passo 1: Ordenar pelas unidades</a:t>
            </a:r>
          </a:p>
          <a:p>
            <a:pPr algn="l"/>
            <a:r>
              <a:rPr lang="pt-BR" b="1" dirty="0"/>
              <a:t>170 → 0</a:t>
            </a:r>
            <a:br>
              <a:rPr lang="pt-BR" b="1" dirty="0"/>
            </a:br>
            <a:r>
              <a:rPr lang="pt-BR" b="1" dirty="0"/>
              <a:t>45  → 5</a:t>
            </a:r>
            <a:br>
              <a:rPr lang="pt-BR" b="1" dirty="0"/>
            </a:br>
            <a:r>
              <a:rPr lang="pt-BR" b="1" dirty="0"/>
              <a:t>75  → 5</a:t>
            </a:r>
            <a:br>
              <a:rPr lang="pt-BR" b="1" dirty="0"/>
            </a:br>
            <a:r>
              <a:rPr lang="pt-BR" b="1" dirty="0"/>
              <a:t>90  → 0</a:t>
            </a:r>
            <a:br>
              <a:rPr lang="pt-BR" b="1" dirty="0"/>
            </a:br>
            <a:r>
              <a:rPr lang="pt-BR" b="1" dirty="0"/>
              <a:t>802 → 2</a:t>
            </a:r>
            <a:br>
              <a:rPr lang="pt-BR" b="1" dirty="0"/>
            </a:br>
            <a:r>
              <a:rPr lang="pt-BR" b="1" dirty="0"/>
              <a:t>24  → 4</a:t>
            </a:r>
            <a:br>
              <a:rPr lang="pt-BR" b="1" dirty="0"/>
            </a:br>
            <a:r>
              <a:rPr lang="pt-BR" b="1" dirty="0"/>
              <a:t>2   → 2</a:t>
            </a:r>
            <a:br>
              <a:rPr lang="pt-BR" b="1" dirty="0"/>
            </a:br>
            <a:r>
              <a:rPr lang="pt-BR" b="1" dirty="0"/>
              <a:t>66  → 6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Resultado:</a:t>
            </a:r>
          </a:p>
          <a:p>
            <a:pPr algn="l"/>
            <a:r>
              <a:rPr lang="pt-BR" b="1" dirty="0"/>
              <a:t>[170, 90, 802, 2, 24, 45, 75, 66]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7221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0A8C7-BFC9-F94E-81D7-9B5728BA7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EBAED-424B-A7E5-AC87-B114B8683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666089-B319-B79B-4DE1-8FEDED21D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Passo 2: Ordenar pelas dezenas</a:t>
            </a:r>
          </a:p>
          <a:p>
            <a:pPr algn="l"/>
            <a:r>
              <a:rPr lang="pt-BR" b="1" dirty="0"/>
              <a:t>170 → 7</a:t>
            </a:r>
            <a:br>
              <a:rPr lang="pt-BR" b="1" dirty="0"/>
            </a:br>
            <a:r>
              <a:rPr lang="pt-BR" b="1" dirty="0"/>
              <a:t>90  → 9</a:t>
            </a:r>
            <a:br>
              <a:rPr lang="pt-BR" b="1" dirty="0"/>
            </a:br>
            <a:r>
              <a:rPr lang="pt-BR" b="1" dirty="0"/>
              <a:t>802 → 0</a:t>
            </a:r>
            <a:br>
              <a:rPr lang="pt-BR" b="1" dirty="0"/>
            </a:br>
            <a:r>
              <a:rPr lang="pt-BR" b="1" dirty="0"/>
              <a:t>2   → 0</a:t>
            </a:r>
            <a:br>
              <a:rPr lang="pt-BR" b="1" dirty="0"/>
            </a:br>
            <a:r>
              <a:rPr lang="pt-BR" b="1" dirty="0"/>
              <a:t>24  → 2</a:t>
            </a:r>
            <a:br>
              <a:rPr lang="pt-BR" b="1" dirty="0"/>
            </a:br>
            <a:r>
              <a:rPr lang="pt-BR" b="1" dirty="0"/>
              <a:t>45  → 4</a:t>
            </a:r>
            <a:br>
              <a:rPr lang="pt-BR" b="1" dirty="0"/>
            </a:br>
            <a:r>
              <a:rPr lang="pt-BR" b="1" dirty="0"/>
              <a:t>75  → 7</a:t>
            </a:r>
            <a:br>
              <a:rPr lang="pt-BR" b="1" dirty="0"/>
            </a:br>
            <a:r>
              <a:rPr lang="pt-BR" b="1" dirty="0"/>
              <a:t>66  → 6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Resultado:</a:t>
            </a:r>
          </a:p>
          <a:p>
            <a:pPr algn="l"/>
            <a:r>
              <a:rPr lang="pt-BR" b="1" dirty="0"/>
              <a:t>[802, 2, 24, 45, 66, 170, 75, 90]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8972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E9BB-1E3F-95DE-900D-C90267D7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77BB7-7885-FE8E-995E-9FCC39043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C015C8-6B5B-E6CB-603B-B9584F860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56928"/>
            <a:ext cx="12192000" cy="530107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Passo 3: Ordenar pelas centenas</a:t>
            </a:r>
          </a:p>
          <a:p>
            <a:pPr algn="l"/>
            <a:r>
              <a:rPr lang="pt-BR" b="1" dirty="0"/>
              <a:t>802 → 8</a:t>
            </a:r>
            <a:br>
              <a:rPr lang="pt-BR" b="1" dirty="0"/>
            </a:br>
            <a:r>
              <a:rPr lang="pt-BR" b="1" dirty="0"/>
              <a:t>2   → 0</a:t>
            </a:r>
            <a:br>
              <a:rPr lang="pt-BR" b="1" dirty="0"/>
            </a:br>
            <a:r>
              <a:rPr lang="pt-BR" b="1" dirty="0"/>
              <a:t>24  → 0</a:t>
            </a:r>
            <a:br>
              <a:rPr lang="pt-BR" b="1" dirty="0"/>
            </a:br>
            <a:r>
              <a:rPr lang="pt-BR" b="1" dirty="0"/>
              <a:t>45  → 0</a:t>
            </a:r>
            <a:br>
              <a:rPr lang="pt-BR" b="1" dirty="0"/>
            </a:br>
            <a:r>
              <a:rPr lang="pt-BR" b="1" dirty="0"/>
              <a:t>66  → 0</a:t>
            </a:r>
            <a:br>
              <a:rPr lang="pt-BR" b="1" dirty="0"/>
            </a:br>
            <a:r>
              <a:rPr lang="pt-BR" b="1" dirty="0"/>
              <a:t>170 → 1</a:t>
            </a:r>
            <a:br>
              <a:rPr lang="pt-BR" b="1" dirty="0"/>
            </a:br>
            <a:r>
              <a:rPr lang="pt-BR" b="1" dirty="0"/>
              <a:t>75  → 0</a:t>
            </a:r>
            <a:br>
              <a:rPr lang="pt-BR" b="1" dirty="0"/>
            </a:br>
            <a:r>
              <a:rPr lang="pt-BR" b="1" dirty="0"/>
              <a:t>90  → 0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Resultado final:</a:t>
            </a:r>
          </a:p>
          <a:p>
            <a:pPr algn="l"/>
            <a:r>
              <a:rPr lang="pt-BR" b="1" dirty="0"/>
              <a:t>[2, 24, 45, 66, 75, 90, 170, 802]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7377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5483-32D8-18A5-6923-C2A3136FE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0382D-0715-8EC6-F904-CA9EDB408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AA3D06-2049-B6C9-2D02-1DD994BD3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93058"/>
            <a:ext cx="12192000" cy="5864941"/>
          </a:xfrm>
        </p:spPr>
        <p:txBody>
          <a:bodyPr>
            <a:normAutofit/>
          </a:bodyPr>
          <a:lstStyle/>
          <a:p>
            <a:pPr algn="l"/>
            <a:r>
              <a:rPr lang="pt-BR" b="1" dirty="0"/>
              <a:t>Como o </a:t>
            </a:r>
            <a:r>
              <a:rPr lang="pt-BR" b="1" dirty="0" err="1"/>
              <a:t>Radix</a:t>
            </a:r>
            <a:r>
              <a:rPr lang="pt-BR" b="1" dirty="0"/>
              <a:t> </a:t>
            </a:r>
            <a:r>
              <a:rPr lang="pt-BR" b="1" dirty="0" err="1"/>
              <a:t>Sort</a:t>
            </a:r>
            <a:r>
              <a:rPr lang="pt-BR" b="1" dirty="0"/>
              <a:t> funciona visualmente</a:t>
            </a:r>
          </a:p>
          <a:p>
            <a:pPr algn="l"/>
            <a:r>
              <a:rPr lang="pt-BR" dirty="0"/>
              <a:t>Vetor Original</a:t>
            </a:r>
            <a:br>
              <a:rPr lang="pt-BR" dirty="0"/>
            </a:br>
            <a:br>
              <a:rPr lang="pt-BR" dirty="0"/>
            </a:br>
            <a:r>
              <a:rPr lang="pt-BR" dirty="0"/>
              <a:t>170 45 75 90 802 24 2 66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↓ Unidades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170 90 802 2 24 45 75 66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↓ Dezenas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802 2 24 45 66 170 75 90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↓ Centenas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2 24 45 66 75 90 170 802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6017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E8552-7B5F-6D18-28A1-83EA55875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194281A-AEBB-1733-EFD6-541B57E63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771534" cy="68580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3592CA1-845C-67B8-7AD3-7D892F953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35" y="0"/>
            <a:ext cx="6420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6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417D-172D-6D59-1986-BE0EF9531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7C105-2074-D360-3E0B-862306874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804759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A8308FA-41BF-E684-11DA-8DADE2A2F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27588"/>
            <a:ext cx="12192000" cy="6130412"/>
          </a:xfrm>
        </p:spPr>
        <p:txBody>
          <a:bodyPr>
            <a:normAutofit/>
          </a:bodyPr>
          <a:lstStyle/>
          <a:p>
            <a:pPr algn="l"/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182CF9-7B0C-E138-205D-DB30E77F1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588"/>
            <a:ext cx="11946194" cy="533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105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64A92-9D5D-0D49-2F8F-768E2CB7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E0BF34-0722-A543-0A51-F7C560D59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613403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B09437-A886-17FA-AC89-D638A4217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727588"/>
            <a:ext cx="12192000" cy="6130412"/>
          </a:xfrm>
        </p:spPr>
        <p:txBody>
          <a:bodyPr>
            <a:normAutofit/>
          </a:bodyPr>
          <a:lstStyle/>
          <a:p>
            <a:pPr algn="l"/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55B662-9A11-28CD-A705-934F32796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3043"/>
            <a:ext cx="9864976" cy="613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4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40C2-CBCD-F221-80D0-3AA6F0AD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FEB56-C1FB-6C55-0CFC-FEED7787A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8" y="109641"/>
            <a:ext cx="9144000" cy="1571675"/>
          </a:xfrm>
        </p:spPr>
        <p:txBody>
          <a:bodyPr>
            <a:normAutofit fontScale="90000"/>
          </a:bodyPr>
          <a:lstStyle/>
          <a:p>
            <a:r>
              <a:rPr lang="pt-BR" dirty="0"/>
              <a:t>Algoritmos Lineares: </a:t>
            </a:r>
            <a:r>
              <a:rPr lang="pt-BR" dirty="0" err="1"/>
              <a:t>Counting</a:t>
            </a:r>
            <a:r>
              <a:rPr lang="pt-BR" dirty="0"/>
              <a:t> </a:t>
            </a:r>
            <a:r>
              <a:rPr lang="pt-BR" dirty="0" err="1"/>
              <a:t>Sort</a:t>
            </a:r>
            <a:r>
              <a:rPr lang="pt-BR" dirty="0"/>
              <a:t> e </a:t>
            </a:r>
            <a:r>
              <a:rPr lang="pt-BR" dirty="0" err="1"/>
              <a:t>Radix</a:t>
            </a:r>
            <a:r>
              <a:rPr lang="pt-BR" dirty="0"/>
              <a:t> </a:t>
            </a:r>
            <a:r>
              <a:rPr lang="pt-BR" dirty="0" err="1"/>
              <a:t>Sort</a:t>
            </a:r>
            <a:endParaRPr lang="pt-BR" dirty="0"/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867F96F1-C109-52F5-A479-C04CDAA30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7322281"/>
              </p:ext>
            </p:extLst>
          </p:nvPr>
        </p:nvGraphicFramePr>
        <p:xfrm>
          <a:off x="68825" y="2444628"/>
          <a:ext cx="12024852" cy="3720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008284">
                  <a:extLst>
                    <a:ext uri="{9D8B030D-6E8A-4147-A177-3AD203B41FA5}">
                      <a16:colId xmlns:a16="http://schemas.microsoft.com/office/drawing/2014/main" val="681013054"/>
                    </a:ext>
                  </a:extLst>
                </a:gridCol>
                <a:gridCol w="4008284">
                  <a:extLst>
                    <a:ext uri="{9D8B030D-6E8A-4147-A177-3AD203B41FA5}">
                      <a16:colId xmlns:a16="http://schemas.microsoft.com/office/drawing/2014/main" val="3285540823"/>
                    </a:ext>
                  </a:extLst>
                </a:gridCol>
                <a:gridCol w="4008284">
                  <a:extLst>
                    <a:ext uri="{9D8B030D-6E8A-4147-A177-3AD203B41FA5}">
                      <a16:colId xmlns:a16="http://schemas.microsoft.com/office/drawing/2014/main" val="2007409497"/>
                    </a:ext>
                  </a:extLst>
                </a:gridCol>
              </a:tblGrid>
              <a:tr h="53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Característica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Counting Sort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Radix Sort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54914133"/>
                  </a:ext>
                </a:extLst>
              </a:tr>
              <a:tr h="53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Compara elementos?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Não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Não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08292732"/>
                  </a:ext>
                </a:extLst>
              </a:tr>
              <a:tr h="53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Baseado em contagem?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 dirty="0">
                          <a:effectLst/>
                        </a:rPr>
                        <a:t>Sim</a:t>
                      </a:r>
                      <a:endParaRPr lang="pt-B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Sim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2174399"/>
                  </a:ext>
                </a:extLst>
              </a:tr>
              <a:tr h="53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Usa Counting Sort?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Não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Sim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4162094"/>
                  </a:ext>
                </a:extLst>
              </a:tr>
              <a:tr h="53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Funciona melhor com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Faixa pequena de valores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Números inteiros com vários dígitos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9397175"/>
                  </a:ext>
                </a:extLst>
              </a:tr>
              <a:tr h="53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Complexidade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O(n + k)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O(d × (n + k))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7842840"/>
                  </a:ext>
                </a:extLst>
              </a:tr>
              <a:tr h="5314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Estável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>
                          <a:effectLst/>
                        </a:rPr>
                        <a:t>Sim</a:t>
                      </a:r>
                      <a:endParaRPr lang="pt-BR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200" kern="100" dirty="0">
                          <a:effectLst/>
                        </a:rPr>
                        <a:t>Sim (quando usa </a:t>
                      </a:r>
                      <a:r>
                        <a:rPr lang="pt-BR" sz="1200" kern="100" dirty="0" err="1">
                          <a:effectLst/>
                        </a:rPr>
                        <a:t>Counting</a:t>
                      </a:r>
                      <a:r>
                        <a:rPr lang="pt-BR" sz="1200" kern="100" dirty="0">
                          <a:effectLst/>
                        </a:rPr>
                        <a:t> </a:t>
                      </a:r>
                      <a:r>
                        <a:rPr lang="pt-BR" sz="1200" kern="100" dirty="0" err="1">
                          <a:effectLst/>
                        </a:rPr>
                        <a:t>Sort</a:t>
                      </a:r>
                      <a:r>
                        <a:rPr lang="pt-BR" sz="1200" kern="100" dirty="0">
                          <a:effectLst/>
                        </a:rPr>
                        <a:t> estável)</a:t>
                      </a:r>
                      <a:endParaRPr lang="pt-BR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8524629"/>
                  </a:ext>
                </a:extLst>
              </a:tr>
            </a:tbl>
          </a:graphicData>
        </a:graphic>
      </p:graphicFrame>
      <p:sp>
        <p:nvSpPr>
          <p:cNvPr id="14" name="CaixaDeTexto 13">
            <a:extLst>
              <a:ext uri="{FF2B5EF4-FFF2-40B4-BE49-F238E27FC236}">
                <a16:creationId xmlns:a16="http://schemas.microsoft.com/office/drawing/2014/main" id="{44CE05BD-C70C-AD09-7C41-D40AD26C152B}"/>
              </a:ext>
            </a:extLst>
          </p:cNvPr>
          <p:cNvSpPr txBox="1"/>
          <p:nvPr/>
        </p:nvSpPr>
        <p:spPr>
          <a:xfrm>
            <a:off x="68826" y="1865386"/>
            <a:ext cx="6164826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Resumo Comparativo</a:t>
            </a:r>
            <a:endParaRPr lang="pt-B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5202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710</Words>
  <Application>Microsoft Office PowerPoint</Application>
  <PresentationFormat>Widescreen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do Office</vt:lpstr>
      <vt:lpstr>Algoritmos Lineares: Counting Sort e Radix Sort</vt:lpstr>
      <vt:lpstr>Counting Sort</vt:lpstr>
      <vt:lpstr>Counting Sort</vt:lpstr>
      <vt:lpstr>Counting Sort</vt:lpstr>
      <vt:lpstr>Counting Sort</vt:lpstr>
      <vt:lpstr>Apresentação do PowerPoint</vt:lpstr>
      <vt:lpstr>Counting Sort</vt:lpstr>
      <vt:lpstr>Counting Sort</vt:lpstr>
      <vt:lpstr>Counting Sort</vt:lpstr>
      <vt:lpstr>Radix Sort</vt:lpstr>
      <vt:lpstr>Radix Sort</vt:lpstr>
      <vt:lpstr>Radix Sort</vt:lpstr>
      <vt:lpstr>Radix Sort</vt:lpstr>
      <vt:lpstr>Radix Sort</vt:lpstr>
      <vt:lpstr>Apresentação do PowerPoint</vt:lpstr>
      <vt:lpstr>Radix Sort</vt:lpstr>
      <vt:lpstr>Radix Sort</vt:lpstr>
      <vt:lpstr>Algoritmos Lineares: Counting Sort e Radix Sort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Douglas Lopes Farias</dc:creator>
  <cp:lastModifiedBy>Douglas Lopes Farias</cp:lastModifiedBy>
  <cp:revision>3</cp:revision>
  <dcterms:created xsi:type="dcterms:W3CDTF">2026-06-09T19:49:26Z</dcterms:created>
  <dcterms:modified xsi:type="dcterms:W3CDTF">2026-06-09T20:54:47Z</dcterms:modified>
</cp:coreProperties>
</file>