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70" r:id="rId12"/>
    <p:sldId id="271" r:id="rId13"/>
    <p:sldId id="272" r:id="rId14"/>
    <p:sldId id="269" r:id="rId15"/>
    <p:sldId id="273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E53F7-3C2C-8F96-63BB-150535399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C8D537-CEED-68D2-004B-3E6A069D0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2BCE0-23BF-3CF3-8A08-E2251F35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EF3F10-40DD-0960-31D8-525AD2FB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6FD98-1C36-8E6C-57A4-EB689075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4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14678-AD8E-C2BD-FF67-A848975EA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0ECACD-BA96-E554-E714-78E323D8E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751D64-D1C9-F4F5-F4DB-A7BE3A29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30942B-A735-9A14-E6C3-8D696B7D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9271C5-7A49-5B5B-4CC9-C533C72E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9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BDB82-416A-9308-97EB-C05C8D50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8B38DC-875F-B55D-0376-623B8D660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2FEAC7-DD1C-38FD-0CEC-A9338BD9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413B5B-555E-562E-8E0B-C41B4E76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A1A46A-7EEC-D50D-E76C-8CACC4AA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01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CF02C-0589-6F86-8E69-EE6971BF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6DFFD-4CB2-8041-FA30-F051F0F21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E50D88-0FA1-769C-1872-D63189866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417C33-6546-82D9-9DD7-9FC23BBD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C25CDD-4E09-8AAA-8966-B4705208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12852B-1118-C046-13FC-00F5249C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1BE06-441A-72E7-5A8F-5AFD6F36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16952D-12A5-5055-3D6E-959A69A59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9B5C82-D138-85BC-60EC-0981CAF20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D0141F-01BA-5EFA-B3BE-0222E440B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774072-14D2-DB24-0A36-D2FD77867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19A116D-E824-2A50-C71F-5542437EE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9330F9-85B6-7620-407C-0ACB6E1E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C7B0FC-4A30-F49D-336A-4427613A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94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47C9C-4C1C-0E17-C147-339650B4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9BC090B-B405-C856-7C12-950C1599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6EAECE-1387-AF86-69B6-AB74E500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7BBA11B-1B1F-9504-559A-1B8CCE9C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62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B081DD-3772-3E27-BEFE-75DF09B5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A1E196-31A3-DD96-B5C3-79CD3A9C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F83133-A6D5-302C-748C-AAE29097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83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69665-7BE8-6C6B-8E74-E74114E67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62118-6F10-D1FE-D277-37A8C9E98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69AA95-B358-F6A4-20D5-E116EAAEC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A74F0C-8CC6-2B9A-7283-B296A7D0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85EBA0-4526-46F2-41AB-A79DF6F2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7D3A8E-DAA1-7DE3-956C-922753BA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44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243EB-C19F-1296-0532-8480AB6F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1A76D8-CD31-290F-9633-BC7265053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C47E67-0F32-1B61-5B63-B0C30E1B8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BC189E-DE56-93EE-E38B-B197E89AA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82D62A-7829-48E8-AC07-2E5EEE945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6A12D1-FCEE-6659-6A83-AB7DF05D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702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79D42-D16D-5C27-824C-847E00E0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BBDE27-B9B5-FBFB-D1E1-9AEADF033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6E7FB9-805C-5CA4-2397-35A759E4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84AC7C-ED9E-B527-E582-F99F8A63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8BC58C-F9E1-4DFD-D0B4-B0A25627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71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7E6413-B704-6EA8-3121-793CECA22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59989B-06E1-1ACB-2891-310F2B800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FF522B-1C28-31B8-135C-F0B8AFE5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02B07E-DF82-A12D-05F7-30AA5E73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56290E-EC04-FE5A-E8D3-C98C7143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132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465994-E120-6D77-2EE6-12A99600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C33801-83A2-52E0-2362-21169C4B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DDB138-4212-E94D-0F91-836B94AD9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C3DF5-39A5-49B9-BC77-9E01CD215B1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363F72-2CF8-6BFD-4249-17EB54A13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DA5FEF-F7C1-2633-30A1-A72E0EDB7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C1A91-1136-4F87-8633-B5335E39B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17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F84BB-998F-014E-B323-DD8C203B7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77335"/>
            <a:ext cx="9144000" cy="956808"/>
          </a:xfrm>
        </p:spPr>
        <p:txBody>
          <a:bodyPr/>
          <a:lstStyle/>
          <a:p>
            <a:r>
              <a:rPr lang="pt-BR" dirty="0"/>
              <a:t>Quick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2FAE4F-B597-8912-7183-D1A95DD8F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713" y="1034143"/>
            <a:ext cx="11876315" cy="4724400"/>
          </a:xfrm>
        </p:spPr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Quick </a:t>
            </a:r>
            <a:r>
              <a:rPr lang="pt-BR" sz="4000" dirty="0" err="1"/>
              <a:t>Sort</a:t>
            </a:r>
            <a:r>
              <a:rPr lang="pt-BR" sz="4000" dirty="0"/>
              <a:t> é um algoritmo de ordenação que organiza uma lista dividindo-a em partes menores.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 Ele escolhe um elemento chamado pivô, coloca os valores menores à esquerda e os maiores à direita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Depois repete o mesmo processo em cada parte até que todos os elementos estejam ordenados.</a:t>
            </a:r>
          </a:p>
        </p:txBody>
      </p:sp>
    </p:spTree>
    <p:extLst>
      <p:ext uri="{BB962C8B-B14F-4D97-AF65-F5344CB8AC3E}">
        <p14:creationId xmlns:p14="http://schemas.microsoft.com/office/powerpoint/2010/main" val="428778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522F3-4B64-0845-E216-45518276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E004DC-5850-4818-4384-8D897047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631371"/>
            <a:ext cx="11081657" cy="6150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 dirty="0"/>
              <a:t>Considere o vetor:</a:t>
            </a:r>
          </a:p>
          <a:p>
            <a:pPr marL="0" indent="0">
              <a:buNone/>
            </a:pPr>
            <a:r>
              <a:rPr lang="pt-BR" sz="4400" dirty="0"/>
              <a:t>[5, 3, 8, 2, 7]</a:t>
            </a:r>
          </a:p>
          <a:p>
            <a:r>
              <a:rPr lang="pt-BR" sz="4400" dirty="0"/>
              <a:t>Escolhemos o último elemento como pivô: </a:t>
            </a:r>
            <a:r>
              <a:rPr lang="pt-BR" sz="4400" b="1" dirty="0"/>
              <a:t>7</a:t>
            </a:r>
            <a:r>
              <a:rPr lang="pt-BR" sz="4400" dirty="0"/>
              <a:t> </a:t>
            </a:r>
          </a:p>
          <a:p>
            <a:r>
              <a:rPr lang="pt-BR" sz="4400" dirty="0"/>
              <a:t>Separamos os elementos: </a:t>
            </a:r>
          </a:p>
          <a:p>
            <a:pPr lvl="1"/>
            <a:r>
              <a:rPr lang="pt-BR" sz="4400" dirty="0"/>
              <a:t>Menores que 7: [5, 3, 2] </a:t>
            </a:r>
          </a:p>
          <a:p>
            <a:pPr lvl="1"/>
            <a:r>
              <a:rPr lang="pt-BR" sz="4400" dirty="0"/>
              <a:t>Maiores que 7: [8] </a:t>
            </a:r>
          </a:p>
          <a:p>
            <a:r>
              <a:rPr lang="pt-BR" sz="4400" dirty="0"/>
              <a:t>O pivô fica entre eles: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79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A0DA-2E4F-43E9-60A6-E21FC1BF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3949A-5DFB-EEC2-363A-558D051B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56A50C-74C4-03E9-7A36-C3120099F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 lnSpcReduction="10000"/>
          </a:bodyPr>
          <a:lstStyle/>
          <a:p>
            <a:r>
              <a:rPr lang="pt-BR" sz="4400" dirty="0"/>
              <a:t>[5, 3, 2] + [7] + [8]</a:t>
            </a:r>
          </a:p>
          <a:p>
            <a:r>
              <a:rPr lang="pt-BR" sz="4400" dirty="0"/>
              <a:t>Repetimos o processo para [5, 3, 2]: </a:t>
            </a:r>
          </a:p>
          <a:p>
            <a:pPr lvl="1"/>
            <a:r>
              <a:rPr lang="pt-BR" sz="4400" dirty="0"/>
              <a:t>Pivô: </a:t>
            </a:r>
            <a:r>
              <a:rPr lang="pt-BR" sz="4400" b="1" dirty="0"/>
              <a:t>2</a:t>
            </a:r>
            <a:r>
              <a:rPr lang="pt-BR" sz="4400" dirty="0"/>
              <a:t> </a:t>
            </a:r>
          </a:p>
          <a:p>
            <a:pPr lvl="1"/>
            <a:r>
              <a:rPr lang="pt-BR" sz="4400" dirty="0"/>
              <a:t>Menores: [] </a:t>
            </a:r>
          </a:p>
          <a:p>
            <a:pPr lvl="1"/>
            <a:r>
              <a:rPr lang="pt-BR" sz="4400" dirty="0"/>
              <a:t>Maiores: [5, 3] </a:t>
            </a:r>
          </a:p>
          <a:p>
            <a:r>
              <a:rPr lang="pt-BR" sz="4400" dirty="0"/>
              <a:t>Continuamos até que todas as partes estejam ordenadas. </a:t>
            </a:r>
          </a:p>
          <a:p>
            <a:r>
              <a:rPr lang="pt-BR" sz="4400" dirty="0"/>
              <a:t>Resultado final:</a:t>
            </a:r>
          </a:p>
          <a:p>
            <a:r>
              <a:rPr lang="pt-BR" sz="4400" dirty="0"/>
              <a:t>[2, 3, 5, 7, 8]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02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2E949-8443-DF4F-CF12-4B2DAA3D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9D2D9-EC48-83E5-566A-FB226C316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524657-DDDC-DB3F-3D67-0C0979EBF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r>
              <a:rPr lang="pt-BR" sz="4400" dirty="0"/>
              <a:t>Utiliza a estratégia </a:t>
            </a:r>
            <a:r>
              <a:rPr lang="pt-BR" sz="4400" b="1" dirty="0"/>
              <a:t>"dividir para conquistar"</a:t>
            </a:r>
            <a:r>
              <a:rPr lang="pt-BR" sz="4400" dirty="0"/>
              <a:t>. </a:t>
            </a:r>
          </a:p>
          <a:p>
            <a:r>
              <a:rPr lang="pt-BR" sz="4400" dirty="0"/>
              <a:t>É um dos algoritmos de ordenação mais rápidos na prática. </a:t>
            </a:r>
          </a:p>
          <a:p>
            <a:r>
              <a:rPr lang="pt-BR" sz="4400" dirty="0"/>
              <a:t>Não precisa comparar todos os elementos com todos os outros.</a:t>
            </a:r>
          </a:p>
          <a:p>
            <a:r>
              <a:rPr lang="pt-BR" sz="4400" dirty="0"/>
              <a:t> Complexidade média: </a:t>
            </a:r>
            <a:r>
              <a:rPr lang="pt-BR" sz="4400" b="1" dirty="0"/>
              <a:t>O(n log n)</a:t>
            </a:r>
            <a:r>
              <a:rPr lang="pt-BR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969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CDF0-D7C7-7A4F-9656-0CCF32EE2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540DB-433D-1D86-FF22-0CA0CD0E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1"/>
            <a:ext cx="121920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Formas comuns de escolher o pivô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64BD57-7B4A-035B-1B63-74C5D40D1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/>
              <a:t>1. Primeiro elemento</a:t>
            </a:r>
          </a:p>
          <a:p>
            <a:pPr marL="0" indent="0">
              <a:buNone/>
            </a:pPr>
            <a:r>
              <a:rPr lang="pt-BR" sz="3600" dirty="0"/>
              <a:t>Escolhe o primeiro elemento do vetor.</a:t>
            </a:r>
          </a:p>
          <a:p>
            <a:pPr marL="0" indent="0">
              <a:buNone/>
            </a:pPr>
            <a:r>
              <a:rPr lang="pt-BR" sz="3600" dirty="0"/>
              <a:t>Exemplo:</a:t>
            </a:r>
          </a:p>
          <a:p>
            <a:pPr marL="0" indent="0">
              <a:buNone/>
            </a:pPr>
            <a:r>
              <a:rPr lang="pt-BR" sz="3600" dirty="0"/>
              <a:t>[5, 3, 8, 2, 7]</a:t>
            </a:r>
            <a:br>
              <a:rPr lang="pt-BR" sz="3600" dirty="0"/>
            </a:br>
            <a:r>
              <a:rPr lang="pt-BR" sz="3600" dirty="0"/>
              <a:t> ↑</a:t>
            </a:r>
            <a:br>
              <a:rPr lang="pt-BR" sz="3600" dirty="0"/>
            </a:br>
            <a:r>
              <a:rPr lang="pt-BR" sz="3600" dirty="0"/>
              <a:t> pivô = 5</a:t>
            </a:r>
          </a:p>
          <a:p>
            <a:pPr marL="0" indent="0">
              <a:buNone/>
            </a:pPr>
            <a:r>
              <a:rPr lang="pt-BR" sz="3600" b="1" dirty="0"/>
              <a:t>Vantagem:</a:t>
            </a:r>
            <a:r>
              <a:rPr lang="pt-BR" sz="3600" dirty="0"/>
              <a:t> simples de implementar.</a:t>
            </a:r>
          </a:p>
          <a:p>
            <a:pPr marL="0" indent="0">
              <a:buNone/>
            </a:pPr>
            <a:r>
              <a:rPr lang="pt-BR" sz="3600" b="1" dirty="0"/>
              <a:t>Desvantagem:</a:t>
            </a:r>
            <a:r>
              <a:rPr lang="pt-BR" sz="3600" dirty="0"/>
              <a:t> pode gerar desempenho ruim se o vetor já estiver ordenado</a:t>
            </a:r>
          </a:p>
        </p:txBody>
      </p:sp>
    </p:spTree>
    <p:extLst>
      <p:ext uri="{BB962C8B-B14F-4D97-AF65-F5344CB8AC3E}">
        <p14:creationId xmlns:p14="http://schemas.microsoft.com/office/powerpoint/2010/main" val="273227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0D03-7F33-22CA-5C5A-449836EA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DA3AD-EC74-421C-9915-4B749A80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1"/>
            <a:ext cx="121920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Formas comuns de escolher o pivô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C946A1-F601-38E4-A7E6-6C10E09EB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/>
              <a:t>2. Último elemento</a:t>
            </a:r>
          </a:p>
          <a:p>
            <a:r>
              <a:rPr lang="pt-BR" sz="3600" dirty="0"/>
              <a:t>Escolhe o último elemento do vetor.</a:t>
            </a:r>
          </a:p>
          <a:p>
            <a:r>
              <a:rPr lang="pt-BR" sz="3600" dirty="0"/>
              <a:t>Exemplo:</a:t>
            </a:r>
          </a:p>
          <a:p>
            <a:r>
              <a:rPr lang="pt-BR" dirty="0"/>
              <a:t>[5, 3, 8, 2, 7]</a:t>
            </a:r>
            <a:br>
              <a:rPr lang="pt-BR" dirty="0"/>
            </a:br>
            <a:r>
              <a:rPr lang="pt-BR" dirty="0"/>
              <a:t>             ↑</a:t>
            </a:r>
            <a:br>
              <a:rPr lang="pt-BR" dirty="0"/>
            </a:br>
            <a:r>
              <a:rPr lang="pt-BR" dirty="0"/>
              <a:t>          pivô = 7</a:t>
            </a:r>
          </a:p>
          <a:p>
            <a:r>
              <a:rPr lang="pt-BR" sz="3600" b="1" dirty="0"/>
              <a:t>Vantagem:</a:t>
            </a:r>
            <a:r>
              <a:rPr lang="pt-BR" sz="3600" dirty="0"/>
              <a:t> implementação simples e muito utilizada em exemplos didáticos.</a:t>
            </a:r>
          </a:p>
          <a:p>
            <a:r>
              <a:rPr lang="pt-BR" sz="3600" b="1" dirty="0"/>
              <a:t>Desvantagem:</a:t>
            </a:r>
            <a:r>
              <a:rPr lang="pt-BR" sz="3600" dirty="0"/>
              <a:t> também pode ser ineficiente em vetores já ordenados.</a:t>
            </a:r>
          </a:p>
        </p:txBody>
      </p:sp>
    </p:spTree>
    <p:extLst>
      <p:ext uri="{BB962C8B-B14F-4D97-AF65-F5344CB8AC3E}">
        <p14:creationId xmlns:p14="http://schemas.microsoft.com/office/powerpoint/2010/main" val="50699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E7FE-A462-4CF0-4135-C2CE399E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29051-7098-28A8-307D-E47DDE4E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1"/>
            <a:ext cx="121920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Formas comuns de escolher o pivô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7691E-9772-36D4-9EDA-164112779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/>
              <a:t>3. Elemento central</a:t>
            </a:r>
          </a:p>
          <a:p>
            <a:r>
              <a:rPr lang="pt-BR" sz="3600" dirty="0"/>
              <a:t>Escolhe o elemento do meio.</a:t>
            </a:r>
          </a:p>
          <a:p>
            <a:r>
              <a:rPr lang="pt-BR" sz="3600" dirty="0"/>
              <a:t>Exemplo:</a:t>
            </a:r>
          </a:p>
          <a:p>
            <a:r>
              <a:rPr lang="pt-BR" dirty="0"/>
              <a:t>[5, 3, 8, 2, 7]</a:t>
            </a:r>
            <a:br>
              <a:rPr lang="pt-BR" dirty="0"/>
            </a:br>
            <a:r>
              <a:rPr lang="pt-BR" dirty="0"/>
              <a:t>       ↑</a:t>
            </a:r>
            <a:br>
              <a:rPr lang="pt-BR" dirty="0"/>
            </a:br>
            <a:r>
              <a:rPr lang="pt-BR" dirty="0"/>
              <a:t>    pivô = 8</a:t>
            </a:r>
          </a:p>
          <a:p>
            <a:r>
              <a:rPr lang="pt-BR" sz="3600" b="1" dirty="0"/>
              <a:t>Vantagem:</a:t>
            </a:r>
            <a:r>
              <a:rPr lang="pt-BR" sz="3600" dirty="0"/>
              <a:t> geralmente produz divisões mais equilibradas.</a:t>
            </a:r>
          </a:p>
        </p:txBody>
      </p:sp>
    </p:spTree>
    <p:extLst>
      <p:ext uri="{BB962C8B-B14F-4D97-AF65-F5344CB8AC3E}">
        <p14:creationId xmlns:p14="http://schemas.microsoft.com/office/powerpoint/2010/main" val="68532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3705-8D49-5287-91DD-56D4B1237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64D64-8C1E-B0E7-86E6-A8703E30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1"/>
            <a:ext cx="121920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Formas comuns de escolher o pivô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68470B-F560-30E0-3942-D9F23E06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/>
              <a:t>4. Pivô aleatório</a:t>
            </a:r>
          </a:p>
          <a:p>
            <a:r>
              <a:rPr lang="pt-BR" sz="3600" dirty="0"/>
              <a:t>Escolhe uma posição aleatória.</a:t>
            </a:r>
          </a:p>
          <a:p>
            <a:r>
              <a:rPr lang="pt-BR" sz="3600" dirty="0"/>
              <a:t>Exemplo:</a:t>
            </a:r>
          </a:p>
          <a:p>
            <a:r>
              <a:rPr lang="pt-BR" dirty="0"/>
              <a:t>[5, 3, 8, 2, 7]</a:t>
            </a:r>
            <a:br>
              <a:rPr lang="pt-BR" dirty="0"/>
            </a:br>
            <a:r>
              <a:rPr lang="pt-BR" dirty="0"/>
              <a:t>    ↑</a:t>
            </a:r>
            <a:br>
              <a:rPr lang="pt-BR" dirty="0"/>
            </a:br>
            <a:r>
              <a:rPr lang="pt-BR" dirty="0"/>
              <a:t> pivô = 3</a:t>
            </a:r>
          </a:p>
          <a:p>
            <a:r>
              <a:rPr lang="pt-BR" sz="3600" b="1" dirty="0"/>
              <a:t>Vantagem:</a:t>
            </a:r>
            <a:r>
              <a:rPr lang="pt-BR" sz="3600" dirty="0"/>
              <a:t> reduz a chance de cair no pior caso.</a:t>
            </a:r>
          </a:p>
          <a:p>
            <a:r>
              <a:rPr lang="pt-BR" sz="3600" dirty="0"/>
              <a:t>É uma das estratégias mais utilizadas em implementações reais.</a:t>
            </a:r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319685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8FE9-14B3-ECA3-CC8C-F32F0095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878BE-34D8-A98E-14C3-1ABE3F03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1"/>
            <a:ext cx="121920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Formas comuns de escolher o pivô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2DBBAA-98A5-19E4-9D21-B8E898559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3600" b="1" dirty="0"/>
              <a:t>5. Mediana de três (</a:t>
            </a:r>
            <a:r>
              <a:rPr lang="pt-BR" sz="3600" b="1" dirty="0" err="1"/>
              <a:t>Median</a:t>
            </a:r>
            <a:r>
              <a:rPr lang="pt-BR" sz="3600" b="1" dirty="0"/>
              <a:t> </a:t>
            </a:r>
            <a:r>
              <a:rPr lang="pt-BR" sz="3600" b="1" dirty="0" err="1"/>
              <a:t>of</a:t>
            </a:r>
            <a:r>
              <a:rPr lang="pt-BR" sz="3600" b="1" dirty="0"/>
              <a:t> </a:t>
            </a:r>
            <a:r>
              <a:rPr lang="pt-BR" sz="3600" b="1" dirty="0" err="1"/>
              <a:t>Three</a:t>
            </a:r>
            <a:r>
              <a:rPr lang="pt-BR" sz="3600" b="1" dirty="0"/>
              <a:t>)</a:t>
            </a:r>
          </a:p>
          <a:p>
            <a:r>
              <a:rPr lang="pt-BR" sz="3600" dirty="0"/>
              <a:t>Escolhe a mediana entre:</a:t>
            </a:r>
          </a:p>
          <a:p>
            <a:r>
              <a:rPr lang="pt-BR" sz="3600" dirty="0"/>
              <a:t>primeiro elemento, </a:t>
            </a:r>
          </a:p>
          <a:p>
            <a:r>
              <a:rPr lang="pt-BR" sz="3600" dirty="0"/>
              <a:t>elemento central, </a:t>
            </a:r>
          </a:p>
          <a:p>
            <a:r>
              <a:rPr lang="pt-BR" sz="3600" dirty="0"/>
              <a:t>último elemento. </a:t>
            </a:r>
          </a:p>
          <a:p>
            <a:r>
              <a:rPr lang="pt-BR" sz="3600" dirty="0"/>
              <a:t>Exemplo:</a:t>
            </a:r>
          </a:p>
          <a:p>
            <a:r>
              <a:rPr lang="pt-BR" dirty="0"/>
              <a:t>[5, 3, 8, 2, 7]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Primeiro = 5</a:t>
            </a:r>
            <a:br>
              <a:rPr lang="pt-BR" dirty="0"/>
            </a:br>
            <a:r>
              <a:rPr lang="pt-BR" dirty="0"/>
              <a:t>Meio     = 8</a:t>
            </a:r>
            <a:br>
              <a:rPr lang="pt-BR" dirty="0"/>
            </a:br>
            <a:r>
              <a:rPr lang="pt-BR" dirty="0"/>
              <a:t>Último   = 7</a:t>
            </a:r>
            <a:br>
              <a:rPr lang="pt-BR" dirty="0"/>
            </a:br>
            <a:br>
              <a:rPr lang="pt-BR" dirty="0"/>
            </a:br>
            <a:r>
              <a:rPr lang="pt-BR" dirty="0"/>
              <a:t>Mediana = 7</a:t>
            </a:r>
          </a:p>
          <a:p>
            <a:r>
              <a:rPr lang="pt-BR" sz="3600" b="1" dirty="0"/>
              <a:t>Vantagem:</a:t>
            </a:r>
            <a:r>
              <a:rPr lang="pt-BR" sz="3600" dirty="0"/>
              <a:t> costuma gerar partições mais equilibradas e melhorar o desempenho.</a:t>
            </a:r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29877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83526-DD41-D28C-6D7F-9D5B5294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79F03-B386-DABF-577E-789D5244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1"/>
            <a:ext cx="121920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Qual é a melhor escolha do pivô?</a:t>
            </a:r>
            <a:endParaRPr lang="pt-BR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20DD7DA-F15E-51AC-349B-B0AF779BE0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2143" y="751114"/>
                <a:ext cx="11081657" cy="603068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pt-BR" sz="3600" dirty="0"/>
                  <a:t>Para fins didáticos:</a:t>
                </a:r>
              </a:p>
              <a:p>
                <a:r>
                  <a:rPr lang="pt-BR" sz="3600" dirty="0"/>
                  <a:t>Último elemento ou primeiro elemento. </a:t>
                </a:r>
              </a:p>
              <a:p>
                <a:pPr marL="0" indent="0">
                  <a:buNone/>
                </a:pPr>
                <a:r>
                  <a:rPr lang="pt-BR" sz="3600" dirty="0"/>
                  <a:t>Para aplicações reais:</a:t>
                </a:r>
              </a:p>
              <a:p>
                <a:r>
                  <a:rPr lang="pt-BR" sz="3600" dirty="0"/>
                  <a:t>Pivô aleatório. </a:t>
                </a:r>
              </a:p>
              <a:p>
                <a:r>
                  <a:rPr lang="pt-BR" sz="3600" dirty="0"/>
                  <a:t>Mediana de três. </a:t>
                </a:r>
              </a:p>
              <a:p>
                <a:pPr marL="0" indent="0">
                  <a:buNone/>
                </a:pPr>
                <a:r>
                  <a:rPr lang="pt-BR" sz="3600" dirty="0"/>
                  <a:t>O objetivo é que o pivô fique o mais próximo possível do valor mediano do conjunto, pois isso divide o vetor em partes semelhantes e aproxima o desempenho ideal: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/>
                        <m:t>𝑂</m:t>
                      </m:r>
                      <m:d>
                        <m:dPr>
                          <m:ctrlPr>
                            <a:rPr lang="pt-BR" i="1"/>
                          </m:ctrlPr>
                        </m:dPr>
                        <m:e>
                          <m:r>
                            <a:rPr lang="pt-BR" i="1"/>
                            <m:t>𝑛</m:t>
                          </m:r>
                          <m:func>
                            <m:funcPr>
                              <m:ctrlPr>
                                <a:rPr lang="pt-BR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/>
                                <m:t>log</m:t>
                              </m:r>
                            </m:fName>
                            <m:e>
                              <m:r>
                                <a:rPr lang="pt-BR" i="1"/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t-BR" sz="3600" dirty="0"/>
              </a:p>
              <a:p>
                <a:pPr marL="0" indent="0">
                  <a:buNone/>
                </a:pPr>
                <a:r>
                  <a:rPr lang="pt-BR" sz="3600" dirty="0"/>
                  <a:t>Quando o pivô é muito ruim (sempre o menor ou o maior elemento), o Quick </a:t>
                </a:r>
                <a:r>
                  <a:rPr lang="pt-BR" sz="3600" dirty="0" err="1"/>
                  <a:t>Sort</a:t>
                </a:r>
                <a:r>
                  <a:rPr lang="pt-BR" sz="3600" dirty="0"/>
                  <a:t> pode degradar para: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/>
                        <m:t>𝑂</m:t>
                      </m:r>
                      <m:d>
                        <m:dPr>
                          <m:ctrlPr>
                            <a:rPr lang="pt-BR" i="1"/>
                          </m:ctrlPr>
                        </m:dPr>
                        <m:e>
                          <m:sSup>
                            <m:sSupPr>
                              <m:ctrlPr>
                                <a:rPr lang="pt-BR" i="1"/>
                              </m:ctrlPr>
                            </m:sSupPr>
                            <m:e>
                              <m:r>
                                <a:rPr lang="pt-BR" i="1"/>
                                <m:t>𝑛</m:t>
                              </m:r>
                            </m:e>
                            <m:sup>
                              <m:r>
                                <a:rPr lang="pt-BR"/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3600" dirty="0"/>
              </a:p>
              <a:p>
                <a:pPr marL="0" indent="0">
                  <a:buNone/>
                </a:pPr>
                <a:r>
                  <a:rPr lang="pt-BR" sz="3600" b="1" dirty="0"/>
                  <a:t>Regra prática:</a:t>
                </a:r>
                <a:r>
                  <a:rPr lang="pt-BR" sz="3600" dirty="0"/>
                  <a:t> quanto mais equilibradas forem as divisões geradas pelo pivô, mais rápido o Quick </a:t>
                </a:r>
                <a:r>
                  <a:rPr lang="pt-BR" sz="3600" dirty="0" err="1"/>
                  <a:t>Sort</a:t>
                </a:r>
                <a:r>
                  <a:rPr lang="pt-BR" sz="3600" dirty="0"/>
                  <a:t> será.</a:t>
                </a:r>
              </a:p>
              <a:p>
                <a:pPr marL="0" indent="0">
                  <a:buNone/>
                </a:pPr>
                <a:endParaRPr lang="pt-BR" sz="36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20DD7DA-F15E-51AC-349B-B0AF779BE0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2143" y="751114"/>
                <a:ext cx="11081657" cy="6030686"/>
              </a:xfrm>
              <a:blipFill>
                <a:blip r:embed="rId2"/>
                <a:stretch>
                  <a:fillRect l="-1375" t="-31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71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B4E2-86D3-353C-5E64-CF97A90C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B4025-9430-DAB8-6429-BF10E6F9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código: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37BA283-F623-9708-98A7-C4C0C6ACA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08103"/>
            <a:ext cx="9311148" cy="641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07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EC4E-E53A-BF50-542F-9FA4F4001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91D94-B863-22FB-FB65-3753D743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código: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6099724A-A06A-8DE9-520D-17A1305EB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4580"/>
            <a:ext cx="10413739" cy="614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30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D6A9-CE3A-8445-4C56-E098EEA3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6CDEB-5F12-BE44-FEC6-FE157FC9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código: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FC994873-BE20-C61B-1615-208ADEEB9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631370"/>
            <a:ext cx="10821207" cy="622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91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A72C-FA40-267A-4187-0767046B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7E7E0-6344-F603-415B-277D15B1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código: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86D6FD-619A-B3E8-6898-313919F27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r>
              <a:rPr lang="pt-BR" sz="4400" dirty="0"/>
              <a:t>Vetor inicial:</a:t>
            </a:r>
          </a:p>
          <a:p>
            <a:pPr marL="0" indent="0">
              <a:buNone/>
            </a:pPr>
            <a:r>
              <a:rPr lang="pt-BR" sz="4400" dirty="0"/>
              <a:t>[5, 3, 8, 2, 7]</a:t>
            </a:r>
          </a:p>
          <a:p>
            <a:pPr marL="0" indent="0">
              <a:buNone/>
            </a:pPr>
            <a:r>
              <a:rPr lang="pt-BR" sz="4400" dirty="0"/>
              <a:t>Pivô:</a:t>
            </a:r>
          </a:p>
          <a:p>
            <a:pPr marL="0" indent="0">
              <a:buNone/>
            </a:pPr>
            <a:r>
              <a:rPr lang="pt-BR" sz="4400" dirty="0"/>
              <a:t>7</a:t>
            </a:r>
          </a:p>
          <a:p>
            <a:pPr marL="0" indent="0">
              <a:buNone/>
            </a:pPr>
            <a:r>
              <a:rPr lang="pt-BR" sz="4400" dirty="0"/>
              <a:t>Após a partição:</a:t>
            </a:r>
          </a:p>
          <a:p>
            <a:pPr marL="0" indent="0">
              <a:buNone/>
            </a:pPr>
            <a:r>
              <a:rPr lang="pt-BR" sz="4400" dirty="0"/>
              <a:t>[5, 3, 2, 7, 8]</a:t>
            </a:r>
            <a:br>
              <a:rPr lang="pt-BR" sz="4400" dirty="0"/>
            </a:br>
            <a:r>
              <a:rPr lang="pt-BR" sz="4400" dirty="0"/>
              <a:t>                ↑</a:t>
            </a:r>
            <a:br>
              <a:rPr lang="pt-BR" sz="4400" dirty="0"/>
            </a:br>
            <a:r>
              <a:rPr lang="pt-BR" sz="4400" dirty="0"/>
              <a:t>             pivô</a:t>
            </a:r>
          </a:p>
        </p:txBody>
      </p:sp>
    </p:spTree>
    <p:extLst>
      <p:ext uri="{BB962C8B-B14F-4D97-AF65-F5344CB8AC3E}">
        <p14:creationId xmlns:p14="http://schemas.microsoft.com/office/powerpoint/2010/main" val="63616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4B4E-266E-6267-B2E2-B700CBE1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8FCBB-E290-2AD2-17AD-3271524F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Quick </a:t>
            </a:r>
            <a:r>
              <a:rPr lang="pt-BR" dirty="0" err="1"/>
              <a:t>Sort</a:t>
            </a:r>
            <a:r>
              <a:rPr lang="pt-BR" dirty="0"/>
              <a:t> código: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8C8C48-5638-1DC9-73B5-F4B49FEDA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 dirty="0"/>
              <a:t>O pivô </a:t>
            </a:r>
            <a:r>
              <a:rPr lang="pt-BR" sz="4400" b="1" dirty="0"/>
              <a:t>7</a:t>
            </a:r>
            <a:r>
              <a:rPr lang="pt-BR" sz="4400" dirty="0"/>
              <a:t> já está em sua posição definitiva. Em seguida, o algoritmo ordena recursivamente:</a:t>
            </a:r>
          </a:p>
          <a:p>
            <a:pPr marL="0" indent="0">
              <a:buNone/>
            </a:pPr>
            <a:r>
              <a:rPr lang="pt-BR" sz="4400" dirty="0"/>
              <a:t>[5, 3, 2]   e   [8]</a:t>
            </a:r>
          </a:p>
          <a:p>
            <a:pPr marL="0" indent="0">
              <a:buNone/>
            </a:pPr>
            <a:endParaRPr lang="pt-BR" sz="4400" dirty="0"/>
          </a:p>
          <a:p>
            <a:pPr marL="0" indent="0">
              <a:buNone/>
            </a:pPr>
            <a:r>
              <a:rPr lang="pt-BR" sz="4400" dirty="0"/>
              <a:t>até obter:</a:t>
            </a:r>
          </a:p>
          <a:p>
            <a:pPr marL="0" indent="0">
              <a:buNone/>
            </a:pPr>
            <a:r>
              <a:rPr lang="pt-BR" sz="4400" dirty="0"/>
              <a:t>[2, 3, 5, 7, 8]</a:t>
            </a:r>
          </a:p>
        </p:txBody>
      </p:sp>
    </p:spTree>
    <p:extLst>
      <p:ext uri="{BB962C8B-B14F-4D97-AF65-F5344CB8AC3E}">
        <p14:creationId xmlns:p14="http://schemas.microsoft.com/office/powerpoint/2010/main" val="5319213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710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Quick Sort</vt:lpstr>
      <vt:lpstr>Quick Sort</vt:lpstr>
      <vt:lpstr>Quick Sort</vt:lpstr>
      <vt:lpstr>Quick Sort</vt:lpstr>
      <vt:lpstr>Formas comuns de escolher o pivô</vt:lpstr>
      <vt:lpstr>Formas comuns de escolher o pivô</vt:lpstr>
      <vt:lpstr>Formas comuns de escolher o pivô</vt:lpstr>
      <vt:lpstr>Formas comuns de escolher o pivô</vt:lpstr>
      <vt:lpstr>Formas comuns de escolher o pivô</vt:lpstr>
      <vt:lpstr>Qual é a melhor escolha do pivô?</vt:lpstr>
      <vt:lpstr>Quick Sort código:</vt:lpstr>
      <vt:lpstr>Quick Sort código:</vt:lpstr>
      <vt:lpstr>Quick Sort código:</vt:lpstr>
      <vt:lpstr>Quick Sort código:</vt:lpstr>
      <vt:lpstr>Quick Sort código: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2</cp:revision>
  <dcterms:created xsi:type="dcterms:W3CDTF">2026-06-02T17:26:51Z</dcterms:created>
  <dcterms:modified xsi:type="dcterms:W3CDTF">2026-06-02T18:23:24Z</dcterms:modified>
</cp:coreProperties>
</file>