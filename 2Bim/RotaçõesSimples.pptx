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4" r:id="rId3"/>
    <p:sldId id="265" r:id="rId4"/>
    <p:sldId id="266" r:id="rId5"/>
    <p:sldId id="267" r:id="rId6"/>
    <p:sldId id="268" r:id="rId7"/>
    <p:sldId id="270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4F8FB-C58C-8EE9-3AD0-A3B96AB08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E4A1C4-5E4E-4065-0CF5-60D95D00D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402027-AD0E-0AF2-7944-1E382289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CE3363-8513-737D-52A5-0DFBEC2E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FBBEEB-7C5C-7F51-EE1B-10143912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67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729F3-FCAF-2F4B-08C0-77820E49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CCFCCB-7414-259B-1C98-092A56342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C15B1C-35C3-C13D-D21D-45308F7AE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0111D-D683-9E4E-DF03-E453824E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15DE89-3F06-450B-80AD-870C6476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1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F6A1D-7794-6D0D-2182-27D2D11CD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8770E4-4D33-9461-B57C-6E7FB94E2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DAAFC6-38A8-9017-D812-62D0CC53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4F2702-CC0E-37E8-D45B-60E15BA1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DF1EA7-4CDD-3B94-4066-1C31DE95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33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D28A6-2066-5038-240C-62AB3B06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0BAD20-51A6-6861-7597-786F0760F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8DF350-5188-D1B0-0626-3DED276E6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6FB154-AEDF-3E03-B370-A893F4F8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EAF3DD-E3A9-9751-DFAC-57B073CF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381823-E5D2-FDAC-73DA-A801DEE3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55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D9CD8-DB49-5AC0-20F5-B44A907E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390FDA-5175-06E0-BBF8-04CBA3D03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3E11CD-F2C0-E627-8FC8-7CE7F5346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6A5A92-3279-6790-AE98-D4AD4ADB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18CA65E-080D-C1C5-4BEC-FA72F1F58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036E539-9963-10D0-0DB2-2D42786A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72887C-7FEA-C12D-6F7E-307BE585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FE14AEE-E1A2-C811-68D5-BFD8D30A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96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82117-16C8-CE1F-D650-4805EF2B1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5D3033-22BE-443E-D247-A206F1C5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FE4DCD-E555-147E-EBA8-6A7199CC4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252DE5-D97C-C452-0C7B-59008D8B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8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83D57C-B397-7115-EDFC-56E19F4C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64F34AE-E9B1-7BFD-39A3-FBCA2672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5E49E1-FACE-1DA8-790F-30A5B729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06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A6429-4504-85A6-720B-B381A1FE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61FD81-CCA1-C163-14DF-A11DD5A7D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02C372-7177-2E0C-6D7E-985F98953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DC24DA-5D27-2CDD-9C77-93DB66F3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DA9537-E1AA-6AAE-6D8E-F65E4B40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4916C6-791F-F89F-B8D0-BDA8A4E1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717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2B71B-E553-C9B8-3A8C-3105DD2C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567DD4-03EB-DBDB-AF06-B90165318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3D312D-25A3-0DDB-B4B6-37A16FBA5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3E782F-E6FE-1AA3-599F-908C7B3A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27A9BD-8349-8936-F64B-5CF2E994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901EF3-80B3-7C12-E6CE-91543B1F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68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A6981-6129-2BB2-0C72-DE1B909A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C139E1-C6BA-D76D-5527-9F1435B19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27744B-40D5-F829-440D-E79BD893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688CAF-A87A-AB3D-6771-0C86F26A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5D8877-FC9A-FC32-D0C1-60D7E26D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087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C714DC-262F-8D1C-A530-93F99A11D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06F899-AF6B-FE1C-90C9-B025C0B7A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FFB914-3DAA-FD41-859B-80B3A314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A1AAE0-A0EB-0F6A-7BFF-502998B0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7B080B-1E19-6510-746A-10B35AEE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24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8F78F52-4662-60AB-5D23-B20851C3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DEFD5B-57C1-35F9-DCA0-1E14BDF8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FCE359-A22A-BC22-A865-A5D839F93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430BB-568A-474E-814C-1FCAD5428CBC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E44A96-34A0-7FDE-9062-8B5BFA4DF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C0CEA-AD70-211C-C628-13F30BBB5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FC724-4F2C-4877-8242-820E3CD110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782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63A4A-B0C8-F1BA-B0B2-BA75EA57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Arvores Balanceadas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E65B8-E194-EC15-CFFC-E36F6127C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Árvore degenerada</a:t>
            </a:r>
          </a:p>
          <a:p>
            <a:r>
              <a:rPr lang="pt-BR" dirty="0" err="1"/>
              <a:t>Equilibrio</a:t>
            </a:r>
            <a:endParaRPr lang="pt-BR" dirty="0"/>
          </a:p>
          <a:p>
            <a:r>
              <a:rPr lang="pt-BR" dirty="0"/>
              <a:t>Reduzem o caminho de busca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5598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29E0B-624D-8A14-FE86-12539653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Fator de Balanceamento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FF1E78-0345-B303-C45B-0937DFBA5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uma métrica usada em árvores binárias de busca (como a árvore AVL) para medir a diferença de altura entre os lados esquerdo e direito de um nó</a:t>
            </a:r>
          </a:p>
          <a:p>
            <a:r>
              <a:rPr lang="pt-BR" dirty="0"/>
              <a:t>FB = Altura da </a:t>
            </a:r>
            <a:r>
              <a:rPr lang="pt-BR" dirty="0" err="1"/>
              <a:t>SubÁrvore</a:t>
            </a:r>
            <a:r>
              <a:rPr lang="pt-BR" dirty="0"/>
              <a:t> Esquerda – Altura da </a:t>
            </a:r>
            <a:r>
              <a:rPr lang="pt-BR" dirty="0" err="1"/>
              <a:t>SubÁrvore</a:t>
            </a:r>
            <a:r>
              <a:rPr lang="pt-BR" dirty="0"/>
              <a:t> Direita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4488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32ED7-F66B-7718-C453-00B99325D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Fator de Balanceamento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713D9-231E-3297-B090-1B59625CC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FB = 0:</a:t>
            </a:r>
            <a:r>
              <a:rPr lang="pt-BR" dirty="0"/>
              <a:t> A árvore está perfeitamente balanceada naquele nó (os dois lados têm a mesma altura).</a:t>
            </a:r>
          </a:p>
          <a:p>
            <a:r>
              <a:rPr lang="pt-BR" b="1" dirty="0"/>
              <a:t>FB = 1 ou 2 (Positivo):</a:t>
            </a:r>
            <a:r>
              <a:rPr lang="pt-BR" dirty="0"/>
              <a:t> O lado esquerdo é mais alto do que o lado direito.</a:t>
            </a:r>
          </a:p>
          <a:p>
            <a:r>
              <a:rPr lang="pt-BR" b="1" dirty="0"/>
              <a:t>FB = -1 ou -2 (Negativo):</a:t>
            </a:r>
            <a:r>
              <a:rPr lang="pt-BR" dirty="0"/>
              <a:t> O lado direito é mais alto do que o lado esquerdo. </a:t>
            </a:r>
          </a:p>
        </p:txBody>
      </p:sp>
    </p:spTree>
    <p:extLst>
      <p:ext uri="{BB962C8B-B14F-4D97-AF65-F5344CB8AC3E}">
        <p14:creationId xmlns:p14="http://schemas.microsoft.com/office/powerpoint/2010/main" val="77941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02D90-4707-34E4-ED71-A19B2DEC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Fator de Balanceamento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0CAED-1BE5-5F74-B189-41A0EFB54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é necessário corrigir?</a:t>
            </a:r>
          </a:p>
          <a:p>
            <a:r>
              <a:rPr lang="pt-BR" dirty="0"/>
              <a:t>Em uma árvore </a:t>
            </a:r>
            <a:r>
              <a:rPr lang="pt-BR" b="1" dirty="0"/>
              <a:t>AVL</a:t>
            </a:r>
            <a:r>
              <a:rPr lang="pt-BR" dirty="0"/>
              <a:t>, por exemplo, a regra de ouro é que o fator de balanceamento de </a:t>
            </a:r>
            <a:r>
              <a:rPr lang="pt-BR" b="1" dirty="0"/>
              <a:t>todos os nós</a:t>
            </a:r>
            <a:r>
              <a:rPr lang="pt-BR" dirty="0"/>
              <a:t> deve ser sempre -1, 0 ou 1</a:t>
            </a:r>
          </a:p>
        </p:txBody>
      </p:sp>
    </p:spTree>
    <p:extLst>
      <p:ext uri="{BB962C8B-B14F-4D97-AF65-F5344CB8AC3E}">
        <p14:creationId xmlns:p14="http://schemas.microsoft.com/office/powerpoint/2010/main" val="66158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F4D2C-C03C-0420-0225-4FD446DD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1. Rotação Simples à Direita (LL - </a:t>
            </a:r>
            <a:r>
              <a:rPr lang="pt-BR" sz="4000" dirty="0" err="1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dirty="0" err="1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24F130-8FEA-4839-A7B1-CF5B628AB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Ocorre quando um nó é inserido na </a:t>
            </a:r>
            <a:r>
              <a:rPr lang="pt-BR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subárvore</a:t>
            </a:r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 esquerda do filho esquerdo</a:t>
            </a: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. A árvore está "inclinada" para a esquerda.</a:t>
            </a:r>
          </a:p>
          <a:p>
            <a:pPr marL="0" indent="0" algn="just">
              <a:buNone/>
            </a:pPr>
            <a:endParaRPr lang="pt-B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Cenário:</a:t>
            </a: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 5 -&gt; 2 -&gt; 1</a:t>
            </a:r>
          </a:p>
          <a:p>
            <a:pPr algn="just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Ação:</a:t>
            </a: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 O nó do meio (2) sobe para se tornar a nova raiz, e o nó desbalanceado (3) desce para a direita.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070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FD8D2-169C-1F92-0749-6D57099C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2. Rotação Simples à Esquerda (RR - </a:t>
            </a:r>
            <a:r>
              <a:rPr lang="pt-BR" sz="4000" dirty="0" err="1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dirty="0" err="1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72973D-1333-4E74-F9B4-9ABF6785C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É o caso do seu exemplo anterior. Ocorre quando um nó é inserido na </a:t>
            </a:r>
            <a:r>
              <a:rPr lang="pt-BR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subárvore</a:t>
            </a:r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 direita do filho direito</a:t>
            </a: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Cenário:</a:t>
            </a: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 5 -&gt; 9 -&gt; 8</a:t>
            </a:r>
          </a:p>
          <a:p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Ação:</a:t>
            </a: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 O nó do meio (9) sobe, e o nó desbalanceado (5) desce para a esquerda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3962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D6F66-1E77-CB4B-B564-36932E16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200" b="1" dirty="0"/>
              <a:t>Qual a principal diferença entre os cálculos de FB que levam a uma rotação à direita versus uma rotação à esquerda?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F4E005-7B4E-B8A9-371E-0D52C71EA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muda é o sinal. </a:t>
            </a:r>
            <a:r>
              <a:rPr lang="pt-BR"/>
              <a:t>FB </a:t>
            </a:r>
            <a:r>
              <a:rPr lang="pt-BR" b="1"/>
              <a:t>positivo</a:t>
            </a:r>
            <a:r>
              <a:rPr lang="pt-BR"/>
              <a:t> (2) sinaliza rotação à </a:t>
            </a:r>
            <a:r>
              <a:rPr lang="pt-BR" b="1"/>
              <a:t>direita</a:t>
            </a:r>
            <a:r>
              <a:rPr lang="pt-BR"/>
              <a:t>; FB </a:t>
            </a:r>
            <a:r>
              <a:rPr lang="pt-BR" b="1"/>
              <a:t>negativo</a:t>
            </a:r>
            <a:r>
              <a:rPr lang="pt-BR"/>
              <a:t> (-2) sinaliza rotação à </a:t>
            </a:r>
            <a:r>
              <a:rPr lang="pt-BR" b="1"/>
              <a:t>esquerda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086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E17EC-4272-400C-9F4F-91BF8ADDB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536E79-5805-DF41-5CBF-FD48952B37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8C319EB-391F-A3EC-4323-6F226648F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82"/>
            <a:ext cx="12192000" cy="700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6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5886D3-84A6-1A60-40AC-DDDBE5138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465"/>
            <a:ext cx="10515600" cy="5852497"/>
          </a:xfrm>
        </p:spPr>
        <p:txBody>
          <a:bodyPr/>
          <a:lstStyle/>
          <a:p>
            <a:r>
              <a:rPr lang="pt-BR" b="1" dirty="0"/>
              <a:t>1. Nó 8 (Folha)</a:t>
            </a:r>
          </a:p>
          <a:p>
            <a:r>
              <a:rPr lang="pt-BR" b="1" dirty="0"/>
              <a:t>Esquerda:</a:t>
            </a:r>
            <a:r>
              <a:rPr lang="pt-BR" dirty="0"/>
              <a:t> Não tem nada (altura = -1).</a:t>
            </a:r>
          </a:p>
          <a:p>
            <a:r>
              <a:rPr lang="pt-BR" b="1" dirty="0"/>
              <a:t>Direita:</a:t>
            </a:r>
            <a:r>
              <a:rPr lang="pt-BR" dirty="0"/>
              <a:t> Não tem nada (altura = -1).</a:t>
            </a:r>
          </a:p>
          <a:p>
            <a:r>
              <a:rPr lang="pt-BR" b="1" dirty="0"/>
              <a:t>Cálculo:</a:t>
            </a:r>
            <a:r>
              <a:rPr lang="pt-BR" dirty="0"/>
              <a:t> \((-1) - (-1) = 0\).</a:t>
            </a:r>
          </a:p>
          <a:p>
            <a:r>
              <a:rPr lang="pt-BR" b="1" dirty="0"/>
              <a:t>Resultado:</a:t>
            </a:r>
            <a:r>
              <a:rPr lang="pt-BR" dirty="0"/>
              <a:t> </a:t>
            </a:r>
            <a:r>
              <a:rPr lang="pt-BR" b="1" dirty="0"/>
              <a:t>FB: 0</a:t>
            </a:r>
            <a:r>
              <a:rPr lang="pt-BR" dirty="0"/>
              <a:t>. (Nós folha sempre têm FB 0).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759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C442E7-A747-2D1F-F793-AE18E2DC4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452"/>
            <a:ext cx="10515600" cy="5734511"/>
          </a:xfrm>
        </p:spPr>
        <p:txBody>
          <a:bodyPr/>
          <a:lstStyle/>
          <a:p>
            <a:r>
              <a:rPr lang="pt-BR" b="1" dirty="0"/>
              <a:t>2. Nó 9</a:t>
            </a:r>
          </a:p>
          <a:p>
            <a:r>
              <a:rPr lang="pt-BR" b="1" dirty="0"/>
              <a:t>Esquerda:</a:t>
            </a:r>
            <a:r>
              <a:rPr lang="pt-BR" dirty="0"/>
              <a:t> Não tem nada (altura = -1).</a:t>
            </a:r>
          </a:p>
          <a:p>
            <a:r>
              <a:rPr lang="pt-BR" b="1" dirty="0"/>
              <a:t>Direita:</a:t>
            </a:r>
            <a:r>
              <a:rPr lang="pt-BR" dirty="0"/>
              <a:t> Tem o nó 8. A altura da </a:t>
            </a:r>
            <a:r>
              <a:rPr lang="pt-BR" dirty="0" err="1"/>
              <a:t>subárvore</a:t>
            </a:r>
            <a:r>
              <a:rPr lang="pt-BR" dirty="0"/>
              <a:t> direita aqui é 0.</a:t>
            </a:r>
          </a:p>
          <a:p>
            <a:r>
              <a:rPr lang="pt-BR" b="1" dirty="0"/>
              <a:t>Cálculo:</a:t>
            </a:r>
            <a:r>
              <a:rPr lang="pt-BR" dirty="0"/>
              <a:t> \((-1) - (0) = -1\).</a:t>
            </a:r>
          </a:p>
          <a:p>
            <a:r>
              <a:rPr lang="pt-BR" b="1" dirty="0"/>
              <a:t>Resultado:</a:t>
            </a:r>
            <a:r>
              <a:rPr lang="pt-BR" dirty="0"/>
              <a:t> </a:t>
            </a:r>
            <a:r>
              <a:rPr lang="pt-BR" b="1" dirty="0"/>
              <a:t>FB: -1</a:t>
            </a:r>
            <a:r>
              <a:rPr lang="pt-BR" dirty="0"/>
              <a:t>. (O sinal negativo indica que a árvore está "pesando" para a </a:t>
            </a:r>
            <a:r>
              <a:rPr lang="pt-BR" b="1" dirty="0"/>
              <a:t>direita</a:t>
            </a:r>
            <a:r>
              <a:rPr lang="pt-BR" dirty="0"/>
              <a:t>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8089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922ACA-31B5-FA7F-F8F8-7A86A4533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471"/>
            <a:ext cx="10515600" cy="5911492"/>
          </a:xfrm>
        </p:spPr>
        <p:txBody>
          <a:bodyPr/>
          <a:lstStyle/>
          <a:p>
            <a:r>
              <a:rPr lang="pt-BR" b="1" dirty="0"/>
              <a:t>3. Nó 5 (Raiz)</a:t>
            </a:r>
          </a:p>
          <a:p>
            <a:r>
              <a:rPr lang="pt-BR" b="1" dirty="0"/>
              <a:t>Esquerda:</a:t>
            </a:r>
            <a:r>
              <a:rPr lang="pt-BR" dirty="0"/>
              <a:t> Não tem nada (altura = -1).</a:t>
            </a:r>
          </a:p>
          <a:p>
            <a:r>
              <a:rPr lang="pt-BR" b="1" dirty="0"/>
              <a:t>Direita:</a:t>
            </a:r>
            <a:r>
              <a:rPr lang="pt-BR" dirty="0"/>
              <a:t> Tem a </a:t>
            </a:r>
            <a:r>
              <a:rPr lang="pt-BR" dirty="0" err="1"/>
              <a:t>subárvore</a:t>
            </a:r>
            <a:r>
              <a:rPr lang="pt-BR" dirty="0"/>
              <a:t> que começa no 9. A altura dessa </a:t>
            </a:r>
            <a:r>
              <a:rPr lang="pt-BR" dirty="0" err="1"/>
              <a:t>subárvore</a:t>
            </a:r>
            <a:r>
              <a:rPr lang="pt-BR" dirty="0"/>
              <a:t> direita é 1 (pois o caminho mais longo vai até o 8).</a:t>
            </a:r>
          </a:p>
          <a:p>
            <a:r>
              <a:rPr lang="pt-BR" b="1" dirty="0"/>
              <a:t>Cálculo:</a:t>
            </a:r>
            <a:r>
              <a:rPr lang="pt-BR" dirty="0"/>
              <a:t> \((-1) - (1) = -2\).</a:t>
            </a:r>
          </a:p>
          <a:p>
            <a:r>
              <a:rPr lang="pt-BR" b="1" dirty="0"/>
              <a:t>Resultado:</a:t>
            </a:r>
            <a:r>
              <a:rPr lang="pt-BR" dirty="0"/>
              <a:t> </a:t>
            </a:r>
            <a:r>
              <a:rPr lang="pt-BR" b="1" dirty="0"/>
              <a:t>FB: -2</a:t>
            </a:r>
            <a:r>
              <a:rPr lang="pt-BR" dirty="0"/>
              <a:t>.</a:t>
            </a:r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556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910277-2403-1356-F18B-9A795C981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135"/>
            <a:ext cx="10515600" cy="5891828"/>
          </a:xfrm>
        </p:spPr>
        <p:txBody>
          <a:bodyPr/>
          <a:lstStyle/>
          <a:p>
            <a:r>
              <a:rPr lang="pt-BR" b="1" dirty="0"/>
              <a:t>Conclusão do Diagnóstico</a:t>
            </a:r>
          </a:p>
          <a:p>
            <a:r>
              <a:rPr lang="pt-BR" dirty="0"/>
              <a:t>Como o FB da raiz chegou a </a:t>
            </a:r>
            <a:r>
              <a:rPr lang="pt-BR" b="1" dirty="0"/>
              <a:t>-2</a:t>
            </a:r>
            <a:r>
              <a:rPr lang="pt-BR" dirty="0"/>
              <a:t>, a árvore está oficialmente </a:t>
            </a:r>
            <a:r>
              <a:rPr lang="pt-BR" b="1" dirty="0"/>
              <a:t>desbalanceada</a:t>
            </a:r>
            <a:r>
              <a:rPr lang="pt-BR" dirty="0"/>
              <a:t>.</a:t>
            </a:r>
          </a:p>
          <a:p>
            <a:r>
              <a:rPr lang="pt-BR" dirty="0"/>
              <a:t>O valor </a:t>
            </a:r>
            <a:r>
              <a:rPr lang="pt-BR" b="1" dirty="0"/>
              <a:t>negativo</a:t>
            </a:r>
            <a:r>
              <a:rPr lang="pt-BR" dirty="0"/>
              <a:t> confirma que o excesso de nós está do lado </a:t>
            </a:r>
            <a:r>
              <a:rPr lang="pt-BR" b="1" dirty="0"/>
              <a:t>direito</a:t>
            </a:r>
            <a:r>
              <a:rPr lang="pt-BR" dirty="0"/>
              <a:t>.</a:t>
            </a:r>
          </a:p>
          <a:p>
            <a:r>
              <a:rPr lang="pt-BR" dirty="0"/>
              <a:t>Como o filho (nó 9) tem FB </a:t>
            </a:r>
            <a:r>
              <a:rPr lang="pt-BR" b="1" dirty="0"/>
              <a:t>-1</a:t>
            </a:r>
            <a:r>
              <a:rPr lang="pt-BR" dirty="0"/>
              <a:t> (também negativo), temos um caso clássico de </a:t>
            </a:r>
            <a:r>
              <a:rPr lang="pt-BR" b="1" dirty="0"/>
              <a:t>Direita-Direita</a:t>
            </a:r>
            <a:r>
              <a:rPr lang="pt-BR" dirty="0"/>
              <a:t>, que se resolve com uma </a:t>
            </a:r>
            <a:r>
              <a:rPr lang="pt-BR" b="1" dirty="0"/>
              <a:t>Rotação Simples à Esquerda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469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1B35D84-8DA1-2456-A267-66004D6C5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5606" cy="66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97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1D10438-4936-2008-D72C-DEA05DD08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64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51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66EA158-BF1D-F536-BABD-A113A8A87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64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251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593</Words>
  <Application>Microsoft Office PowerPoint</Application>
  <PresentationFormat>Widescreen</PresentationFormat>
  <Paragraphs>45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Arvores Balanceadas</vt:lpstr>
      <vt:lpstr>Fator de Balanceamento</vt:lpstr>
      <vt:lpstr>Fator de Balanceamento</vt:lpstr>
      <vt:lpstr>Fator de Balanceamento</vt:lpstr>
      <vt:lpstr>1. Rotação Simples à Direita (LL - Left Left)</vt:lpstr>
      <vt:lpstr>2. Rotação Simples à Esquerda (RR - Right Right)</vt:lpstr>
      <vt:lpstr>Qual a principal diferença entre os cálculos de FB que levam a uma rotação à direita versus uma rotação à esquerda?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3</cp:revision>
  <dcterms:created xsi:type="dcterms:W3CDTF">2026-05-12T19:09:58Z</dcterms:created>
  <dcterms:modified xsi:type="dcterms:W3CDTF">2026-05-12T22:09:29Z</dcterms:modified>
</cp:coreProperties>
</file>