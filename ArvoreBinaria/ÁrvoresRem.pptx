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/>
              <a:t>Estrutura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Dados</a:t>
            </a:r>
            <a:r>
              <a:rPr spc="-15" dirty="0"/>
              <a:t> </a:t>
            </a:r>
            <a:r>
              <a:rPr dirty="0"/>
              <a:t>em</a:t>
            </a:r>
            <a:r>
              <a:rPr spc="-15" dirty="0"/>
              <a:t> </a:t>
            </a:r>
            <a:r>
              <a:rPr spc="-50" dirty="0"/>
              <a:t>C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/>
              <a:t>Leonardo</a:t>
            </a:r>
            <a:r>
              <a:rPr spc="-30" dirty="0"/>
              <a:t> </a:t>
            </a:r>
            <a:r>
              <a:rPr dirty="0"/>
              <a:t>de</a:t>
            </a:r>
            <a:r>
              <a:rPr spc="-95" dirty="0"/>
              <a:t> </a:t>
            </a:r>
            <a:r>
              <a:rPr dirty="0"/>
              <a:t>Abreu</a:t>
            </a:r>
            <a:r>
              <a:rPr spc="-25" dirty="0"/>
              <a:t> </a:t>
            </a:r>
            <a:r>
              <a:rPr spc="-10" dirty="0"/>
              <a:t>Schmidt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/>
              <a:t>Estrutura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Dados</a:t>
            </a:r>
            <a:r>
              <a:rPr spc="-15" dirty="0"/>
              <a:t> </a:t>
            </a:r>
            <a:r>
              <a:rPr dirty="0"/>
              <a:t>em</a:t>
            </a:r>
            <a:r>
              <a:rPr spc="-15" dirty="0"/>
              <a:t> </a:t>
            </a:r>
            <a:r>
              <a:rPr spc="-50" dirty="0"/>
              <a:t>C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/>
              <a:t>Leonardo</a:t>
            </a:r>
            <a:r>
              <a:rPr spc="-30" dirty="0"/>
              <a:t> </a:t>
            </a:r>
            <a:r>
              <a:rPr dirty="0"/>
              <a:t>de</a:t>
            </a:r>
            <a:r>
              <a:rPr spc="-95" dirty="0"/>
              <a:t> </a:t>
            </a:r>
            <a:r>
              <a:rPr dirty="0"/>
              <a:t>Abreu</a:t>
            </a:r>
            <a:r>
              <a:rPr spc="-25" dirty="0"/>
              <a:t> </a:t>
            </a:r>
            <a:r>
              <a:rPr spc="-10" dirty="0"/>
              <a:t>Schmidt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/>
              <a:t>Estrutura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Dados</a:t>
            </a:r>
            <a:r>
              <a:rPr spc="-15" dirty="0"/>
              <a:t> </a:t>
            </a:r>
            <a:r>
              <a:rPr dirty="0"/>
              <a:t>em</a:t>
            </a:r>
            <a:r>
              <a:rPr spc="-15" dirty="0"/>
              <a:t> </a:t>
            </a:r>
            <a:r>
              <a:rPr spc="-50" dirty="0"/>
              <a:t>C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/>
              <a:t>Leonardo</a:t>
            </a:r>
            <a:r>
              <a:rPr spc="-30" dirty="0"/>
              <a:t> </a:t>
            </a:r>
            <a:r>
              <a:rPr dirty="0"/>
              <a:t>de</a:t>
            </a:r>
            <a:r>
              <a:rPr spc="-95" dirty="0"/>
              <a:t> </a:t>
            </a:r>
            <a:r>
              <a:rPr dirty="0"/>
              <a:t>Abreu</a:t>
            </a:r>
            <a:r>
              <a:rPr spc="-25" dirty="0"/>
              <a:t> </a:t>
            </a:r>
            <a:r>
              <a:rPr spc="-10" dirty="0"/>
              <a:t>Schmidt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/>
              <a:t>Estrutura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Dados</a:t>
            </a:r>
            <a:r>
              <a:rPr spc="-15" dirty="0"/>
              <a:t> </a:t>
            </a:r>
            <a:r>
              <a:rPr dirty="0"/>
              <a:t>em</a:t>
            </a:r>
            <a:r>
              <a:rPr spc="-15" dirty="0"/>
              <a:t> </a:t>
            </a:r>
            <a:r>
              <a:rPr spc="-50" dirty="0"/>
              <a:t>C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/>
              <a:t>Leonardo</a:t>
            </a:r>
            <a:r>
              <a:rPr spc="-30" dirty="0"/>
              <a:t> </a:t>
            </a:r>
            <a:r>
              <a:rPr dirty="0"/>
              <a:t>de</a:t>
            </a:r>
            <a:r>
              <a:rPr spc="-95" dirty="0"/>
              <a:t> </a:t>
            </a:r>
            <a:r>
              <a:rPr dirty="0"/>
              <a:t>Abreu</a:t>
            </a:r>
            <a:r>
              <a:rPr spc="-25" dirty="0"/>
              <a:t> </a:t>
            </a:r>
            <a:r>
              <a:rPr spc="-10" dirty="0"/>
              <a:t>Schmidt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/>
              <a:t>Estrutura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Dados</a:t>
            </a:r>
            <a:r>
              <a:rPr spc="-15" dirty="0"/>
              <a:t> </a:t>
            </a:r>
            <a:r>
              <a:rPr dirty="0"/>
              <a:t>em</a:t>
            </a:r>
            <a:r>
              <a:rPr spc="-15" dirty="0"/>
              <a:t> </a:t>
            </a:r>
            <a:r>
              <a:rPr spc="-50" dirty="0"/>
              <a:t>C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/>
              <a:t>Leonardo</a:t>
            </a:r>
            <a:r>
              <a:rPr spc="-30" dirty="0"/>
              <a:t> </a:t>
            </a:r>
            <a:r>
              <a:rPr dirty="0"/>
              <a:t>de</a:t>
            </a:r>
            <a:r>
              <a:rPr spc="-95" dirty="0"/>
              <a:t> </a:t>
            </a:r>
            <a:r>
              <a:rPr dirty="0"/>
              <a:t>Abreu</a:t>
            </a:r>
            <a:r>
              <a:rPr spc="-25" dirty="0"/>
              <a:t> </a:t>
            </a:r>
            <a:r>
              <a:rPr spc="-10" dirty="0"/>
              <a:t>Schmidt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4911" y="78631"/>
            <a:ext cx="3895090" cy="62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5099" y="1407601"/>
            <a:ext cx="4222750" cy="1663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42826" y="4868430"/>
            <a:ext cx="2030729" cy="22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/>
              <a:t>Estrutura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Dados</a:t>
            </a:r>
            <a:r>
              <a:rPr spc="-15" dirty="0"/>
              <a:t> </a:t>
            </a:r>
            <a:r>
              <a:rPr dirty="0"/>
              <a:t>em</a:t>
            </a:r>
            <a:r>
              <a:rPr spc="-15" dirty="0"/>
              <a:t> </a:t>
            </a:r>
            <a:r>
              <a:rPr spc="-50" dirty="0"/>
              <a:t>C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171783" y="4868380"/>
            <a:ext cx="2228215" cy="22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/>
              <a:t>Leonardo</a:t>
            </a:r>
            <a:r>
              <a:rPr spc="-30" dirty="0"/>
              <a:t> </a:t>
            </a:r>
            <a:r>
              <a:rPr dirty="0"/>
              <a:t>de</a:t>
            </a:r>
            <a:r>
              <a:rPr spc="-95" dirty="0"/>
              <a:t> </a:t>
            </a:r>
            <a:r>
              <a:rPr dirty="0"/>
              <a:t>Abreu</a:t>
            </a:r>
            <a:r>
              <a:rPr spc="-25" dirty="0"/>
              <a:t> </a:t>
            </a:r>
            <a:r>
              <a:rPr spc="-10" dirty="0"/>
              <a:t>Schmidt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10" Type="http://schemas.openxmlformats.org/officeDocument/2006/relationships/image" Target="../media/image6.png"/><Relationship Id="rId4" Type="http://schemas.openxmlformats.org/officeDocument/2006/relationships/image" Target="../media/image12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image" Target="../media/image6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10" Type="http://schemas.openxmlformats.org/officeDocument/2006/relationships/image" Target="../media/image6.png"/><Relationship Id="rId4" Type="http://schemas.openxmlformats.org/officeDocument/2006/relationships/image" Target="../media/image17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10" Type="http://schemas.openxmlformats.org/officeDocument/2006/relationships/image" Target="../media/image20.png"/><Relationship Id="rId4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10" Type="http://schemas.openxmlformats.org/officeDocument/2006/relationships/image" Target="../media/image6.png"/><Relationship Id="rId4" Type="http://schemas.openxmlformats.org/officeDocument/2006/relationships/image" Target="../media/image12.png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22.png"/><Relationship Id="rId10" Type="http://schemas.openxmlformats.org/officeDocument/2006/relationships/image" Target="../media/image6.png"/><Relationship Id="rId4" Type="http://schemas.openxmlformats.org/officeDocument/2006/relationships/image" Target="../media/image21.pn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4.png"/><Relationship Id="rId7" Type="http://schemas.openxmlformats.org/officeDocument/2006/relationships/image" Target="../media/image1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2.png"/><Relationship Id="rId10" Type="http://schemas.openxmlformats.org/officeDocument/2006/relationships/image" Target="../media/image7.png"/><Relationship Id="rId4" Type="http://schemas.openxmlformats.org/officeDocument/2006/relationships/image" Target="../media/image25.png"/><Relationship Id="rId9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4.png"/><Relationship Id="rId7" Type="http://schemas.openxmlformats.org/officeDocument/2006/relationships/image" Target="../media/image1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2.png"/><Relationship Id="rId10" Type="http://schemas.openxmlformats.org/officeDocument/2006/relationships/image" Target="../media/image7.png"/><Relationship Id="rId4" Type="http://schemas.openxmlformats.org/officeDocument/2006/relationships/image" Target="../media/image25.png"/><Relationship Id="rId9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4.png"/><Relationship Id="rId7" Type="http://schemas.openxmlformats.org/officeDocument/2006/relationships/image" Target="../media/image1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4.png"/><Relationship Id="rId7" Type="http://schemas.openxmlformats.org/officeDocument/2006/relationships/image" Target="../media/image1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2.png"/><Relationship Id="rId10" Type="http://schemas.openxmlformats.org/officeDocument/2006/relationships/image" Target="../media/image7.png"/><Relationship Id="rId4" Type="http://schemas.openxmlformats.org/officeDocument/2006/relationships/image" Target="../media/image25.png"/><Relationship Id="rId9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4.png"/><Relationship Id="rId7" Type="http://schemas.openxmlformats.org/officeDocument/2006/relationships/image" Target="../media/image1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4911" y="78631"/>
            <a:ext cx="389509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Árvores</a:t>
            </a:r>
            <a:r>
              <a:rPr spc="-2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0" dirty="0"/>
              <a:t>Remoção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3486" y="679533"/>
            <a:ext cx="8320405" cy="2924134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800" dirty="0">
                <a:latin typeface="Arial MT"/>
                <a:cs typeface="Arial MT"/>
              </a:rPr>
              <a:t>Existem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lang="pt-BR" sz="1800" spc="-10" dirty="0">
                <a:latin typeface="Arial MT"/>
                <a:cs typeface="Arial MT"/>
              </a:rPr>
              <a:t>situações de </a:t>
            </a:r>
            <a:r>
              <a:rPr sz="1800" dirty="0" err="1">
                <a:latin typeface="Arial MT"/>
                <a:cs typeface="Arial MT"/>
              </a:rPr>
              <a:t>remoção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lang="pt-BR" sz="1800" spc="-10" dirty="0">
                <a:latin typeface="Arial MT"/>
                <a:cs typeface="Arial MT"/>
              </a:rPr>
              <a:t>elementos d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uma</a:t>
            </a:r>
            <a:r>
              <a:rPr sz="1800" spc="-10" dirty="0">
                <a:latin typeface="Arial MT"/>
                <a:cs typeface="Arial MT"/>
              </a:rPr>
              <a:t> árvore:</a:t>
            </a:r>
            <a:endParaRPr sz="1800" dirty="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1065"/>
              </a:spcBef>
              <a:buChar char="●"/>
              <a:tabLst>
                <a:tab pos="469265" algn="l"/>
              </a:tabLst>
            </a:pPr>
            <a:r>
              <a:rPr lang="pt-BR" sz="1800" dirty="0">
                <a:latin typeface="Arial MT"/>
                <a:cs typeface="Arial MT"/>
              </a:rPr>
              <a:t>Situação 0</a:t>
            </a:r>
            <a:r>
              <a:rPr sz="1800" dirty="0">
                <a:latin typeface="Arial MT"/>
                <a:cs typeface="Arial MT"/>
              </a:rPr>
              <a:t>1: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lang="pt-BR" sz="1800" spc="-15" dirty="0">
                <a:latin typeface="Arial MT"/>
                <a:cs typeface="Arial MT"/>
              </a:rPr>
              <a:t>Nó folha, sem filhos, o pai aponta para </a:t>
            </a:r>
            <a:r>
              <a:rPr lang="pt-BR" sz="1800" spc="-15" dirty="0" err="1">
                <a:latin typeface="Arial MT"/>
                <a:cs typeface="Arial MT"/>
              </a:rPr>
              <a:t>null</a:t>
            </a:r>
            <a:endParaRPr lang="pt-BR" sz="1800" spc="-15" dirty="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1065"/>
              </a:spcBef>
              <a:buChar char="●"/>
              <a:tabLst>
                <a:tab pos="469265" algn="l"/>
              </a:tabLst>
            </a:pPr>
            <a:r>
              <a:rPr lang="pt-BR" spc="-15" dirty="0">
                <a:latin typeface="Arial MT"/>
                <a:cs typeface="Arial MT"/>
              </a:rPr>
              <a:t>Situação 0</a:t>
            </a:r>
            <a:r>
              <a:rPr sz="1800" dirty="0">
                <a:latin typeface="Arial MT"/>
                <a:cs typeface="Arial MT"/>
              </a:rPr>
              <a:t>2: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lang="pt-BR" sz="1800" spc="-10" dirty="0">
                <a:latin typeface="Arial MT"/>
                <a:cs typeface="Arial MT"/>
              </a:rPr>
              <a:t>Nó com apenas </a:t>
            </a:r>
            <a:r>
              <a:rPr sz="1800" dirty="0">
                <a:latin typeface="Arial MT"/>
                <a:cs typeface="Arial MT"/>
              </a:rPr>
              <a:t>um</a:t>
            </a:r>
            <a:r>
              <a:rPr sz="1800" spc="-10" dirty="0">
                <a:latin typeface="Arial MT"/>
                <a:cs typeface="Arial MT"/>
              </a:rPr>
              <a:t> Filho</a:t>
            </a:r>
            <a:r>
              <a:rPr lang="pt-BR" sz="1800" spc="-10" dirty="0">
                <a:latin typeface="Arial MT"/>
                <a:cs typeface="Arial MT"/>
              </a:rPr>
              <a:t>, o pai aponta para este filho.</a:t>
            </a:r>
            <a:endParaRPr sz="1800" dirty="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1065"/>
              </a:spcBef>
              <a:buChar char="●"/>
              <a:tabLst>
                <a:tab pos="469265" algn="l"/>
              </a:tabLst>
            </a:pPr>
            <a:r>
              <a:rPr lang="pt-BR" sz="1800" dirty="0">
                <a:latin typeface="Arial MT"/>
                <a:cs typeface="Arial MT"/>
              </a:rPr>
              <a:t>Situação 0</a:t>
            </a:r>
            <a:r>
              <a:rPr sz="1800" dirty="0">
                <a:latin typeface="Arial MT"/>
                <a:cs typeface="Arial MT"/>
              </a:rPr>
              <a:t>3: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lang="pt-BR" sz="1800" spc="-10" dirty="0">
                <a:latin typeface="Arial MT"/>
                <a:cs typeface="Arial MT"/>
              </a:rPr>
              <a:t>N</a:t>
            </a:r>
            <a:r>
              <a:rPr sz="1800" dirty="0">
                <a:latin typeface="Arial MT"/>
                <a:cs typeface="Arial MT"/>
              </a:rPr>
              <a:t>ó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lang="pt-BR" sz="1800" spc="-15" dirty="0">
                <a:latin typeface="Arial MT"/>
                <a:cs typeface="Arial MT"/>
              </a:rPr>
              <a:t>com </a:t>
            </a:r>
            <a:r>
              <a:rPr sz="1800" dirty="0">
                <a:latin typeface="Arial MT"/>
                <a:cs typeface="Arial MT"/>
              </a:rPr>
              <a:t>2</a:t>
            </a:r>
            <a:r>
              <a:rPr sz="1800" spc="-10" dirty="0">
                <a:latin typeface="Arial MT"/>
                <a:cs typeface="Arial MT"/>
              </a:rPr>
              <a:t> filhos</a:t>
            </a:r>
            <a:endParaRPr sz="1800" dirty="0">
              <a:latin typeface="Arial MT"/>
              <a:cs typeface="Arial MT"/>
            </a:endParaRPr>
          </a:p>
          <a:p>
            <a:pPr marL="927100" marR="5080" lvl="1" indent="-367030">
              <a:lnSpc>
                <a:spcPct val="149300"/>
              </a:lnSpc>
              <a:buChar char="○"/>
              <a:tabLst>
                <a:tab pos="927100" algn="l"/>
              </a:tabLst>
            </a:pPr>
            <a:r>
              <a:rPr sz="1800" dirty="0">
                <a:latin typeface="Arial MT"/>
                <a:cs typeface="Arial MT"/>
              </a:rPr>
              <a:t>Nesse</a:t>
            </a:r>
            <a:r>
              <a:rPr sz="1800" spc="4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caso</a:t>
            </a:r>
            <a:r>
              <a:rPr sz="1800" spc="4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</a:t>
            </a:r>
            <a:r>
              <a:rPr sz="1800" spc="4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nó</a:t>
            </a:r>
            <a:r>
              <a:rPr sz="1800" spc="4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é</a:t>
            </a:r>
            <a:r>
              <a:rPr sz="1800" spc="4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substituído</a:t>
            </a:r>
            <a:r>
              <a:rPr sz="1800" spc="4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pelo</a:t>
            </a:r>
            <a:r>
              <a:rPr sz="1800" spc="4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nodo</a:t>
            </a:r>
            <a:r>
              <a:rPr sz="1800" spc="4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mais</a:t>
            </a:r>
            <a:r>
              <a:rPr sz="1800" spc="4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à</a:t>
            </a:r>
            <a:r>
              <a:rPr sz="1800" spc="4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direita</a:t>
            </a:r>
            <a:r>
              <a:rPr sz="1800" spc="4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</a:t>
            </a:r>
            <a:r>
              <a:rPr sz="1800" spc="4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seu</a:t>
            </a:r>
            <a:r>
              <a:rPr sz="1800" spc="45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nó </a:t>
            </a:r>
            <a:r>
              <a:rPr sz="1800" spc="-10" dirty="0">
                <a:latin typeface="Arial MT"/>
                <a:cs typeface="Arial MT"/>
              </a:rPr>
              <a:t>esquerdo.</a:t>
            </a:r>
            <a:endParaRPr sz="1800" dirty="0">
              <a:latin typeface="Arial MT"/>
              <a:cs typeface="Arial MT"/>
            </a:endParaRPr>
          </a:p>
          <a:p>
            <a:pPr marL="926465" lvl="1" indent="-366395">
              <a:lnSpc>
                <a:spcPct val="100000"/>
              </a:lnSpc>
              <a:spcBef>
                <a:spcPts val="1065"/>
              </a:spcBef>
              <a:buChar char="○"/>
              <a:tabLst>
                <a:tab pos="926465" algn="l"/>
              </a:tabLst>
            </a:pPr>
            <a:r>
              <a:rPr sz="1800" dirty="0">
                <a:latin typeface="Arial MT"/>
                <a:cs typeface="Arial MT"/>
              </a:rPr>
              <a:t>Ou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pelo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nó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à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esquerda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seu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nó</a:t>
            </a:r>
            <a:r>
              <a:rPr sz="1800" spc="-10" dirty="0">
                <a:latin typeface="Arial MT"/>
                <a:cs typeface="Arial MT"/>
              </a:rPr>
              <a:t> direito.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Estrutura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Dados</a:t>
            </a:r>
            <a:r>
              <a:rPr spc="-15" dirty="0"/>
              <a:t> </a:t>
            </a:r>
            <a:r>
              <a:rPr dirty="0"/>
              <a:t>em</a:t>
            </a:r>
            <a:r>
              <a:rPr spc="-15" dirty="0"/>
              <a:t> </a:t>
            </a:r>
            <a:r>
              <a:rPr spc="-50" dirty="0"/>
              <a:t>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Árvores</a:t>
            </a:r>
            <a:r>
              <a:rPr spc="-2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0" dirty="0"/>
              <a:t>Remoção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3475" y="2453093"/>
            <a:ext cx="2232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Remoção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Nodo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4</a:t>
            </a:r>
            <a:endParaRPr sz="1800" dirty="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762337" y="1399174"/>
            <a:ext cx="443865" cy="441959"/>
            <a:chOff x="6762337" y="1399174"/>
            <a:chExt cx="443865" cy="441959"/>
          </a:xfrm>
        </p:grpSpPr>
        <p:sp>
          <p:nvSpPr>
            <p:cNvPr id="10" name="object 10"/>
            <p:cNvSpPr/>
            <p:nvPr/>
          </p:nvSpPr>
          <p:spPr>
            <a:xfrm>
              <a:off x="6767100" y="14039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67100" y="14039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921886" y="149535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503524" y="1758385"/>
            <a:ext cx="2844165" cy="937260"/>
            <a:chOff x="5503524" y="1758385"/>
            <a:chExt cx="2844165" cy="937260"/>
          </a:xfrm>
        </p:grpSpPr>
        <p:sp>
          <p:nvSpPr>
            <p:cNvPr id="14" name="object 14"/>
            <p:cNvSpPr/>
            <p:nvPr/>
          </p:nvSpPr>
          <p:spPr>
            <a:xfrm>
              <a:off x="7137370" y="1772672"/>
              <a:ext cx="1143635" cy="462280"/>
            </a:xfrm>
            <a:custGeom>
              <a:avLst/>
              <a:gdLst/>
              <a:ahLst/>
              <a:cxnLst/>
              <a:rect l="l" t="t" r="r" b="b"/>
              <a:pathLst>
                <a:path w="1143634" h="462280">
                  <a:moveTo>
                    <a:pt x="0" y="0"/>
                  </a:moveTo>
                  <a:lnTo>
                    <a:pt x="1143400" y="461917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4651" y="2178471"/>
              <a:ext cx="122474" cy="9144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814785" y="1772672"/>
              <a:ext cx="1016000" cy="446405"/>
            </a:xfrm>
            <a:custGeom>
              <a:avLst/>
              <a:gdLst/>
              <a:ahLst/>
              <a:cxnLst/>
              <a:rect l="l" t="t" r="r" b="b"/>
              <a:pathLst>
                <a:path w="1016000" h="446405">
                  <a:moveTo>
                    <a:pt x="1015842" y="0"/>
                  </a:moveTo>
                  <a:lnTo>
                    <a:pt x="0" y="446308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9086" y="2162347"/>
              <a:ext cx="122333" cy="9350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508287" y="225851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08287" y="225851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663073" y="234992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996739" y="2266475"/>
            <a:ext cx="3605529" cy="835025"/>
            <a:chOff x="4996739" y="2266475"/>
            <a:chExt cx="3605529" cy="835025"/>
          </a:xfrm>
        </p:grpSpPr>
        <p:sp>
          <p:nvSpPr>
            <p:cNvPr id="22" name="object 22"/>
            <p:cNvSpPr/>
            <p:nvPr/>
          </p:nvSpPr>
          <p:spPr>
            <a:xfrm>
              <a:off x="5054462" y="2627247"/>
              <a:ext cx="517525" cy="424180"/>
            </a:xfrm>
            <a:custGeom>
              <a:avLst/>
              <a:gdLst/>
              <a:ahLst/>
              <a:cxnLst/>
              <a:rect l="l" t="t" r="r" b="b"/>
              <a:pathLst>
                <a:path w="517525" h="424180">
                  <a:moveTo>
                    <a:pt x="517352" y="0"/>
                  </a:moveTo>
                  <a:lnTo>
                    <a:pt x="0" y="4239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96739" y="2991668"/>
              <a:ext cx="117233" cy="10939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878559" y="2627247"/>
              <a:ext cx="629920" cy="419734"/>
            </a:xfrm>
            <a:custGeom>
              <a:avLst/>
              <a:gdLst/>
              <a:ahLst/>
              <a:cxnLst/>
              <a:rect l="l" t="t" r="r" b="b"/>
              <a:pathLst>
                <a:path w="629920" h="419735">
                  <a:moveTo>
                    <a:pt x="0" y="0"/>
                  </a:moveTo>
                  <a:lnTo>
                    <a:pt x="629775" y="41914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49490" y="2987546"/>
              <a:ext cx="119879" cy="10424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163199" y="22712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163199" y="22712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317986" y="236265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756999" y="2625685"/>
            <a:ext cx="4211320" cy="924560"/>
            <a:chOff x="4756999" y="2625685"/>
            <a:chExt cx="4211320" cy="924560"/>
          </a:xfrm>
        </p:grpSpPr>
        <p:sp>
          <p:nvSpPr>
            <p:cNvPr id="30" name="object 30"/>
            <p:cNvSpPr/>
            <p:nvPr/>
          </p:nvSpPr>
          <p:spPr>
            <a:xfrm>
              <a:off x="7900624" y="2639972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90" h="398144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50729" y="2978135"/>
              <a:ext cx="109407" cy="11722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533470" y="2639972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4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55178" y="2982587"/>
              <a:ext cx="112638" cy="11475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761762" y="31133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761762" y="31133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916548" y="320477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449291" y="3095887"/>
            <a:ext cx="2362835" cy="843915"/>
            <a:chOff x="4449291" y="3095887"/>
            <a:chExt cx="2362835" cy="843915"/>
          </a:xfrm>
        </p:grpSpPr>
        <p:sp>
          <p:nvSpPr>
            <p:cNvPr id="38" name="object 38"/>
            <p:cNvSpPr/>
            <p:nvPr/>
          </p:nvSpPr>
          <p:spPr>
            <a:xfrm>
              <a:off x="4499186" y="3482097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5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49291" y="3820260"/>
              <a:ext cx="109407" cy="117222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132033" y="3482097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5" h="402589">
                  <a:moveTo>
                    <a:pt x="0" y="0"/>
                  </a:moveTo>
                  <a:lnTo>
                    <a:pt x="381424" y="402332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53741" y="3824712"/>
              <a:ext cx="112639" cy="114756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373049" y="3100650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373049" y="3100650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527836" y="3192063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060579" y="3455097"/>
            <a:ext cx="1117600" cy="471805"/>
            <a:chOff x="6060579" y="3455097"/>
            <a:chExt cx="1117600" cy="471805"/>
          </a:xfrm>
        </p:grpSpPr>
        <p:sp>
          <p:nvSpPr>
            <p:cNvPr id="46" name="object 46"/>
            <p:cNvSpPr/>
            <p:nvPr/>
          </p:nvSpPr>
          <p:spPr>
            <a:xfrm>
              <a:off x="6110474" y="3469385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5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60579" y="3807548"/>
              <a:ext cx="109407" cy="117222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743321" y="3469385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4" h="402589">
                  <a:moveTo>
                    <a:pt x="0" y="0"/>
                  </a:moveTo>
                  <a:lnTo>
                    <a:pt x="381424" y="402332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65029" y="3812000"/>
              <a:ext cx="112638" cy="114756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4263457" y="3985438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Estrutura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Dados</a:t>
            </a:r>
            <a:r>
              <a:rPr spc="-15" dirty="0"/>
              <a:t> </a:t>
            </a:r>
            <a:r>
              <a:rPr dirty="0"/>
              <a:t>em</a:t>
            </a:r>
            <a:r>
              <a:rPr spc="-15" dirty="0"/>
              <a:t> </a:t>
            </a:r>
            <a:r>
              <a:rPr spc="-50" dirty="0"/>
              <a:t>C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5290357" y="3985438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883457" y="3985438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998907" y="3985438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592007" y="314331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691783" y="3192062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Árvores</a:t>
            </a:r>
            <a:r>
              <a:rPr spc="-2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0" dirty="0"/>
              <a:t>Remoção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3475" y="1838730"/>
            <a:ext cx="2232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Remoção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Nodo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3475" y="2522626"/>
            <a:ext cx="3580765" cy="84455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800" b="1" dirty="0">
                <a:latin typeface="Arial"/>
                <a:cs typeface="Arial"/>
              </a:rPr>
              <a:t>Caso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1</a:t>
            </a:r>
            <a:r>
              <a:rPr sz="1800" spc="-25" dirty="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1065"/>
              </a:spcBef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Nodo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4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não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nenhum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filho.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762337" y="1399174"/>
            <a:ext cx="443865" cy="441959"/>
            <a:chOff x="6762337" y="1399174"/>
            <a:chExt cx="443865" cy="441959"/>
          </a:xfrm>
        </p:grpSpPr>
        <p:sp>
          <p:nvSpPr>
            <p:cNvPr id="11" name="object 11"/>
            <p:cNvSpPr/>
            <p:nvPr/>
          </p:nvSpPr>
          <p:spPr>
            <a:xfrm>
              <a:off x="6767100" y="14039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67100" y="14039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921886" y="149535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503524" y="1758385"/>
            <a:ext cx="2844165" cy="937260"/>
            <a:chOff x="5503524" y="1758385"/>
            <a:chExt cx="2844165" cy="937260"/>
          </a:xfrm>
        </p:grpSpPr>
        <p:sp>
          <p:nvSpPr>
            <p:cNvPr id="15" name="object 15"/>
            <p:cNvSpPr/>
            <p:nvPr/>
          </p:nvSpPr>
          <p:spPr>
            <a:xfrm>
              <a:off x="7137370" y="1772672"/>
              <a:ext cx="1143635" cy="462280"/>
            </a:xfrm>
            <a:custGeom>
              <a:avLst/>
              <a:gdLst/>
              <a:ahLst/>
              <a:cxnLst/>
              <a:rect l="l" t="t" r="r" b="b"/>
              <a:pathLst>
                <a:path w="1143634" h="462280">
                  <a:moveTo>
                    <a:pt x="0" y="0"/>
                  </a:moveTo>
                  <a:lnTo>
                    <a:pt x="1143400" y="461917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4651" y="2178471"/>
              <a:ext cx="122474" cy="9144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814785" y="1772672"/>
              <a:ext cx="1016000" cy="446405"/>
            </a:xfrm>
            <a:custGeom>
              <a:avLst/>
              <a:gdLst/>
              <a:ahLst/>
              <a:cxnLst/>
              <a:rect l="l" t="t" r="r" b="b"/>
              <a:pathLst>
                <a:path w="1016000" h="446405">
                  <a:moveTo>
                    <a:pt x="1015842" y="0"/>
                  </a:moveTo>
                  <a:lnTo>
                    <a:pt x="0" y="446308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9086" y="2162347"/>
              <a:ext cx="122333" cy="9350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508287" y="225851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08287" y="225851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663073" y="234992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996739" y="2266475"/>
            <a:ext cx="3605529" cy="835025"/>
            <a:chOff x="4996739" y="2266475"/>
            <a:chExt cx="3605529" cy="835025"/>
          </a:xfrm>
        </p:grpSpPr>
        <p:sp>
          <p:nvSpPr>
            <p:cNvPr id="23" name="object 23"/>
            <p:cNvSpPr/>
            <p:nvPr/>
          </p:nvSpPr>
          <p:spPr>
            <a:xfrm>
              <a:off x="5054462" y="2627247"/>
              <a:ext cx="517525" cy="424180"/>
            </a:xfrm>
            <a:custGeom>
              <a:avLst/>
              <a:gdLst/>
              <a:ahLst/>
              <a:cxnLst/>
              <a:rect l="l" t="t" r="r" b="b"/>
              <a:pathLst>
                <a:path w="517525" h="424180">
                  <a:moveTo>
                    <a:pt x="517352" y="0"/>
                  </a:moveTo>
                  <a:lnTo>
                    <a:pt x="0" y="4239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96739" y="2991668"/>
              <a:ext cx="117233" cy="10939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78559" y="2627247"/>
              <a:ext cx="629920" cy="419734"/>
            </a:xfrm>
            <a:custGeom>
              <a:avLst/>
              <a:gdLst/>
              <a:ahLst/>
              <a:cxnLst/>
              <a:rect l="l" t="t" r="r" b="b"/>
              <a:pathLst>
                <a:path w="629920" h="419735">
                  <a:moveTo>
                    <a:pt x="0" y="0"/>
                  </a:moveTo>
                  <a:lnTo>
                    <a:pt x="629775" y="41914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49490" y="2987546"/>
              <a:ext cx="119879" cy="10424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163199" y="22712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163199" y="22712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317986" y="236265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756999" y="2625685"/>
            <a:ext cx="4211320" cy="924560"/>
            <a:chOff x="4756999" y="2625685"/>
            <a:chExt cx="4211320" cy="924560"/>
          </a:xfrm>
        </p:grpSpPr>
        <p:sp>
          <p:nvSpPr>
            <p:cNvPr id="31" name="object 31"/>
            <p:cNvSpPr/>
            <p:nvPr/>
          </p:nvSpPr>
          <p:spPr>
            <a:xfrm>
              <a:off x="7900624" y="2639972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90" h="398144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50729" y="2978135"/>
              <a:ext cx="109407" cy="11722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8533470" y="2639972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4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55178" y="2982587"/>
              <a:ext cx="112638" cy="11475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761762" y="31133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761762" y="31133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916548" y="320477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449291" y="3095887"/>
            <a:ext cx="2362835" cy="843915"/>
            <a:chOff x="4449291" y="3095887"/>
            <a:chExt cx="2362835" cy="843915"/>
          </a:xfrm>
        </p:grpSpPr>
        <p:sp>
          <p:nvSpPr>
            <p:cNvPr id="39" name="object 39"/>
            <p:cNvSpPr/>
            <p:nvPr/>
          </p:nvSpPr>
          <p:spPr>
            <a:xfrm>
              <a:off x="4499186" y="3482097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5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49291" y="3820260"/>
              <a:ext cx="109407" cy="11722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132033" y="3482097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5" h="402589">
                  <a:moveTo>
                    <a:pt x="0" y="0"/>
                  </a:moveTo>
                  <a:lnTo>
                    <a:pt x="381424" y="402332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53741" y="3824712"/>
              <a:ext cx="112639" cy="11475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373049" y="3100650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373049" y="3100650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6527836" y="3192063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060579" y="3455097"/>
            <a:ext cx="1117600" cy="471805"/>
            <a:chOff x="6060579" y="3455097"/>
            <a:chExt cx="1117600" cy="471805"/>
          </a:xfrm>
        </p:grpSpPr>
        <p:sp>
          <p:nvSpPr>
            <p:cNvPr id="47" name="object 47"/>
            <p:cNvSpPr/>
            <p:nvPr/>
          </p:nvSpPr>
          <p:spPr>
            <a:xfrm>
              <a:off x="6110474" y="3469385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5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60579" y="3807548"/>
              <a:ext cx="109407" cy="117222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743321" y="3469385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4" h="402589">
                  <a:moveTo>
                    <a:pt x="0" y="0"/>
                  </a:moveTo>
                  <a:lnTo>
                    <a:pt x="381424" y="402332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65029" y="3812000"/>
              <a:ext cx="112638" cy="114756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4263457" y="3985438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xfrm>
            <a:off x="5842826" y="4868430"/>
            <a:ext cx="2030729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err="1"/>
              <a:t>Estrutra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Dados</a:t>
            </a:r>
            <a:r>
              <a:rPr spc="-15" dirty="0"/>
              <a:t> </a:t>
            </a:r>
            <a:r>
              <a:rPr dirty="0"/>
              <a:t>em</a:t>
            </a:r>
            <a:r>
              <a:rPr spc="-15" dirty="0"/>
              <a:t> </a:t>
            </a:r>
            <a:r>
              <a:rPr spc="-50" dirty="0"/>
              <a:t>C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5290357" y="3985438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880854" y="3985438"/>
            <a:ext cx="4089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0000"/>
                </a:solidFill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996304" y="3985438"/>
            <a:ext cx="4089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0000"/>
                </a:solidFill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592007" y="314331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691783" y="3192062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Árvores</a:t>
            </a:r>
            <a:r>
              <a:rPr spc="-2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0" dirty="0"/>
              <a:t>Remoção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3475" y="1429156"/>
            <a:ext cx="2232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Remoção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Nodo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3475" y="2248305"/>
            <a:ext cx="838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Caso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1</a:t>
            </a:r>
            <a:r>
              <a:rPr sz="1800" spc="-25" dirty="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4000" y="2522626"/>
            <a:ext cx="3558540" cy="1254125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165"/>
              </a:spcBef>
              <a:buClr>
                <a:srgbClr val="000000"/>
              </a:buClr>
              <a:buFont typeface="Arial MT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Nodo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4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não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nenhum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filho.</a:t>
            </a:r>
            <a:endParaRPr sz="1800">
              <a:latin typeface="Arial MT"/>
              <a:cs typeface="Arial MT"/>
            </a:endParaRPr>
          </a:p>
          <a:p>
            <a:pPr marL="379095" marR="5080" indent="-367030">
              <a:lnSpc>
                <a:spcPct val="149300"/>
              </a:lnSpc>
              <a:buChar char="●"/>
              <a:tabLst>
                <a:tab pos="379095" algn="l"/>
                <a:tab pos="1667510" algn="l"/>
                <a:tab pos="1927860" algn="l"/>
                <a:tab pos="2352675" algn="l"/>
                <a:tab pos="2739390" algn="l"/>
                <a:tab pos="3240405" algn="l"/>
              </a:tabLst>
            </a:pPr>
            <a:r>
              <a:rPr sz="1800" spc="-10" dirty="0">
                <a:latin typeface="Arial MT"/>
                <a:cs typeface="Arial MT"/>
              </a:rPr>
              <a:t>Apontamos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50" dirty="0">
                <a:latin typeface="Arial MT"/>
                <a:cs typeface="Arial MT"/>
              </a:rPr>
              <a:t>o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b="1" spc="-25" dirty="0">
                <a:solidFill>
                  <a:srgbClr val="00FF00"/>
                </a:solidFill>
                <a:latin typeface="Arial"/>
                <a:cs typeface="Arial"/>
              </a:rPr>
              <a:t>dir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	</a:t>
            </a:r>
            <a:r>
              <a:rPr sz="1800" spc="-25" dirty="0">
                <a:latin typeface="Arial MT"/>
                <a:cs typeface="Arial MT"/>
              </a:rPr>
              <a:t>de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seu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pai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Nodo</a:t>
            </a:r>
            <a:r>
              <a:rPr sz="1800" b="1" spc="-35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2</a:t>
            </a:r>
            <a:r>
              <a:rPr sz="1800" dirty="0">
                <a:latin typeface="Arial MT"/>
                <a:cs typeface="Arial MT"/>
              </a:rPr>
              <a:t>)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NULL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762337" y="1399174"/>
            <a:ext cx="443865" cy="441959"/>
            <a:chOff x="6762337" y="1399174"/>
            <a:chExt cx="443865" cy="441959"/>
          </a:xfrm>
        </p:grpSpPr>
        <p:sp>
          <p:nvSpPr>
            <p:cNvPr id="12" name="object 12"/>
            <p:cNvSpPr/>
            <p:nvPr/>
          </p:nvSpPr>
          <p:spPr>
            <a:xfrm>
              <a:off x="6767100" y="14039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67100" y="14039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921886" y="149535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503524" y="1758385"/>
            <a:ext cx="2844165" cy="937260"/>
            <a:chOff x="5503524" y="1758385"/>
            <a:chExt cx="2844165" cy="937260"/>
          </a:xfrm>
        </p:grpSpPr>
        <p:sp>
          <p:nvSpPr>
            <p:cNvPr id="16" name="object 16"/>
            <p:cNvSpPr/>
            <p:nvPr/>
          </p:nvSpPr>
          <p:spPr>
            <a:xfrm>
              <a:off x="7137370" y="1772672"/>
              <a:ext cx="1143635" cy="462280"/>
            </a:xfrm>
            <a:custGeom>
              <a:avLst/>
              <a:gdLst/>
              <a:ahLst/>
              <a:cxnLst/>
              <a:rect l="l" t="t" r="r" b="b"/>
              <a:pathLst>
                <a:path w="1143634" h="462280">
                  <a:moveTo>
                    <a:pt x="0" y="0"/>
                  </a:moveTo>
                  <a:lnTo>
                    <a:pt x="1143400" y="461917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4651" y="2178471"/>
              <a:ext cx="122474" cy="9144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814785" y="1772672"/>
              <a:ext cx="1016000" cy="446405"/>
            </a:xfrm>
            <a:custGeom>
              <a:avLst/>
              <a:gdLst/>
              <a:ahLst/>
              <a:cxnLst/>
              <a:rect l="l" t="t" r="r" b="b"/>
              <a:pathLst>
                <a:path w="1016000" h="446405">
                  <a:moveTo>
                    <a:pt x="1015842" y="0"/>
                  </a:moveTo>
                  <a:lnTo>
                    <a:pt x="0" y="446308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9086" y="2162347"/>
              <a:ext cx="122333" cy="9350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508287" y="225851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08287" y="225851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663073" y="234992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996739" y="2266475"/>
            <a:ext cx="3605529" cy="835025"/>
            <a:chOff x="4996739" y="2266475"/>
            <a:chExt cx="3605529" cy="835025"/>
          </a:xfrm>
        </p:grpSpPr>
        <p:sp>
          <p:nvSpPr>
            <p:cNvPr id="24" name="object 24"/>
            <p:cNvSpPr/>
            <p:nvPr/>
          </p:nvSpPr>
          <p:spPr>
            <a:xfrm>
              <a:off x="5054462" y="2627247"/>
              <a:ext cx="517525" cy="424180"/>
            </a:xfrm>
            <a:custGeom>
              <a:avLst/>
              <a:gdLst/>
              <a:ahLst/>
              <a:cxnLst/>
              <a:rect l="l" t="t" r="r" b="b"/>
              <a:pathLst>
                <a:path w="517525" h="424180">
                  <a:moveTo>
                    <a:pt x="517352" y="0"/>
                  </a:moveTo>
                  <a:lnTo>
                    <a:pt x="0" y="4239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96739" y="2991668"/>
              <a:ext cx="117233" cy="10939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878559" y="2627247"/>
              <a:ext cx="629920" cy="419734"/>
            </a:xfrm>
            <a:custGeom>
              <a:avLst/>
              <a:gdLst/>
              <a:ahLst/>
              <a:cxnLst/>
              <a:rect l="l" t="t" r="r" b="b"/>
              <a:pathLst>
                <a:path w="629920" h="419735">
                  <a:moveTo>
                    <a:pt x="0" y="0"/>
                  </a:moveTo>
                  <a:lnTo>
                    <a:pt x="629775" y="419141"/>
                  </a:lnTo>
                </a:path>
              </a:pathLst>
            </a:custGeom>
            <a:ln w="2857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49490" y="2987546"/>
              <a:ext cx="119879" cy="10424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163199" y="22712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63199" y="22712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317986" y="236265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756999" y="2625685"/>
            <a:ext cx="4211320" cy="924560"/>
            <a:chOff x="4756999" y="2625685"/>
            <a:chExt cx="4211320" cy="924560"/>
          </a:xfrm>
        </p:grpSpPr>
        <p:sp>
          <p:nvSpPr>
            <p:cNvPr id="32" name="object 32"/>
            <p:cNvSpPr/>
            <p:nvPr/>
          </p:nvSpPr>
          <p:spPr>
            <a:xfrm>
              <a:off x="7900624" y="2639972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90" h="398144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50729" y="2978135"/>
              <a:ext cx="109407" cy="11722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8533470" y="2639972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4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55178" y="2982587"/>
              <a:ext cx="112638" cy="11475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761762" y="31133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761762" y="31133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916548" y="320477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449291" y="3095887"/>
            <a:ext cx="2362835" cy="843915"/>
            <a:chOff x="4449291" y="3095887"/>
            <a:chExt cx="2362835" cy="843915"/>
          </a:xfrm>
        </p:grpSpPr>
        <p:sp>
          <p:nvSpPr>
            <p:cNvPr id="40" name="object 40"/>
            <p:cNvSpPr/>
            <p:nvPr/>
          </p:nvSpPr>
          <p:spPr>
            <a:xfrm>
              <a:off x="4499186" y="3482097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5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49291" y="3820260"/>
              <a:ext cx="109407" cy="11722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132033" y="3482097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5" h="402589">
                  <a:moveTo>
                    <a:pt x="0" y="0"/>
                  </a:moveTo>
                  <a:lnTo>
                    <a:pt x="381424" y="402332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53741" y="3824712"/>
              <a:ext cx="112639" cy="11475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373049" y="3100650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73049" y="3100650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527836" y="3192063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060579" y="3455097"/>
            <a:ext cx="1117600" cy="471805"/>
            <a:chOff x="6060579" y="3455097"/>
            <a:chExt cx="1117600" cy="471805"/>
          </a:xfrm>
        </p:grpSpPr>
        <p:sp>
          <p:nvSpPr>
            <p:cNvPr id="48" name="object 48"/>
            <p:cNvSpPr/>
            <p:nvPr/>
          </p:nvSpPr>
          <p:spPr>
            <a:xfrm>
              <a:off x="6110474" y="3469385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5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60579" y="3807548"/>
              <a:ext cx="109407" cy="117222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743321" y="3469385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4" h="402589">
                  <a:moveTo>
                    <a:pt x="0" y="0"/>
                  </a:moveTo>
                  <a:lnTo>
                    <a:pt x="381424" y="402332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65029" y="3812000"/>
              <a:ext cx="112638" cy="114756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4263457" y="3985438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Estrutura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Dados</a:t>
            </a:r>
            <a:r>
              <a:rPr spc="-15" dirty="0"/>
              <a:t> </a:t>
            </a:r>
            <a:r>
              <a:rPr dirty="0"/>
              <a:t>em</a:t>
            </a:r>
            <a:r>
              <a:rPr spc="-15" dirty="0"/>
              <a:t> </a:t>
            </a:r>
            <a:r>
              <a:rPr spc="-50" dirty="0"/>
              <a:t>C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5290357" y="3985438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880854" y="3985438"/>
            <a:ext cx="4089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0000"/>
                </a:solidFill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996304" y="3985438"/>
            <a:ext cx="4089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0000"/>
                </a:solidFill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592007" y="314331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691783" y="3192062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Árvores</a:t>
            </a:r>
            <a:r>
              <a:rPr spc="-2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0" dirty="0"/>
              <a:t>Remoção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3475" y="1429156"/>
            <a:ext cx="2232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Remoção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Nodo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3475" y="2248305"/>
            <a:ext cx="838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Caso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1</a:t>
            </a:r>
            <a:r>
              <a:rPr sz="1800" spc="-25" dirty="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4000" y="2522626"/>
            <a:ext cx="3558540" cy="1254125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165"/>
              </a:spcBef>
              <a:buChar char="●"/>
              <a:tabLst>
                <a:tab pos="379095" algn="l"/>
              </a:tabLst>
            </a:pPr>
            <a:r>
              <a:rPr sz="1800" dirty="0">
                <a:latin typeface="Arial MT"/>
                <a:cs typeface="Arial MT"/>
              </a:rPr>
              <a:t>Nodo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4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não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tem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nenhum</a:t>
            </a:r>
            <a:r>
              <a:rPr sz="1800" spc="-10" dirty="0">
                <a:latin typeface="Arial MT"/>
                <a:cs typeface="Arial MT"/>
              </a:rPr>
              <a:t> filho.</a:t>
            </a:r>
            <a:endParaRPr sz="1800">
              <a:latin typeface="Arial MT"/>
              <a:cs typeface="Arial MT"/>
            </a:endParaRPr>
          </a:p>
          <a:p>
            <a:pPr marL="379095" marR="5080" indent="-367030">
              <a:lnSpc>
                <a:spcPct val="149300"/>
              </a:lnSpc>
              <a:buChar char="●"/>
              <a:tabLst>
                <a:tab pos="379095" algn="l"/>
                <a:tab pos="1667510" algn="l"/>
                <a:tab pos="1927860" algn="l"/>
                <a:tab pos="2352675" algn="l"/>
                <a:tab pos="2739390" algn="l"/>
                <a:tab pos="3240405" algn="l"/>
              </a:tabLst>
            </a:pPr>
            <a:r>
              <a:rPr sz="1800" spc="-10" dirty="0">
                <a:latin typeface="Arial MT"/>
                <a:cs typeface="Arial MT"/>
              </a:rPr>
              <a:t>Apontamos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50" dirty="0">
                <a:latin typeface="Arial MT"/>
                <a:cs typeface="Arial MT"/>
              </a:rPr>
              <a:t>o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b="1" spc="-25" dirty="0">
                <a:solidFill>
                  <a:srgbClr val="00FF00"/>
                </a:solidFill>
                <a:latin typeface="Arial"/>
                <a:cs typeface="Arial"/>
              </a:rPr>
              <a:t>dir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	</a:t>
            </a:r>
            <a:r>
              <a:rPr sz="1800" spc="-25" dirty="0">
                <a:latin typeface="Arial MT"/>
                <a:cs typeface="Arial MT"/>
              </a:rPr>
              <a:t>de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seu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pai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dirty="0">
                <a:solidFill>
                  <a:srgbClr val="00FF00"/>
                </a:solidFill>
                <a:latin typeface="Arial MT"/>
                <a:cs typeface="Arial MT"/>
              </a:rPr>
              <a:t>Nodo</a:t>
            </a:r>
            <a:r>
              <a:rPr sz="1800" spc="-20" dirty="0">
                <a:solidFill>
                  <a:srgbClr val="00FF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FF00"/>
                </a:solidFill>
                <a:latin typeface="Arial MT"/>
                <a:cs typeface="Arial MT"/>
              </a:rPr>
              <a:t>2</a:t>
            </a:r>
            <a:r>
              <a:rPr sz="1800" dirty="0">
                <a:latin typeface="Arial MT"/>
                <a:cs typeface="Arial MT"/>
              </a:rPr>
              <a:t>)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-20" dirty="0">
                <a:latin typeface="Arial MT"/>
                <a:cs typeface="Arial MT"/>
              </a:rPr>
              <a:t> NULL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762337" y="1399174"/>
            <a:ext cx="443865" cy="441959"/>
            <a:chOff x="6762337" y="1399174"/>
            <a:chExt cx="443865" cy="441959"/>
          </a:xfrm>
        </p:grpSpPr>
        <p:sp>
          <p:nvSpPr>
            <p:cNvPr id="12" name="object 12"/>
            <p:cNvSpPr/>
            <p:nvPr/>
          </p:nvSpPr>
          <p:spPr>
            <a:xfrm>
              <a:off x="6767100" y="14039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67100" y="14039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921886" y="149535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503524" y="1758385"/>
            <a:ext cx="2844165" cy="937260"/>
            <a:chOff x="5503524" y="1758385"/>
            <a:chExt cx="2844165" cy="937260"/>
          </a:xfrm>
        </p:grpSpPr>
        <p:sp>
          <p:nvSpPr>
            <p:cNvPr id="16" name="object 16"/>
            <p:cNvSpPr/>
            <p:nvPr/>
          </p:nvSpPr>
          <p:spPr>
            <a:xfrm>
              <a:off x="7137370" y="1772672"/>
              <a:ext cx="1143635" cy="462280"/>
            </a:xfrm>
            <a:custGeom>
              <a:avLst/>
              <a:gdLst/>
              <a:ahLst/>
              <a:cxnLst/>
              <a:rect l="l" t="t" r="r" b="b"/>
              <a:pathLst>
                <a:path w="1143634" h="462280">
                  <a:moveTo>
                    <a:pt x="0" y="0"/>
                  </a:moveTo>
                  <a:lnTo>
                    <a:pt x="1143400" y="461917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4651" y="2178471"/>
              <a:ext cx="122474" cy="9144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814785" y="1772672"/>
              <a:ext cx="1016000" cy="446405"/>
            </a:xfrm>
            <a:custGeom>
              <a:avLst/>
              <a:gdLst/>
              <a:ahLst/>
              <a:cxnLst/>
              <a:rect l="l" t="t" r="r" b="b"/>
              <a:pathLst>
                <a:path w="1016000" h="446405">
                  <a:moveTo>
                    <a:pt x="1015842" y="0"/>
                  </a:moveTo>
                  <a:lnTo>
                    <a:pt x="0" y="446308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9086" y="2162347"/>
              <a:ext cx="122333" cy="9350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508287" y="225851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08287" y="225851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663073" y="234992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996739" y="2266475"/>
            <a:ext cx="3605529" cy="835025"/>
            <a:chOff x="4996739" y="2266475"/>
            <a:chExt cx="3605529" cy="835025"/>
          </a:xfrm>
        </p:grpSpPr>
        <p:sp>
          <p:nvSpPr>
            <p:cNvPr id="24" name="object 24"/>
            <p:cNvSpPr/>
            <p:nvPr/>
          </p:nvSpPr>
          <p:spPr>
            <a:xfrm>
              <a:off x="5054462" y="2627247"/>
              <a:ext cx="517525" cy="424180"/>
            </a:xfrm>
            <a:custGeom>
              <a:avLst/>
              <a:gdLst/>
              <a:ahLst/>
              <a:cxnLst/>
              <a:rect l="l" t="t" r="r" b="b"/>
              <a:pathLst>
                <a:path w="517525" h="424180">
                  <a:moveTo>
                    <a:pt x="517352" y="0"/>
                  </a:moveTo>
                  <a:lnTo>
                    <a:pt x="0" y="4239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96739" y="2991668"/>
              <a:ext cx="117233" cy="10939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878559" y="2627247"/>
              <a:ext cx="629920" cy="419734"/>
            </a:xfrm>
            <a:custGeom>
              <a:avLst/>
              <a:gdLst/>
              <a:ahLst/>
              <a:cxnLst/>
              <a:rect l="l" t="t" r="r" b="b"/>
              <a:pathLst>
                <a:path w="629920" h="419735">
                  <a:moveTo>
                    <a:pt x="0" y="0"/>
                  </a:moveTo>
                  <a:lnTo>
                    <a:pt x="629775" y="419141"/>
                  </a:lnTo>
                </a:path>
              </a:pathLst>
            </a:custGeom>
            <a:ln w="2857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49490" y="2987546"/>
              <a:ext cx="119879" cy="10424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163199" y="22712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63199" y="22712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317986" y="236265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756999" y="2625685"/>
            <a:ext cx="4211320" cy="924560"/>
            <a:chOff x="4756999" y="2625685"/>
            <a:chExt cx="4211320" cy="924560"/>
          </a:xfrm>
        </p:grpSpPr>
        <p:sp>
          <p:nvSpPr>
            <p:cNvPr id="32" name="object 32"/>
            <p:cNvSpPr/>
            <p:nvPr/>
          </p:nvSpPr>
          <p:spPr>
            <a:xfrm>
              <a:off x="7900624" y="2639972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90" h="398144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50729" y="2978135"/>
              <a:ext cx="109407" cy="11722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8533470" y="2639972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4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55178" y="2982587"/>
              <a:ext cx="112638" cy="11475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761762" y="31133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761762" y="31133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916548" y="320477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449291" y="3467810"/>
            <a:ext cx="1117600" cy="471805"/>
            <a:chOff x="4449291" y="3467810"/>
            <a:chExt cx="1117600" cy="471805"/>
          </a:xfrm>
        </p:grpSpPr>
        <p:sp>
          <p:nvSpPr>
            <p:cNvPr id="40" name="object 40"/>
            <p:cNvSpPr/>
            <p:nvPr/>
          </p:nvSpPr>
          <p:spPr>
            <a:xfrm>
              <a:off x="4499186" y="3482097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5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49291" y="3820260"/>
              <a:ext cx="109407" cy="11722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132033" y="3482097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5" h="402589">
                  <a:moveTo>
                    <a:pt x="0" y="0"/>
                  </a:moveTo>
                  <a:lnTo>
                    <a:pt x="381424" y="402332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53741" y="3824712"/>
              <a:ext cx="112639" cy="114756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4263457" y="3985438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Estrutura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Dados</a:t>
            </a:r>
            <a:r>
              <a:rPr spc="-15" dirty="0"/>
              <a:t> </a:t>
            </a:r>
            <a:r>
              <a:rPr dirty="0"/>
              <a:t>em</a:t>
            </a:r>
            <a:r>
              <a:rPr spc="-15" dirty="0"/>
              <a:t> </a:t>
            </a:r>
            <a:r>
              <a:rPr spc="-50" dirty="0"/>
              <a:t>C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5290357" y="3985438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330154" y="3119338"/>
            <a:ext cx="4089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00FF00"/>
                </a:solidFill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592007" y="314331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691783" y="3192062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Árvores</a:t>
            </a:r>
            <a:r>
              <a:rPr spc="-2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0" dirty="0"/>
              <a:t>Remoção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3475" y="2453093"/>
            <a:ext cx="2232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Remoção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Nodo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716237" y="543999"/>
            <a:ext cx="443865" cy="441959"/>
            <a:chOff x="6716237" y="543999"/>
            <a:chExt cx="443865" cy="441959"/>
          </a:xfrm>
        </p:grpSpPr>
        <p:sp>
          <p:nvSpPr>
            <p:cNvPr id="10" name="object 10"/>
            <p:cNvSpPr/>
            <p:nvPr/>
          </p:nvSpPr>
          <p:spPr>
            <a:xfrm>
              <a:off x="6720999" y="5487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4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2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20999" y="5487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4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2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875785" y="64017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457425" y="903210"/>
            <a:ext cx="2844165" cy="937260"/>
            <a:chOff x="5457425" y="903210"/>
            <a:chExt cx="2844165" cy="937260"/>
          </a:xfrm>
        </p:grpSpPr>
        <p:sp>
          <p:nvSpPr>
            <p:cNvPr id="14" name="object 14"/>
            <p:cNvSpPr/>
            <p:nvPr/>
          </p:nvSpPr>
          <p:spPr>
            <a:xfrm>
              <a:off x="7091271" y="917497"/>
              <a:ext cx="1143635" cy="462280"/>
            </a:xfrm>
            <a:custGeom>
              <a:avLst/>
              <a:gdLst/>
              <a:ahLst/>
              <a:cxnLst/>
              <a:rect l="l" t="t" r="r" b="b"/>
              <a:pathLst>
                <a:path w="1143634" h="462280">
                  <a:moveTo>
                    <a:pt x="0" y="0"/>
                  </a:moveTo>
                  <a:lnTo>
                    <a:pt x="1143400" y="461918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78551" y="1323295"/>
              <a:ext cx="122474" cy="9144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768686" y="917497"/>
              <a:ext cx="1016000" cy="446405"/>
            </a:xfrm>
            <a:custGeom>
              <a:avLst/>
              <a:gdLst/>
              <a:ahLst/>
              <a:cxnLst/>
              <a:rect l="l" t="t" r="r" b="b"/>
              <a:pathLst>
                <a:path w="1016000" h="446405">
                  <a:moveTo>
                    <a:pt x="1015842" y="0"/>
                  </a:moveTo>
                  <a:lnTo>
                    <a:pt x="0" y="446309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2986" y="1307172"/>
              <a:ext cx="122333" cy="9350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462187" y="14033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462187" y="14033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616973" y="149475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950640" y="1411299"/>
            <a:ext cx="3605529" cy="835025"/>
            <a:chOff x="4950640" y="1411299"/>
            <a:chExt cx="3605529" cy="835025"/>
          </a:xfrm>
        </p:grpSpPr>
        <p:sp>
          <p:nvSpPr>
            <p:cNvPr id="22" name="object 22"/>
            <p:cNvSpPr/>
            <p:nvPr/>
          </p:nvSpPr>
          <p:spPr>
            <a:xfrm>
              <a:off x="5008363" y="1772072"/>
              <a:ext cx="517525" cy="424180"/>
            </a:xfrm>
            <a:custGeom>
              <a:avLst/>
              <a:gdLst/>
              <a:ahLst/>
              <a:cxnLst/>
              <a:rect l="l" t="t" r="r" b="b"/>
              <a:pathLst>
                <a:path w="517525" h="424180">
                  <a:moveTo>
                    <a:pt x="517352" y="0"/>
                  </a:moveTo>
                  <a:lnTo>
                    <a:pt x="0" y="4239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0640" y="2136492"/>
              <a:ext cx="117233" cy="10939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832459" y="1772072"/>
              <a:ext cx="629920" cy="419734"/>
            </a:xfrm>
            <a:custGeom>
              <a:avLst/>
              <a:gdLst/>
              <a:ahLst/>
              <a:cxnLst/>
              <a:rect l="l" t="t" r="r" b="b"/>
              <a:pathLst>
                <a:path w="629920" h="419735">
                  <a:moveTo>
                    <a:pt x="0" y="0"/>
                  </a:moveTo>
                  <a:lnTo>
                    <a:pt x="629775" y="41914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3391" y="2132371"/>
              <a:ext cx="119879" cy="10424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117100" y="14160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117100" y="14160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271885" y="150747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710900" y="1770510"/>
            <a:ext cx="4211320" cy="924560"/>
            <a:chOff x="4710900" y="1770510"/>
            <a:chExt cx="4211320" cy="924560"/>
          </a:xfrm>
        </p:grpSpPr>
        <p:sp>
          <p:nvSpPr>
            <p:cNvPr id="30" name="object 30"/>
            <p:cNvSpPr/>
            <p:nvPr/>
          </p:nvSpPr>
          <p:spPr>
            <a:xfrm>
              <a:off x="7854525" y="1784797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90" h="398144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04630" y="2122960"/>
              <a:ext cx="109407" cy="11722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487371" y="1784797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4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09078" y="2127412"/>
              <a:ext cx="112638" cy="11475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715662" y="225818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715662" y="225818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870448" y="234960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403191" y="2240712"/>
            <a:ext cx="2362835" cy="843915"/>
            <a:chOff x="4403191" y="2240712"/>
            <a:chExt cx="2362835" cy="843915"/>
          </a:xfrm>
        </p:grpSpPr>
        <p:sp>
          <p:nvSpPr>
            <p:cNvPr id="38" name="object 38"/>
            <p:cNvSpPr/>
            <p:nvPr/>
          </p:nvSpPr>
          <p:spPr>
            <a:xfrm>
              <a:off x="4453086" y="2626922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4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03191" y="2965085"/>
              <a:ext cx="109407" cy="117222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085933" y="2626922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5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07641" y="2969537"/>
              <a:ext cx="112639" cy="114756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326949" y="2245474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326949" y="2245474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481736" y="2336887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303999" y="2599922"/>
            <a:ext cx="1828164" cy="924560"/>
            <a:chOff x="5303999" y="2599922"/>
            <a:chExt cx="1828164" cy="924560"/>
          </a:xfrm>
        </p:grpSpPr>
        <p:sp>
          <p:nvSpPr>
            <p:cNvPr id="46" name="object 46"/>
            <p:cNvSpPr/>
            <p:nvPr/>
          </p:nvSpPr>
          <p:spPr>
            <a:xfrm>
              <a:off x="6064374" y="2614210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4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14479" y="2952372"/>
              <a:ext cx="109407" cy="117222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697220" y="2614210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4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18928" y="2956824"/>
              <a:ext cx="112638" cy="11475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5308762" y="3087599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308762" y="3087599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217357" y="31302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837357" y="31302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952807" y="31302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545907" y="2288138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645683" y="2336887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463548" y="3179013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4996291" y="3442047"/>
            <a:ext cx="1117600" cy="471805"/>
            <a:chOff x="4996291" y="3442047"/>
            <a:chExt cx="1117600" cy="471805"/>
          </a:xfrm>
        </p:grpSpPr>
        <p:sp>
          <p:nvSpPr>
            <p:cNvPr id="59" name="object 59"/>
            <p:cNvSpPr/>
            <p:nvPr/>
          </p:nvSpPr>
          <p:spPr>
            <a:xfrm>
              <a:off x="5046186" y="3456335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5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96291" y="3794498"/>
              <a:ext cx="109407" cy="117222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5679033" y="3456335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5" h="402589">
                  <a:moveTo>
                    <a:pt x="0" y="0"/>
                  </a:moveTo>
                  <a:lnTo>
                    <a:pt x="381424" y="402332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00741" y="3798950"/>
              <a:ext cx="112639" cy="114756"/>
            </a:xfrm>
            <a:prstGeom prst="rect">
              <a:avLst/>
            </a:prstGeom>
          </p:spPr>
        </p:pic>
      </p:grpSp>
      <p:sp>
        <p:nvSpPr>
          <p:cNvPr id="63" name="object 63"/>
          <p:cNvSpPr txBox="1"/>
          <p:nvPr/>
        </p:nvSpPr>
        <p:spPr>
          <a:xfrm>
            <a:off x="4810457" y="3959675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5" name="object 6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Estrutura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Dados</a:t>
            </a:r>
            <a:r>
              <a:rPr spc="-15" dirty="0"/>
              <a:t> </a:t>
            </a:r>
            <a:r>
              <a:rPr dirty="0"/>
              <a:t>em</a:t>
            </a:r>
            <a:r>
              <a:rPr spc="-15" dirty="0"/>
              <a:t> </a:t>
            </a:r>
            <a:r>
              <a:rPr spc="-50" dirty="0"/>
              <a:t>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Árvores</a:t>
            </a:r>
            <a:r>
              <a:rPr spc="-2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0" dirty="0"/>
              <a:t>Remoção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3475" y="1838730"/>
            <a:ext cx="2232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Remoção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Nodo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3475" y="2522626"/>
            <a:ext cx="3237230" cy="84455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800" b="1" dirty="0">
                <a:latin typeface="Arial"/>
                <a:cs typeface="Arial"/>
              </a:rPr>
              <a:t>Caso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2: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1065"/>
              </a:spcBef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Nodo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tem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único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filho.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716237" y="543999"/>
            <a:ext cx="443865" cy="441959"/>
            <a:chOff x="6716237" y="543999"/>
            <a:chExt cx="443865" cy="441959"/>
          </a:xfrm>
        </p:grpSpPr>
        <p:sp>
          <p:nvSpPr>
            <p:cNvPr id="11" name="object 11"/>
            <p:cNvSpPr/>
            <p:nvPr/>
          </p:nvSpPr>
          <p:spPr>
            <a:xfrm>
              <a:off x="6720999" y="5487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4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2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20999" y="5487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4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2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875785" y="64017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457425" y="903210"/>
            <a:ext cx="2844165" cy="937260"/>
            <a:chOff x="5457425" y="903210"/>
            <a:chExt cx="2844165" cy="937260"/>
          </a:xfrm>
        </p:grpSpPr>
        <p:sp>
          <p:nvSpPr>
            <p:cNvPr id="15" name="object 15"/>
            <p:cNvSpPr/>
            <p:nvPr/>
          </p:nvSpPr>
          <p:spPr>
            <a:xfrm>
              <a:off x="7091271" y="917497"/>
              <a:ext cx="1143635" cy="462280"/>
            </a:xfrm>
            <a:custGeom>
              <a:avLst/>
              <a:gdLst/>
              <a:ahLst/>
              <a:cxnLst/>
              <a:rect l="l" t="t" r="r" b="b"/>
              <a:pathLst>
                <a:path w="1143634" h="462280">
                  <a:moveTo>
                    <a:pt x="0" y="0"/>
                  </a:moveTo>
                  <a:lnTo>
                    <a:pt x="1143400" y="461918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78551" y="1323295"/>
              <a:ext cx="122474" cy="9144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768686" y="917497"/>
              <a:ext cx="1016000" cy="446405"/>
            </a:xfrm>
            <a:custGeom>
              <a:avLst/>
              <a:gdLst/>
              <a:ahLst/>
              <a:cxnLst/>
              <a:rect l="l" t="t" r="r" b="b"/>
              <a:pathLst>
                <a:path w="1016000" h="446405">
                  <a:moveTo>
                    <a:pt x="1015842" y="0"/>
                  </a:moveTo>
                  <a:lnTo>
                    <a:pt x="0" y="446309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2986" y="1307172"/>
              <a:ext cx="122333" cy="9350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462187" y="14033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462187" y="14033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616973" y="149475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950640" y="1411299"/>
            <a:ext cx="3605529" cy="835025"/>
            <a:chOff x="4950640" y="1411299"/>
            <a:chExt cx="3605529" cy="835025"/>
          </a:xfrm>
        </p:grpSpPr>
        <p:sp>
          <p:nvSpPr>
            <p:cNvPr id="23" name="object 23"/>
            <p:cNvSpPr/>
            <p:nvPr/>
          </p:nvSpPr>
          <p:spPr>
            <a:xfrm>
              <a:off x="5008363" y="1772072"/>
              <a:ext cx="517525" cy="424180"/>
            </a:xfrm>
            <a:custGeom>
              <a:avLst/>
              <a:gdLst/>
              <a:ahLst/>
              <a:cxnLst/>
              <a:rect l="l" t="t" r="r" b="b"/>
              <a:pathLst>
                <a:path w="517525" h="424180">
                  <a:moveTo>
                    <a:pt x="517352" y="0"/>
                  </a:moveTo>
                  <a:lnTo>
                    <a:pt x="0" y="4239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0640" y="2136492"/>
              <a:ext cx="117233" cy="10939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32459" y="1772072"/>
              <a:ext cx="629920" cy="419734"/>
            </a:xfrm>
            <a:custGeom>
              <a:avLst/>
              <a:gdLst/>
              <a:ahLst/>
              <a:cxnLst/>
              <a:rect l="l" t="t" r="r" b="b"/>
              <a:pathLst>
                <a:path w="629920" h="419735">
                  <a:moveTo>
                    <a:pt x="0" y="0"/>
                  </a:moveTo>
                  <a:lnTo>
                    <a:pt x="629775" y="41914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3391" y="2132371"/>
              <a:ext cx="119879" cy="10424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117100" y="14160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117100" y="14160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271885" y="150747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710900" y="1770510"/>
            <a:ext cx="4211320" cy="924560"/>
            <a:chOff x="4710900" y="1770510"/>
            <a:chExt cx="4211320" cy="924560"/>
          </a:xfrm>
        </p:grpSpPr>
        <p:sp>
          <p:nvSpPr>
            <p:cNvPr id="31" name="object 31"/>
            <p:cNvSpPr/>
            <p:nvPr/>
          </p:nvSpPr>
          <p:spPr>
            <a:xfrm>
              <a:off x="7854525" y="1784797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90" h="398144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04630" y="2122960"/>
              <a:ext cx="109407" cy="11722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8487371" y="1784797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4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09078" y="2127412"/>
              <a:ext cx="112638" cy="11475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715662" y="225818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715662" y="225818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870448" y="234960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403191" y="2240712"/>
            <a:ext cx="2362835" cy="843915"/>
            <a:chOff x="4403191" y="2240712"/>
            <a:chExt cx="2362835" cy="843915"/>
          </a:xfrm>
        </p:grpSpPr>
        <p:sp>
          <p:nvSpPr>
            <p:cNvPr id="39" name="object 39"/>
            <p:cNvSpPr/>
            <p:nvPr/>
          </p:nvSpPr>
          <p:spPr>
            <a:xfrm>
              <a:off x="4453086" y="2626922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4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03191" y="2965085"/>
              <a:ext cx="109407" cy="11722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085933" y="2626922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5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07641" y="2969537"/>
              <a:ext cx="112639" cy="11475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326949" y="2245474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326949" y="2245474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6481736" y="2336887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303999" y="2599922"/>
            <a:ext cx="1828164" cy="924560"/>
            <a:chOff x="5303999" y="2599922"/>
            <a:chExt cx="1828164" cy="924560"/>
          </a:xfrm>
        </p:grpSpPr>
        <p:sp>
          <p:nvSpPr>
            <p:cNvPr id="47" name="object 47"/>
            <p:cNvSpPr/>
            <p:nvPr/>
          </p:nvSpPr>
          <p:spPr>
            <a:xfrm>
              <a:off x="6064374" y="2614210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4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14479" y="2952372"/>
              <a:ext cx="109407" cy="117222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697220" y="2614210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4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18928" y="2956824"/>
              <a:ext cx="112638" cy="114756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5308762" y="3087599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308762" y="3087599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4217357" y="31302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837357" y="31302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952807" y="31302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545907" y="2288138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645683" y="2336887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463548" y="3179013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4996291" y="3442047"/>
            <a:ext cx="1117600" cy="471805"/>
            <a:chOff x="4996291" y="3442047"/>
            <a:chExt cx="1117600" cy="471805"/>
          </a:xfrm>
        </p:grpSpPr>
        <p:sp>
          <p:nvSpPr>
            <p:cNvPr id="60" name="object 60"/>
            <p:cNvSpPr/>
            <p:nvPr/>
          </p:nvSpPr>
          <p:spPr>
            <a:xfrm>
              <a:off x="5046186" y="3456335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5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96291" y="3794498"/>
              <a:ext cx="109407" cy="117222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5679033" y="3456335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5" h="402589">
                  <a:moveTo>
                    <a:pt x="0" y="0"/>
                  </a:moveTo>
                  <a:lnTo>
                    <a:pt x="381424" y="402332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00741" y="3798950"/>
              <a:ext cx="112639" cy="114756"/>
            </a:xfrm>
            <a:prstGeom prst="rect">
              <a:avLst/>
            </a:prstGeom>
          </p:spPr>
        </p:pic>
      </p:grpSp>
      <p:sp>
        <p:nvSpPr>
          <p:cNvPr id="64" name="object 64"/>
          <p:cNvSpPr txBox="1"/>
          <p:nvPr/>
        </p:nvSpPr>
        <p:spPr>
          <a:xfrm>
            <a:off x="4810457" y="3959675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Estrutura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Dados</a:t>
            </a:r>
            <a:r>
              <a:rPr spc="-15" dirty="0"/>
              <a:t> </a:t>
            </a:r>
            <a:r>
              <a:rPr dirty="0"/>
              <a:t>em</a:t>
            </a:r>
            <a:r>
              <a:rPr spc="-15" dirty="0"/>
              <a:t> </a:t>
            </a:r>
            <a:r>
              <a:rPr spc="-50" dirty="0"/>
              <a:t>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Árvores</a:t>
            </a:r>
            <a:r>
              <a:rPr spc="-2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0" dirty="0"/>
              <a:t>Remoção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3475" y="1224368"/>
            <a:ext cx="2232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Remoção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Nodo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3475" y="2043518"/>
            <a:ext cx="850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Caso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2: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3999" y="2317838"/>
            <a:ext cx="3252470" cy="166370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8460" indent="-365760" algn="just">
              <a:lnSpc>
                <a:spcPct val="100000"/>
              </a:lnSpc>
              <a:spcBef>
                <a:spcPts val="1165"/>
              </a:spcBef>
              <a:buClr>
                <a:srgbClr val="000000"/>
              </a:buClr>
              <a:buFont typeface="Arial MT"/>
              <a:buChar char="●"/>
              <a:tabLst>
                <a:tab pos="37846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Nodo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tem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único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filho.</a:t>
            </a:r>
            <a:endParaRPr sz="1800">
              <a:latin typeface="Arial MT"/>
              <a:cs typeface="Arial MT"/>
            </a:endParaRPr>
          </a:p>
          <a:p>
            <a:pPr marL="377825" marR="5080" indent="-365760" algn="just">
              <a:lnSpc>
                <a:spcPct val="149300"/>
              </a:lnSpc>
              <a:buChar char="●"/>
              <a:tabLst>
                <a:tab pos="379095" algn="l"/>
              </a:tabLst>
            </a:pPr>
            <a:r>
              <a:rPr sz="1800" dirty="0">
                <a:latin typeface="Arial MT"/>
                <a:cs typeface="Arial MT"/>
              </a:rPr>
              <a:t>Apontamos</a:t>
            </a:r>
            <a:r>
              <a:rPr sz="1800" spc="2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o</a:t>
            </a:r>
            <a:r>
              <a:rPr sz="1800" spc="25" dirty="0">
                <a:latin typeface="Arial MT"/>
                <a:cs typeface="Arial MT"/>
              </a:rPr>
              <a:t>  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esq</a:t>
            </a:r>
            <a:r>
              <a:rPr sz="1800" b="1" spc="30" dirty="0">
                <a:solidFill>
                  <a:srgbClr val="00FF00"/>
                </a:solidFill>
                <a:latin typeface="Arial"/>
                <a:cs typeface="Arial"/>
              </a:rPr>
              <a:t> 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25" dirty="0">
                <a:latin typeface="Arial MT"/>
                <a:cs typeface="Arial MT"/>
              </a:rPr>
              <a:t>  </a:t>
            </a:r>
            <a:r>
              <a:rPr sz="1800" spc="-25" dirty="0">
                <a:latin typeface="Arial MT"/>
                <a:cs typeface="Arial MT"/>
              </a:rPr>
              <a:t>seu 	</a:t>
            </a:r>
            <a:r>
              <a:rPr sz="1800" dirty="0">
                <a:latin typeface="Arial MT"/>
                <a:cs typeface="Arial MT"/>
              </a:rPr>
              <a:t>pai</a:t>
            </a:r>
            <a:r>
              <a:rPr sz="1800" spc="1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Nodo</a:t>
            </a:r>
            <a:r>
              <a:rPr sz="1800" b="1" spc="180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3</a:t>
            </a:r>
            <a:r>
              <a:rPr sz="1800" dirty="0">
                <a:latin typeface="Arial MT"/>
                <a:cs typeface="Arial MT"/>
              </a:rPr>
              <a:t>)</a:t>
            </a:r>
            <a:r>
              <a:rPr sz="1800" spc="1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1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seu</a:t>
            </a:r>
            <a:r>
              <a:rPr sz="1800" spc="18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filho 	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Nodo</a:t>
            </a:r>
            <a:r>
              <a:rPr sz="1800" b="1" spc="-75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00FF00"/>
                </a:solidFill>
                <a:latin typeface="Arial"/>
                <a:cs typeface="Arial"/>
              </a:rPr>
              <a:t>2</a:t>
            </a:r>
            <a:r>
              <a:rPr sz="1800" spc="-25" dirty="0">
                <a:latin typeface="Arial MT"/>
                <a:cs typeface="Arial MT"/>
              </a:rPr>
              <a:t>)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716237" y="543999"/>
            <a:ext cx="443865" cy="441959"/>
            <a:chOff x="6716237" y="543999"/>
            <a:chExt cx="443865" cy="441959"/>
          </a:xfrm>
        </p:grpSpPr>
        <p:sp>
          <p:nvSpPr>
            <p:cNvPr id="12" name="object 12"/>
            <p:cNvSpPr/>
            <p:nvPr/>
          </p:nvSpPr>
          <p:spPr>
            <a:xfrm>
              <a:off x="6720999" y="5487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4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2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20999" y="5487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4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2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875785" y="64017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457425" y="903210"/>
            <a:ext cx="2844165" cy="937260"/>
            <a:chOff x="5457425" y="903210"/>
            <a:chExt cx="2844165" cy="937260"/>
          </a:xfrm>
        </p:grpSpPr>
        <p:sp>
          <p:nvSpPr>
            <p:cNvPr id="16" name="object 16"/>
            <p:cNvSpPr/>
            <p:nvPr/>
          </p:nvSpPr>
          <p:spPr>
            <a:xfrm>
              <a:off x="7091271" y="917497"/>
              <a:ext cx="1143635" cy="462280"/>
            </a:xfrm>
            <a:custGeom>
              <a:avLst/>
              <a:gdLst/>
              <a:ahLst/>
              <a:cxnLst/>
              <a:rect l="l" t="t" r="r" b="b"/>
              <a:pathLst>
                <a:path w="1143634" h="462280">
                  <a:moveTo>
                    <a:pt x="0" y="0"/>
                  </a:moveTo>
                  <a:lnTo>
                    <a:pt x="1143400" y="461918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78551" y="1323295"/>
              <a:ext cx="122474" cy="9144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768686" y="917497"/>
              <a:ext cx="1016000" cy="446405"/>
            </a:xfrm>
            <a:custGeom>
              <a:avLst/>
              <a:gdLst/>
              <a:ahLst/>
              <a:cxnLst/>
              <a:rect l="l" t="t" r="r" b="b"/>
              <a:pathLst>
                <a:path w="1016000" h="446405">
                  <a:moveTo>
                    <a:pt x="1015842" y="0"/>
                  </a:moveTo>
                  <a:lnTo>
                    <a:pt x="0" y="446309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2986" y="1307172"/>
              <a:ext cx="122333" cy="9350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462187" y="14033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462187" y="14033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616973" y="149475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950640" y="1411299"/>
            <a:ext cx="3605529" cy="835025"/>
            <a:chOff x="4950640" y="1411299"/>
            <a:chExt cx="3605529" cy="835025"/>
          </a:xfrm>
        </p:grpSpPr>
        <p:sp>
          <p:nvSpPr>
            <p:cNvPr id="24" name="object 24"/>
            <p:cNvSpPr/>
            <p:nvPr/>
          </p:nvSpPr>
          <p:spPr>
            <a:xfrm>
              <a:off x="5008363" y="1772072"/>
              <a:ext cx="517525" cy="424180"/>
            </a:xfrm>
            <a:custGeom>
              <a:avLst/>
              <a:gdLst/>
              <a:ahLst/>
              <a:cxnLst/>
              <a:rect l="l" t="t" r="r" b="b"/>
              <a:pathLst>
                <a:path w="517525" h="424180">
                  <a:moveTo>
                    <a:pt x="517352" y="0"/>
                  </a:moveTo>
                  <a:lnTo>
                    <a:pt x="0" y="423931"/>
                  </a:lnTo>
                </a:path>
              </a:pathLst>
            </a:custGeom>
            <a:ln w="2857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0640" y="2136492"/>
              <a:ext cx="117233" cy="10939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832459" y="1772072"/>
              <a:ext cx="629920" cy="419734"/>
            </a:xfrm>
            <a:custGeom>
              <a:avLst/>
              <a:gdLst/>
              <a:ahLst/>
              <a:cxnLst/>
              <a:rect l="l" t="t" r="r" b="b"/>
              <a:pathLst>
                <a:path w="629920" h="419735">
                  <a:moveTo>
                    <a:pt x="0" y="0"/>
                  </a:moveTo>
                  <a:lnTo>
                    <a:pt x="629775" y="41914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3391" y="2132371"/>
              <a:ext cx="119879" cy="10424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117100" y="14160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17100" y="14160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271885" y="150747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710900" y="1770510"/>
            <a:ext cx="4211320" cy="924560"/>
            <a:chOff x="4710900" y="1770510"/>
            <a:chExt cx="4211320" cy="924560"/>
          </a:xfrm>
        </p:grpSpPr>
        <p:sp>
          <p:nvSpPr>
            <p:cNvPr id="32" name="object 32"/>
            <p:cNvSpPr/>
            <p:nvPr/>
          </p:nvSpPr>
          <p:spPr>
            <a:xfrm>
              <a:off x="7854525" y="1784797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90" h="398144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04630" y="2122960"/>
              <a:ext cx="109407" cy="11722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8487371" y="1784797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4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09078" y="2127412"/>
              <a:ext cx="112638" cy="11475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715662" y="225818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715662" y="225818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870448" y="234960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403191" y="2240712"/>
            <a:ext cx="2362835" cy="843915"/>
            <a:chOff x="4403191" y="2240712"/>
            <a:chExt cx="2362835" cy="843915"/>
          </a:xfrm>
        </p:grpSpPr>
        <p:sp>
          <p:nvSpPr>
            <p:cNvPr id="40" name="object 40"/>
            <p:cNvSpPr/>
            <p:nvPr/>
          </p:nvSpPr>
          <p:spPr>
            <a:xfrm>
              <a:off x="4453086" y="2626922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4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03191" y="2965085"/>
              <a:ext cx="109407" cy="11722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085933" y="2626922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5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07641" y="2969537"/>
              <a:ext cx="112639" cy="11475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326949" y="2245474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26949" y="2245474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481736" y="2336887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303999" y="2599922"/>
            <a:ext cx="1828164" cy="924560"/>
            <a:chOff x="5303999" y="2599922"/>
            <a:chExt cx="1828164" cy="924560"/>
          </a:xfrm>
        </p:grpSpPr>
        <p:sp>
          <p:nvSpPr>
            <p:cNvPr id="48" name="object 48"/>
            <p:cNvSpPr/>
            <p:nvPr/>
          </p:nvSpPr>
          <p:spPr>
            <a:xfrm>
              <a:off x="6064374" y="2614210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4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14479" y="2952372"/>
              <a:ext cx="109407" cy="117222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697220" y="2614210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4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18928" y="2956824"/>
              <a:ext cx="112638" cy="114756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308762" y="3087599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308762" y="3087599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4217357" y="31302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837357" y="31302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952807" y="31302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545907" y="2288138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645683" y="2336887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463548" y="3179013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996291" y="3442047"/>
            <a:ext cx="1117600" cy="471805"/>
            <a:chOff x="4996291" y="3442047"/>
            <a:chExt cx="1117600" cy="471805"/>
          </a:xfrm>
        </p:grpSpPr>
        <p:sp>
          <p:nvSpPr>
            <p:cNvPr id="61" name="object 61"/>
            <p:cNvSpPr/>
            <p:nvPr/>
          </p:nvSpPr>
          <p:spPr>
            <a:xfrm>
              <a:off x="5046186" y="3456335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5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96291" y="3794498"/>
              <a:ext cx="109407" cy="117222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5679033" y="3456335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5" h="402589">
                  <a:moveTo>
                    <a:pt x="0" y="0"/>
                  </a:moveTo>
                  <a:lnTo>
                    <a:pt x="381424" y="402332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00741" y="3798950"/>
              <a:ext cx="112639" cy="114756"/>
            </a:xfrm>
            <a:prstGeom prst="rect">
              <a:avLst/>
            </a:prstGeom>
          </p:spPr>
        </p:pic>
      </p:grpSp>
      <p:sp>
        <p:nvSpPr>
          <p:cNvPr id="65" name="object 65"/>
          <p:cNvSpPr txBox="1"/>
          <p:nvPr/>
        </p:nvSpPr>
        <p:spPr>
          <a:xfrm>
            <a:off x="4810457" y="3959675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7" name="object 6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Estrutura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Dados</a:t>
            </a:r>
            <a:r>
              <a:rPr spc="-15" dirty="0"/>
              <a:t> </a:t>
            </a:r>
            <a:r>
              <a:rPr dirty="0"/>
              <a:t>em</a:t>
            </a:r>
            <a:r>
              <a:rPr spc="-15" dirty="0"/>
              <a:t> </a:t>
            </a:r>
            <a:r>
              <a:rPr spc="-50" dirty="0"/>
              <a:t>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Árvores</a:t>
            </a:r>
            <a:r>
              <a:rPr spc="-2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0" dirty="0"/>
              <a:t>Remoção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3475" y="1224368"/>
            <a:ext cx="2232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Remoção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Nodo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3475" y="2043518"/>
            <a:ext cx="850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Caso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2: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3999" y="2317838"/>
            <a:ext cx="3268345" cy="166370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8460" indent="-365760" algn="just">
              <a:lnSpc>
                <a:spcPct val="100000"/>
              </a:lnSpc>
              <a:spcBef>
                <a:spcPts val="1165"/>
              </a:spcBef>
              <a:buClr>
                <a:srgbClr val="000000"/>
              </a:buClr>
              <a:buFont typeface="Arial MT"/>
              <a:buChar char="●"/>
              <a:tabLst>
                <a:tab pos="37846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Nodo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tem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único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filho.</a:t>
            </a:r>
            <a:endParaRPr sz="1800">
              <a:latin typeface="Arial MT"/>
              <a:cs typeface="Arial MT"/>
            </a:endParaRPr>
          </a:p>
          <a:p>
            <a:pPr marL="377825" marR="5080" indent="-365760" algn="just">
              <a:lnSpc>
                <a:spcPct val="149300"/>
              </a:lnSpc>
              <a:buChar char="●"/>
              <a:tabLst>
                <a:tab pos="379095" algn="l"/>
              </a:tabLst>
            </a:pPr>
            <a:r>
              <a:rPr sz="1800" dirty="0">
                <a:latin typeface="Arial MT"/>
                <a:cs typeface="Arial MT"/>
              </a:rPr>
              <a:t>Apontamos</a:t>
            </a:r>
            <a:r>
              <a:rPr sz="1800" spc="4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o</a:t>
            </a:r>
            <a:r>
              <a:rPr sz="1800" spc="40" dirty="0">
                <a:latin typeface="Arial MT"/>
                <a:cs typeface="Arial MT"/>
              </a:rPr>
              <a:t>  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esq</a:t>
            </a:r>
            <a:r>
              <a:rPr sz="1800" b="1" spc="45" dirty="0">
                <a:solidFill>
                  <a:srgbClr val="00FF00"/>
                </a:solidFill>
                <a:latin typeface="Arial"/>
                <a:cs typeface="Arial"/>
              </a:rPr>
              <a:t> 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40" dirty="0">
                <a:latin typeface="Arial MT"/>
                <a:cs typeface="Arial MT"/>
              </a:rPr>
              <a:t>  </a:t>
            </a:r>
            <a:r>
              <a:rPr sz="1800" spc="-25" dirty="0">
                <a:latin typeface="Arial MT"/>
                <a:cs typeface="Arial MT"/>
              </a:rPr>
              <a:t>seu 	</a:t>
            </a:r>
            <a:r>
              <a:rPr sz="1800" dirty="0">
                <a:latin typeface="Arial MT"/>
                <a:cs typeface="Arial MT"/>
              </a:rPr>
              <a:t>pai</a:t>
            </a:r>
            <a:r>
              <a:rPr sz="1800" spc="2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Nodo</a:t>
            </a:r>
            <a:r>
              <a:rPr sz="1800" b="1" spc="204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3</a:t>
            </a:r>
            <a:r>
              <a:rPr sz="1800" dirty="0">
                <a:latin typeface="Arial MT"/>
                <a:cs typeface="Arial MT"/>
              </a:rPr>
              <a:t>)</a:t>
            </a:r>
            <a:r>
              <a:rPr sz="1800" spc="20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20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seu</a:t>
            </a:r>
            <a:r>
              <a:rPr sz="1800" spc="204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filho 	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Nodo</a:t>
            </a:r>
            <a:r>
              <a:rPr sz="1800" b="1" spc="-75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00FF00"/>
                </a:solidFill>
                <a:latin typeface="Arial"/>
                <a:cs typeface="Arial"/>
              </a:rPr>
              <a:t>2</a:t>
            </a:r>
            <a:r>
              <a:rPr sz="1800" spc="-25" dirty="0">
                <a:latin typeface="Arial MT"/>
                <a:cs typeface="Arial MT"/>
              </a:rPr>
              <a:t>)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716237" y="543999"/>
            <a:ext cx="443865" cy="441959"/>
            <a:chOff x="6716237" y="543999"/>
            <a:chExt cx="443865" cy="441959"/>
          </a:xfrm>
        </p:grpSpPr>
        <p:sp>
          <p:nvSpPr>
            <p:cNvPr id="12" name="object 12"/>
            <p:cNvSpPr/>
            <p:nvPr/>
          </p:nvSpPr>
          <p:spPr>
            <a:xfrm>
              <a:off x="6720999" y="5487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4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2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20999" y="5487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4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2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875785" y="64017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457425" y="903210"/>
            <a:ext cx="2844165" cy="937260"/>
            <a:chOff x="5457425" y="903210"/>
            <a:chExt cx="2844165" cy="937260"/>
          </a:xfrm>
        </p:grpSpPr>
        <p:sp>
          <p:nvSpPr>
            <p:cNvPr id="16" name="object 16"/>
            <p:cNvSpPr/>
            <p:nvPr/>
          </p:nvSpPr>
          <p:spPr>
            <a:xfrm>
              <a:off x="7091271" y="917497"/>
              <a:ext cx="1143635" cy="462280"/>
            </a:xfrm>
            <a:custGeom>
              <a:avLst/>
              <a:gdLst/>
              <a:ahLst/>
              <a:cxnLst/>
              <a:rect l="l" t="t" r="r" b="b"/>
              <a:pathLst>
                <a:path w="1143634" h="462280">
                  <a:moveTo>
                    <a:pt x="0" y="0"/>
                  </a:moveTo>
                  <a:lnTo>
                    <a:pt x="1143400" y="461918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78551" y="1323295"/>
              <a:ext cx="122474" cy="9144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768686" y="917497"/>
              <a:ext cx="1016000" cy="446405"/>
            </a:xfrm>
            <a:custGeom>
              <a:avLst/>
              <a:gdLst/>
              <a:ahLst/>
              <a:cxnLst/>
              <a:rect l="l" t="t" r="r" b="b"/>
              <a:pathLst>
                <a:path w="1016000" h="446405">
                  <a:moveTo>
                    <a:pt x="1015842" y="0"/>
                  </a:moveTo>
                  <a:lnTo>
                    <a:pt x="0" y="446309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2986" y="1307172"/>
              <a:ext cx="122333" cy="9350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462187" y="14033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462187" y="14033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616973" y="149475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874390" y="1411299"/>
            <a:ext cx="3681729" cy="825500"/>
            <a:chOff x="4874390" y="1411299"/>
            <a:chExt cx="3681729" cy="825500"/>
          </a:xfrm>
        </p:grpSpPr>
        <p:sp>
          <p:nvSpPr>
            <p:cNvPr id="24" name="object 24"/>
            <p:cNvSpPr/>
            <p:nvPr/>
          </p:nvSpPr>
          <p:spPr>
            <a:xfrm>
              <a:off x="4936884" y="1772072"/>
              <a:ext cx="589280" cy="351790"/>
            </a:xfrm>
            <a:custGeom>
              <a:avLst/>
              <a:gdLst/>
              <a:ahLst/>
              <a:cxnLst/>
              <a:rect l="l" t="t" r="r" b="b"/>
              <a:pathLst>
                <a:path w="589279" h="351789">
                  <a:moveTo>
                    <a:pt x="588830" y="0"/>
                  </a:moveTo>
                  <a:lnTo>
                    <a:pt x="0" y="351775"/>
                  </a:lnTo>
                </a:path>
              </a:pathLst>
            </a:custGeom>
            <a:ln w="2857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74390" y="2065493"/>
              <a:ext cx="120850" cy="10144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832458" y="1772072"/>
              <a:ext cx="629920" cy="419734"/>
            </a:xfrm>
            <a:custGeom>
              <a:avLst/>
              <a:gdLst/>
              <a:ahLst/>
              <a:cxnLst/>
              <a:rect l="l" t="t" r="r" b="b"/>
              <a:pathLst>
                <a:path w="629920" h="419735">
                  <a:moveTo>
                    <a:pt x="0" y="0"/>
                  </a:moveTo>
                  <a:lnTo>
                    <a:pt x="629775" y="41914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3390" y="2132371"/>
              <a:ext cx="119879" cy="10424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117099" y="14160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17099" y="14160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271885" y="150747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322187" y="1770510"/>
            <a:ext cx="2599690" cy="911860"/>
            <a:chOff x="6322187" y="1770510"/>
            <a:chExt cx="2599690" cy="911860"/>
          </a:xfrm>
        </p:grpSpPr>
        <p:sp>
          <p:nvSpPr>
            <p:cNvPr id="32" name="object 32"/>
            <p:cNvSpPr/>
            <p:nvPr/>
          </p:nvSpPr>
          <p:spPr>
            <a:xfrm>
              <a:off x="7854524" y="1784797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90" h="398144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04629" y="2122960"/>
              <a:ext cx="109407" cy="11722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8487370" y="1784797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4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09078" y="2127412"/>
              <a:ext cx="112638" cy="11475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326949" y="2245474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326949" y="2245474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481736" y="2336887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631299" y="2169399"/>
            <a:ext cx="2500630" cy="902335"/>
            <a:chOff x="4631299" y="2169399"/>
            <a:chExt cx="2500630" cy="902335"/>
          </a:xfrm>
        </p:grpSpPr>
        <p:sp>
          <p:nvSpPr>
            <p:cNvPr id="40" name="object 40"/>
            <p:cNvSpPr/>
            <p:nvPr/>
          </p:nvSpPr>
          <p:spPr>
            <a:xfrm>
              <a:off x="6064374" y="2614210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4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14479" y="2952372"/>
              <a:ext cx="109407" cy="11722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697220" y="2614210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4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18928" y="2956824"/>
              <a:ext cx="112638" cy="11475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4636062" y="21741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636062" y="21741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4137907" y="31302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837357" y="31302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952807" y="31302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545907" y="2288138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645683" y="2336887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790848" y="226557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4348333" y="2528610"/>
            <a:ext cx="964565" cy="539115"/>
            <a:chOff x="4348333" y="2528610"/>
            <a:chExt cx="964565" cy="539115"/>
          </a:xfrm>
        </p:grpSpPr>
        <p:sp>
          <p:nvSpPr>
            <p:cNvPr id="53" name="object 53"/>
            <p:cNvSpPr/>
            <p:nvPr/>
          </p:nvSpPr>
          <p:spPr>
            <a:xfrm>
              <a:off x="4393579" y="2542897"/>
              <a:ext cx="306070" cy="463550"/>
            </a:xfrm>
            <a:custGeom>
              <a:avLst/>
              <a:gdLst/>
              <a:ahLst/>
              <a:cxnLst/>
              <a:rect l="l" t="t" r="r" b="b"/>
              <a:pathLst>
                <a:path w="306070" h="463550">
                  <a:moveTo>
                    <a:pt x="306011" y="0"/>
                  </a:moveTo>
                  <a:lnTo>
                    <a:pt x="0" y="463097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48333" y="2947180"/>
              <a:ext cx="104059" cy="119951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5006333" y="2542897"/>
              <a:ext cx="264160" cy="460375"/>
            </a:xfrm>
            <a:custGeom>
              <a:avLst/>
              <a:gdLst/>
              <a:ahLst/>
              <a:cxnLst/>
              <a:rect l="l" t="t" r="r" b="b"/>
              <a:pathLst>
                <a:path w="264160" h="460375">
                  <a:moveTo>
                    <a:pt x="0" y="0"/>
                  </a:moveTo>
                  <a:lnTo>
                    <a:pt x="264127" y="45988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12303" y="2944620"/>
              <a:ext cx="100412" cy="121140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5117470" y="31302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Estrutura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Dados</a:t>
            </a:r>
            <a:r>
              <a:rPr spc="-15" dirty="0"/>
              <a:t> </a:t>
            </a:r>
            <a:r>
              <a:rPr dirty="0"/>
              <a:t>em</a:t>
            </a:r>
            <a:r>
              <a:rPr spc="-15" dirty="0"/>
              <a:t> </a:t>
            </a:r>
            <a:r>
              <a:rPr spc="-50" dirty="0"/>
              <a:t>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Árvores</a:t>
            </a:r>
            <a:r>
              <a:rPr spc="-2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0" dirty="0"/>
              <a:t>Remoção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3475" y="2453093"/>
            <a:ext cx="2232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Remoção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Nodo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716237" y="543999"/>
            <a:ext cx="443865" cy="441959"/>
            <a:chOff x="6716237" y="543999"/>
            <a:chExt cx="443865" cy="441959"/>
          </a:xfrm>
        </p:grpSpPr>
        <p:sp>
          <p:nvSpPr>
            <p:cNvPr id="10" name="object 10"/>
            <p:cNvSpPr/>
            <p:nvPr/>
          </p:nvSpPr>
          <p:spPr>
            <a:xfrm>
              <a:off x="6720999" y="5487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4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2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20999" y="5487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4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2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875785" y="64017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457425" y="903210"/>
            <a:ext cx="2844165" cy="937260"/>
            <a:chOff x="5457425" y="903210"/>
            <a:chExt cx="2844165" cy="937260"/>
          </a:xfrm>
        </p:grpSpPr>
        <p:sp>
          <p:nvSpPr>
            <p:cNvPr id="14" name="object 14"/>
            <p:cNvSpPr/>
            <p:nvPr/>
          </p:nvSpPr>
          <p:spPr>
            <a:xfrm>
              <a:off x="7091271" y="917497"/>
              <a:ext cx="1143635" cy="462280"/>
            </a:xfrm>
            <a:custGeom>
              <a:avLst/>
              <a:gdLst/>
              <a:ahLst/>
              <a:cxnLst/>
              <a:rect l="l" t="t" r="r" b="b"/>
              <a:pathLst>
                <a:path w="1143634" h="462280">
                  <a:moveTo>
                    <a:pt x="0" y="0"/>
                  </a:moveTo>
                  <a:lnTo>
                    <a:pt x="1143400" y="461918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78551" y="1323295"/>
              <a:ext cx="122474" cy="9144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768686" y="917497"/>
              <a:ext cx="1016000" cy="446405"/>
            </a:xfrm>
            <a:custGeom>
              <a:avLst/>
              <a:gdLst/>
              <a:ahLst/>
              <a:cxnLst/>
              <a:rect l="l" t="t" r="r" b="b"/>
              <a:pathLst>
                <a:path w="1016000" h="446405">
                  <a:moveTo>
                    <a:pt x="1015842" y="0"/>
                  </a:moveTo>
                  <a:lnTo>
                    <a:pt x="0" y="446309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2986" y="1307172"/>
              <a:ext cx="122333" cy="9350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462187" y="14033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462187" y="14033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616973" y="149475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950640" y="1411299"/>
            <a:ext cx="3605529" cy="835025"/>
            <a:chOff x="4950640" y="1411299"/>
            <a:chExt cx="3605529" cy="835025"/>
          </a:xfrm>
        </p:grpSpPr>
        <p:sp>
          <p:nvSpPr>
            <p:cNvPr id="22" name="object 22"/>
            <p:cNvSpPr/>
            <p:nvPr/>
          </p:nvSpPr>
          <p:spPr>
            <a:xfrm>
              <a:off x="5008363" y="1772072"/>
              <a:ext cx="517525" cy="424180"/>
            </a:xfrm>
            <a:custGeom>
              <a:avLst/>
              <a:gdLst/>
              <a:ahLst/>
              <a:cxnLst/>
              <a:rect l="l" t="t" r="r" b="b"/>
              <a:pathLst>
                <a:path w="517525" h="424180">
                  <a:moveTo>
                    <a:pt x="517352" y="0"/>
                  </a:moveTo>
                  <a:lnTo>
                    <a:pt x="0" y="4239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0640" y="2136492"/>
              <a:ext cx="117233" cy="10939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832459" y="1772072"/>
              <a:ext cx="629920" cy="419734"/>
            </a:xfrm>
            <a:custGeom>
              <a:avLst/>
              <a:gdLst/>
              <a:ahLst/>
              <a:cxnLst/>
              <a:rect l="l" t="t" r="r" b="b"/>
              <a:pathLst>
                <a:path w="629920" h="419735">
                  <a:moveTo>
                    <a:pt x="0" y="0"/>
                  </a:moveTo>
                  <a:lnTo>
                    <a:pt x="629775" y="41914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3391" y="2132371"/>
              <a:ext cx="119879" cy="10424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117100" y="14160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117100" y="14160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271885" y="150747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710900" y="1770510"/>
            <a:ext cx="4211320" cy="924560"/>
            <a:chOff x="4710900" y="1770510"/>
            <a:chExt cx="4211320" cy="924560"/>
          </a:xfrm>
        </p:grpSpPr>
        <p:sp>
          <p:nvSpPr>
            <p:cNvPr id="30" name="object 30"/>
            <p:cNvSpPr/>
            <p:nvPr/>
          </p:nvSpPr>
          <p:spPr>
            <a:xfrm>
              <a:off x="7854525" y="1784797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90" h="398144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04630" y="2122960"/>
              <a:ext cx="109407" cy="11722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487371" y="1784797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4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09078" y="2127412"/>
              <a:ext cx="112638" cy="11475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715662" y="225818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715662" y="225818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870448" y="234960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403191" y="2240712"/>
            <a:ext cx="2362835" cy="843915"/>
            <a:chOff x="4403191" y="2240712"/>
            <a:chExt cx="2362835" cy="843915"/>
          </a:xfrm>
        </p:grpSpPr>
        <p:sp>
          <p:nvSpPr>
            <p:cNvPr id="38" name="object 38"/>
            <p:cNvSpPr/>
            <p:nvPr/>
          </p:nvSpPr>
          <p:spPr>
            <a:xfrm>
              <a:off x="4453086" y="2626922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4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03191" y="2965085"/>
              <a:ext cx="109407" cy="117222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085933" y="2626922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5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07641" y="2969537"/>
              <a:ext cx="112639" cy="114756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326949" y="2245474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326949" y="2245474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481736" y="2336887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303999" y="2599922"/>
            <a:ext cx="1828164" cy="924560"/>
            <a:chOff x="5303999" y="2599922"/>
            <a:chExt cx="1828164" cy="924560"/>
          </a:xfrm>
        </p:grpSpPr>
        <p:sp>
          <p:nvSpPr>
            <p:cNvPr id="46" name="object 46"/>
            <p:cNvSpPr/>
            <p:nvPr/>
          </p:nvSpPr>
          <p:spPr>
            <a:xfrm>
              <a:off x="6064374" y="2614210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4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14479" y="2952372"/>
              <a:ext cx="109407" cy="117222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697220" y="2614210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4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18928" y="2956824"/>
              <a:ext cx="112638" cy="11475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5308762" y="3087599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308762" y="3087599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217357" y="31302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837357" y="31302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952807" y="31302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545907" y="2288138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645683" y="2336887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463548" y="3179013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4996291" y="3442047"/>
            <a:ext cx="1117600" cy="471805"/>
            <a:chOff x="4996291" y="3442047"/>
            <a:chExt cx="1117600" cy="471805"/>
          </a:xfrm>
        </p:grpSpPr>
        <p:sp>
          <p:nvSpPr>
            <p:cNvPr id="59" name="object 59"/>
            <p:cNvSpPr/>
            <p:nvPr/>
          </p:nvSpPr>
          <p:spPr>
            <a:xfrm>
              <a:off x="5046186" y="3456335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5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96291" y="3794498"/>
              <a:ext cx="109407" cy="117222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5679033" y="3456335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5" h="402589">
                  <a:moveTo>
                    <a:pt x="0" y="0"/>
                  </a:moveTo>
                  <a:lnTo>
                    <a:pt x="381424" y="402332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00741" y="3798950"/>
              <a:ext cx="112639" cy="114756"/>
            </a:xfrm>
            <a:prstGeom prst="rect">
              <a:avLst/>
            </a:prstGeom>
          </p:spPr>
        </p:pic>
      </p:grpSp>
      <p:sp>
        <p:nvSpPr>
          <p:cNvPr id="63" name="object 63"/>
          <p:cNvSpPr txBox="1"/>
          <p:nvPr/>
        </p:nvSpPr>
        <p:spPr>
          <a:xfrm>
            <a:off x="4810457" y="3959675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5" name="object 6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Estrutura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Dados</a:t>
            </a:r>
            <a:r>
              <a:rPr spc="-15" dirty="0"/>
              <a:t> </a:t>
            </a:r>
            <a:r>
              <a:rPr dirty="0"/>
              <a:t>em</a:t>
            </a:r>
            <a:r>
              <a:rPr spc="-15" dirty="0"/>
              <a:t> </a:t>
            </a:r>
            <a:r>
              <a:rPr spc="-50" dirty="0"/>
              <a:t>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Árvores</a:t>
            </a:r>
            <a:r>
              <a:rPr spc="-2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0" dirty="0"/>
              <a:t>Remoção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3475" y="1838730"/>
            <a:ext cx="2232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Remoção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Nodo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3475" y="2522626"/>
            <a:ext cx="2781935" cy="84455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800" b="1" dirty="0">
                <a:latin typeface="Arial"/>
                <a:cs typeface="Arial"/>
              </a:rPr>
              <a:t>Caso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3: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1065"/>
              </a:spcBef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Nodo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3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tem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filhos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716237" y="543999"/>
            <a:ext cx="443865" cy="441959"/>
            <a:chOff x="6716237" y="543999"/>
            <a:chExt cx="443865" cy="441959"/>
          </a:xfrm>
        </p:grpSpPr>
        <p:sp>
          <p:nvSpPr>
            <p:cNvPr id="11" name="object 11"/>
            <p:cNvSpPr/>
            <p:nvPr/>
          </p:nvSpPr>
          <p:spPr>
            <a:xfrm>
              <a:off x="6720999" y="5487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4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2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20999" y="5487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4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2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875785" y="64017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457425" y="903210"/>
            <a:ext cx="2844165" cy="937260"/>
            <a:chOff x="5457425" y="903210"/>
            <a:chExt cx="2844165" cy="937260"/>
          </a:xfrm>
        </p:grpSpPr>
        <p:sp>
          <p:nvSpPr>
            <p:cNvPr id="15" name="object 15"/>
            <p:cNvSpPr/>
            <p:nvPr/>
          </p:nvSpPr>
          <p:spPr>
            <a:xfrm>
              <a:off x="7091271" y="917497"/>
              <a:ext cx="1143635" cy="462280"/>
            </a:xfrm>
            <a:custGeom>
              <a:avLst/>
              <a:gdLst/>
              <a:ahLst/>
              <a:cxnLst/>
              <a:rect l="l" t="t" r="r" b="b"/>
              <a:pathLst>
                <a:path w="1143634" h="462280">
                  <a:moveTo>
                    <a:pt x="0" y="0"/>
                  </a:moveTo>
                  <a:lnTo>
                    <a:pt x="1143400" y="461918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78551" y="1323295"/>
              <a:ext cx="122474" cy="9144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768686" y="917497"/>
              <a:ext cx="1016000" cy="446405"/>
            </a:xfrm>
            <a:custGeom>
              <a:avLst/>
              <a:gdLst/>
              <a:ahLst/>
              <a:cxnLst/>
              <a:rect l="l" t="t" r="r" b="b"/>
              <a:pathLst>
                <a:path w="1016000" h="446405">
                  <a:moveTo>
                    <a:pt x="1015842" y="0"/>
                  </a:moveTo>
                  <a:lnTo>
                    <a:pt x="0" y="446309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2986" y="1307172"/>
              <a:ext cx="122333" cy="9350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462187" y="14033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462187" y="14033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616973" y="149475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950640" y="1411299"/>
            <a:ext cx="3605529" cy="835025"/>
            <a:chOff x="4950640" y="1411299"/>
            <a:chExt cx="3605529" cy="835025"/>
          </a:xfrm>
        </p:grpSpPr>
        <p:sp>
          <p:nvSpPr>
            <p:cNvPr id="23" name="object 23"/>
            <p:cNvSpPr/>
            <p:nvPr/>
          </p:nvSpPr>
          <p:spPr>
            <a:xfrm>
              <a:off x="5008363" y="1772072"/>
              <a:ext cx="517525" cy="424180"/>
            </a:xfrm>
            <a:custGeom>
              <a:avLst/>
              <a:gdLst/>
              <a:ahLst/>
              <a:cxnLst/>
              <a:rect l="l" t="t" r="r" b="b"/>
              <a:pathLst>
                <a:path w="517525" h="424180">
                  <a:moveTo>
                    <a:pt x="517352" y="0"/>
                  </a:moveTo>
                  <a:lnTo>
                    <a:pt x="0" y="423931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0640" y="2136492"/>
              <a:ext cx="117233" cy="10939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32459" y="1772072"/>
              <a:ext cx="629920" cy="419734"/>
            </a:xfrm>
            <a:custGeom>
              <a:avLst/>
              <a:gdLst/>
              <a:ahLst/>
              <a:cxnLst/>
              <a:rect l="l" t="t" r="r" b="b"/>
              <a:pathLst>
                <a:path w="629920" h="419735">
                  <a:moveTo>
                    <a:pt x="0" y="0"/>
                  </a:moveTo>
                  <a:lnTo>
                    <a:pt x="629775" y="419141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3391" y="2132371"/>
              <a:ext cx="119879" cy="10424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117100" y="14160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117100" y="14160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2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271885" y="150747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710900" y="1770510"/>
            <a:ext cx="4211320" cy="924560"/>
            <a:chOff x="4710900" y="1770510"/>
            <a:chExt cx="4211320" cy="924560"/>
          </a:xfrm>
        </p:grpSpPr>
        <p:sp>
          <p:nvSpPr>
            <p:cNvPr id="31" name="object 31"/>
            <p:cNvSpPr/>
            <p:nvPr/>
          </p:nvSpPr>
          <p:spPr>
            <a:xfrm>
              <a:off x="7854525" y="1784797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90" h="398144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04630" y="2122960"/>
              <a:ext cx="109407" cy="11722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8487371" y="1784797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4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09078" y="2127412"/>
              <a:ext cx="112638" cy="11475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715662" y="225818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715662" y="225818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870448" y="234960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403191" y="2240712"/>
            <a:ext cx="2362835" cy="843915"/>
            <a:chOff x="4403191" y="2240712"/>
            <a:chExt cx="2362835" cy="843915"/>
          </a:xfrm>
        </p:grpSpPr>
        <p:sp>
          <p:nvSpPr>
            <p:cNvPr id="39" name="object 39"/>
            <p:cNvSpPr/>
            <p:nvPr/>
          </p:nvSpPr>
          <p:spPr>
            <a:xfrm>
              <a:off x="4453086" y="2626922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4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03191" y="2965085"/>
              <a:ext cx="109407" cy="11722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085933" y="2626922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5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07641" y="2969537"/>
              <a:ext cx="112639" cy="11475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326949" y="2245474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326949" y="2245474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6481736" y="2336887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303999" y="2599922"/>
            <a:ext cx="1828164" cy="924560"/>
            <a:chOff x="5303999" y="2599922"/>
            <a:chExt cx="1828164" cy="924560"/>
          </a:xfrm>
        </p:grpSpPr>
        <p:sp>
          <p:nvSpPr>
            <p:cNvPr id="47" name="object 47"/>
            <p:cNvSpPr/>
            <p:nvPr/>
          </p:nvSpPr>
          <p:spPr>
            <a:xfrm>
              <a:off x="6064374" y="2614210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4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14479" y="2952372"/>
              <a:ext cx="109407" cy="117222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697220" y="2614210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4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18928" y="2956824"/>
              <a:ext cx="112638" cy="114756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5308762" y="3087599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308762" y="3087599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4217357" y="31302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837357" y="31302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952807" y="31302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545907" y="2288138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645683" y="2336887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463548" y="3179013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4996291" y="3442047"/>
            <a:ext cx="1117600" cy="471805"/>
            <a:chOff x="4996291" y="3442047"/>
            <a:chExt cx="1117600" cy="471805"/>
          </a:xfrm>
        </p:grpSpPr>
        <p:sp>
          <p:nvSpPr>
            <p:cNvPr id="60" name="object 60"/>
            <p:cNvSpPr/>
            <p:nvPr/>
          </p:nvSpPr>
          <p:spPr>
            <a:xfrm>
              <a:off x="5046186" y="3456335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5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96291" y="3794498"/>
              <a:ext cx="109407" cy="117222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5679033" y="3456335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5" h="402589">
                  <a:moveTo>
                    <a:pt x="0" y="0"/>
                  </a:moveTo>
                  <a:lnTo>
                    <a:pt x="381424" y="402332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00741" y="3798950"/>
              <a:ext cx="112639" cy="114756"/>
            </a:xfrm>
            <a:prstGeom prst="rect">
              <a:avLst/>
            </a:prstGeom>
          </p:spPr>
        </p:pic>
      </p:grpSp>
      <p:sp>
        <p:nvSpPr>
          <p:cNvPr id="64" name="object 64"/>
          <p:cNvSpPr txBox="1"/>
          <p:nvPr/>
        </p:nvSpPr>
        <p:spPr>
          <a:xfrm>
            <a:off x="4810457" y="3959675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Estrutura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Dados</a:t>
            </a:r>
            <a:r>
              <a:rPr spc="-15" dirty="0"/>
              <a:t> </a:t>
            </a:r>
            <a:r>
              <a:rPr dirty="0"/>
              <a:t>em</a:t>
            </a:r>
            <a:r>
              <a:rPr spc="-15" dirty="0"/>
              <a:t> </a:t>
            </a:r>
            <a:r>
              <a:rPr spc="-50" dirty="0"/>
              <a:t>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4911" y="78631"/>
            <a:ext cx="389509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Árvores</a:t>
            </a:r>
            <a:r>
              <a:rPr spc="-2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0" dirty="0"/>
              <a:t>Remoção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4575" y="588450"/>
            <a:ext cx="2232660" cy="844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3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Remoção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Nodo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3 </a:t>
            </a:r>
            <a:r>
              <a:rPr sz="1800" b="1" dirty="0">
                <a:latin typeface="Arial"/>
                <a:cs typeface="Arial"/>
              </a:rPr>
              <a:t>Caso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3: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5099" y="1407601"/>
            <a:ext cx="4222750" cy="166370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165"/>
              </a:spcBef>
              <a:buClr>
                <a:srgbClr val="000000"/>
              </a:buClr>
              <a:buFont typeface="Arial MT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Nodo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3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tem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filhos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1065"/>
              </a:spcBef>
              <a:buChar char="●"/>
              <a:tabLst>
                <a:tab pos="379095" algn="l"/>
              </a:tabLst>
            </a:pPr>
            <a:r>
              <a:rPr sz="1800" dirty="0">
                <a:latin typeface="Arial MT"/>
                <a:cs typeface="Arial MT"/>
              </a:rPr>
              <a:t>2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Estratégias:</a:t>
            </a:r>
            <a:endParaRPr sz="1800">
              <a:latin typeface="Arial MT"/>
              <a:cs typeface="Arial MT"/>
            </a:endParaRPr>
          </a:p>
          <a:p>
            <a:pPr marL="836294" marR="5080" lvl="1" indent="-367030">
              <a:lnSpc>
                <a:spcPct val="149300"/>
              </a:lnSpc>
              <a:buChar char="○"/>
              <a:tabLst>
                <a:tab pos="836294" algn="l"/>
                <a:tab pos="1454785" algn="l"/>
                <a:tab pos="1717675" algn="l"/>
                <a:tab pos="1924685" algn="l"/>
                <a:tab pos="2187575" algn="l"/>
                <a:tab pos="2806065" algn="l"/>
                <a:tab pos="2870200" algn="l"/>
                <a:tab pos="3133090" algn="l"/>
                <a:tab pos="3196590" algn="l"/>
                <a:tab pos="3700779" algn="l"/>
              </a:tabLst>
            </a:pPr>
            <a:r>
              <a:rPr sz="1800" spc="-10" dirty="0">
                <a:latin typeface="Arial MT"/>
                <a:cs typeface="Arial MT"/>
              </a:rPr>
              <a:t>Substituir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50" dirty="0">
                <a:latin typeface="Arial MT"/>
                <a:cs typeface="Arial MT"/>
              </a:rPr>
              <a:t>o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Nodo</a:t>
            </a:r>
            <a:r>
              <a:rPr sz="1800" dirty="0">
                <a:latin typeface="Arial MT"/>
                <a:cs typeface="Arial MT"/>
              </a:rPr>
              <a:t>		</a:t>
            </a:r>
            <a:r>
              <a:rPr sz="1800" spc="-50" dirty="0">
                <a:latin typeface="Arial MT"/>
                <a:cs typeface="Arial MT"/>
              </a:rPr>
              <a:t>3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pelo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nodo mais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50" dirty="0">
                <a:latin typeface="Arial MT"/>
                <a:cs typeface="Arial MT"/>
              </a:rPr>
              <a:t>à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esquerda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de</a:t>
            </a:r>
            <a:r>
              <a:rPr sz="1800" dirty="0">
                <a:latin typeface="Arial MT"/>
                <a:cs typeface="Arial MT"/>
              </a:rPr>
              <a:t>		</a:t>
            </a:r>
            <a:r>
              <a:rPr sz="1800" spc="-25" dirty="0">
                <a:latin typeface="Arial MT"/>
                <a:cs typeface="Arial MT"/>
              </a:rPr>
              <a:t>seu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nodo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2299" y="3045901"/>
            <a:ext cx="3765550" cy="166370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>
              <a:lnSpc>
                <a:spcPct val="100000"/>
              </a:lnSpc>
              <a:spcBef>
                <a:spcPts val="1165"/>
              </a:spcBef>
            </a:pPr>
            <a:r>
              <a:rPr sz="1800" spc="-10" dirty="0">
                <a:latin typeface="Arial MT"/>
                <a:cs typeface="Arial MT"/>
              </a:rPr>
              <a:t>direito.</a:t>
            </a:r>
            <a:endParaRPr sz="1800">
              <a:latin typeface="Arial MT"/>
              <a:cs typeface="Arial MT"/>
            </a:endParaRPr>
          </a:p>
          <a:p>
            <a:pPr marL="377825" marR="5080" indent="-365760" algn="just">
              <a:lnSpc>
                <a:spcPct val="149300"/>
              </a:lnSpc>
              <a:buChar char="○"/>
              <a:tabLst>
                <a:tab pos="379095" algn="l"/>
              </a:tabLst>
            </a:pPr>
            <a:r>
              <a:rPr sz="1800" dirty="0">
                <a:latin typeface="Arial MT"/>
                <a:cs typeface="Arial MT"/>
              </a:rPr>
              <a:t>Substituir</a:t>
            </a:r>
            <a:r>
              <a:rPr sz="1800" spc="2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o</a:t>
            </a:r>
            <a:r>
              <a:rPr sz="1800" spc="3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Nodo</a:t>
            </a:r>
            <a:r>
              <a:rPr sz="1800" spc="3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3</a:t>
            </a:r>
            <a:r>
              <a:rPr sz="1800" spc="3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pelo</a:t>
            </a:r>
            <a:r>
              <a:rPr sz="1800" spc="30" dirty="0">
                <a:latin typeface="Arial MT"/>
                <a:cs typeface="Arial MT"/>
              </a:rPr>
              <a:t>  </a:t>
            </a:r>
            <a:r>
              <a:rPr sz="1800" spc="-20" dirty="0">
                <a:latin typeface="Arial MT"/>
                <a:cs typeface="Arial MT"/>
              </a:rPr>
              <a:t>nodo 	</a:t>
            </a:r>
            <a:r>
              <a:rPr sz="1800" dirty="0">
                <a:latin typeface="Arial MT"/>
                <a:cs typeface="Arial MT"/>
              </a:rPr>
              <a:t>mais</a:t>
            </a:r>
            <a:r>
              <a:rPr sz="1800" spc="27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à</a:t>
            </a:r>
            <a:r>
              <a:rPr sz="1800" spc="29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direita</a:t>
            </a:r>
            <a:r>
              <a:rPr sz="1800" spc="28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29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seu</a:t>
            </a:r>
            <a:r>
              <a:rPr sz="1800" spc="290" dirty="0">
                <a:latin typeface="Arial MT"/>
                <a:cs typeface="Arial MT"/>
              </a:rPr>
              <a:t>  </a:t>
            </a:r>
            <a:r>
              <a:rPr sz="1800" spc="-20" dirty="0">
                <a:latin typeface="Arial MT"/>
                <a:cs typeface="Arial MT"/>
              </a:rPr>
              <a:t>nodo 	</a:t>
            </a:r>
            <a:r>
              <a:rPr sz="1800" spc="-10" dirty="0">
                <a:latin typeface="Arial MT"/>
                <a:cs typeface="Arial MT"/>
              </a:rPr>
              <a:t>esquerdo.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994937" y="715599"/>
            <a:ext cx="443865" cy="441959"/>
            <a:chOff x="6994937" y="715599"/>
            <a:chExt cx="443865" cy="441959"/>
          </a:xfrm>
        </p:grpSpPr>
        <p:sp>
          <p:nvSpPr>
            <p:cNvPr id="12" name="object 12"/>
            <p:cNvSpPr/>
            <p:nvPr/>
          </p:nvSpPr>
          <p:spPr>
            <a:xfrm>
              <a:off x="6999699" y="7203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4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2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99699" y="7203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4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2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154485" y="81177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36125" y="1074810"/>
            <a:ext cx="2645410" cy="937260"/>
            <a:chOff x="5736125" y="1074810"/>
            <a:chExt cx="2645410" cy="937260"/>
          </a:xfrm>
        </p:grpSpPr>
        <p:sp>
          <p:nvSpPr>
            <p:cNvPr id="16" name="object 16"/>
            <p:cNvSpPr/>
            <p:nvPr/>
          </p:nvSpPr>
          <p:spPr>
            <a:xfrm>
              <a:off x="7369971" y="1089097"/>
              <a:ext cx="946785" cy="443865"/>
            </a:xfrm>
            <a:custGeom>
              <a:avLst/>
              <a:gdLst/>
              <a:ahLst/>
              <a:cxnLst/>
              <a:rect l="l" t="t" r="r" b="b"/>
              <a:pathLst>
                <a:path w="946784" h="443865">
                  <a:moveTo>
                    <a:pt x="0" y="0"/>
                  </a:moveTo>
                  <a:lnTo>
                    <a:pt x="946317" y="44326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59269" y="1475339"/>
              <a:ext cx="122159" cy="9512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047386" y="1089097"/>
              <a:ext cx="1016000" cy="446405"/>
            </a:xfrm>
            <a:custGeom>
              <a:avLst/>
              <a:gdLst/>
              <a:ahLst/>
              <a:cxnLst/>
              <a:rect l="l" t="t" r="r" b="b"/>
              <a:pathLst>
                <a:path w="1016000" h="446405">
                  <a:moveTo>
                    <a:pt x="1015842" y="0"/>
                  </a:moveTo>
                  <a:lnTo>
                    <a:pt x="0" y="446309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81686" y="1478772"/>
              <a:ext cx="122333" cy="9350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740887" y="15749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740887" y="15749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895673" y="166635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229340" y="1569274"/>
            <a:ext cx="3397250" cy="848360"/>
            <a:chOff x="5229340" y="1569274"/>
            <a:chExt cx="3397250" cy="848360"/>
          </a:xfrm>
        </p:grpSpPr>
        <p:sp>
          <p:nvSpPr>
            <p:cNvPr id="24" name="object 24"/>
            <p:cNvSpPr/>
            <p:nvPr/>
          </p:nvSpPr>
          <p:spPr>
            <a:xfrm>
              <a:off x="5287063" y="1943672"/>
              <a:ext cx="517525" cy="424180"/>
            </a:xfrm>
            <a:custGeom>
              <a:avLst/>
              <a:gdLst/>
              <a:ahLst/>
              <a:cxnLst/>
              <a:rect l="l" t="t" r="r" b="b"/>
              <a:pathLst>
                <a:path w="517525" h="424180">
                  <a:moveTo>
                    <a:pt x="517352" y="0"/>
                  </a:moveTo>
                  <a:lnTo>
                    <a:pt x="0" y="423931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29340" y="2308092"/>
              <a:ext cx="117233" cy="10939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111159" y="1943672"/>
              <a:ext cx="629920" cy="419734"/>
            </a:xfrm>
            <a:custGeom>
              <a:avLst/>
              <a:gdLst/>
              <a:ahLst/>
              <a:cxnLst/>
              <a:rect l="l" t="t" r="r" b="b"/>
              <a:pathLst>
                <a:path w="629920" h="419735">
                  <a:moveTo>
                    <a:pt x="0" y="0"/>
                  </a:moveTo>
                  <a:lnTo>
                    <a:pt x="629775" y="419141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82090" y="2303970"/>
              <a:ext cx="119879" cy="10424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187950" y="15740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87950" y="15740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342735" y="166545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989600" y="1928485"/>
            <a:ext cx="4003040" cy="938530"/>
            <a:chOff x="4989600" y="1928485"/>
            <a:chExt cx="4003040" cy="938530"/>
          </a:xfrm>
        </p:grpSpPr>
        <p:sp>
          <p:nvSpPr>
            <p:cNvPr id="32" name="object 32"/>
            <p:cNvSpPr/>
            <p:nvPr/>
          </p:nvSpPr>
          <p:spPr>
            <a:xfrm>
              <a:off x="7925375" y="1942772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90" h="398144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75480" y="2280935"/>
              <a:ext cx="109407" cy="11722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8558221" y="1942772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4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79928" y="2285387"/>
              <a:ext cx="112638" cy="11475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994362" y="242978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994362" y="242978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149148" y="252120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681891" y="2412312"/>
            <a:ext cx="2362835" cy="843915"/>
            <a:chOff x="4681891" y="2412312"/>
            <a:chExt cx="2362835" cy="843915"/>
          </a:xfrm>
        </p:grpSpPr>
        <p:sp>
          <p:nvSpPr>
            <p:cNvPr id="40" name="object 40"/>
            <p:cNvSpPr/>
            <p:nvPr/>
          </p:nvSpPr>
          <p:spPr>
            <a:xfrm>
              <a:off x="4731786" y="2798522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4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81891" y="3136685"/>
              <a:ext cx="109407" cy="11722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364633" y="2798522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5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86341" y="3141137"/>
              <a:ext cx="112639" cy="11475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605649" y="2417074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605649" y="2417074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760435" y="2508487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582699" y="2771522"/>
            <a:ext cx="1828164" cy="924560"/>
            <a:chOff x="5582699" y="2771522"/>
            <a:chExt cx="1828164" cy="924560"/>
          </a:xfrm>
        </p:grpSpPr>
        <p:sp>
          <p:nvSpPr>
            <p:cNvPr id="48" name="object 48"/>
            <p:cNvSpPr/>
            <p:nvPr/>
          </p:nvSpPr>
          <p:spPr>
            <a:xfrm>
              <a:off x="6343074" y="2785810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90" h="398144">
                  <a:moveTo>
                    <a:pt x="326104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93179" y="3123972"/>
              <a:ext cx="109407" cy="117222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975920" y="2785810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4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97628" y="3128424"/>
              <a:ext cx="112638" cy="114756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587462" y="3259199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2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587462" y="3259199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2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4496057" y="33018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116057" y="33018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231507" y="33018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616758" y="2446112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716533" y="24948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742248" y="3350613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5274991" y="3613647"/>
            <a:ext cx="1117600" cy="471805"/>
            <a:chOff x="5274991" y="3613647"/>
            <a:chExt cx="1117600" cy="471805"/>
          </a:xfrm>
        </p:grpSpPr>
        <p:sp>
          <p:nvSpPr>
            <p:cNvPr id="61" name="object 61"/>
            <p:cNvSpPr/>
            <p:nvPr/>
          </p:nvSpPr>
          <p:spPr>
            <a:xfrm>
              <a:off x="5324886" y="3627935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5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74991" y="3966098"/>
              <a:ext cx="109407" cy="117222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5957733" y="3627935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5" h="402589">
                  <a:moveTo>
                    <a:pt x="0" y="0"/>
                  </a:moveTo>
                  <a:lnTo>
                    <a:pt x="381424" y="402332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79441" y="3970550"/>
              <a:ext cx="112639" cy="114756"/>
            </a:xfrm>
            <a:prstGeom prst="rect">
              <a:avLst/>
            </a:prstGeom>
          </p:spPr>
        </p:pic>
      </p:grpSp>
      <p:sp>
        <p:nvSpPr>
          <p:cNvPr id="65" name="object 65"/>
          <p:cNvSpPr txBox="1"/>
          <p:nvPr/>
        </p:nvSpPr>
        <p:spPr>
          <a:xfrm>
            <a:off x="5089157" y="4131275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7" name="object 6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Estrutura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Dados</a:t>
            </a:r>
            <a:r>
              <a:rPr spc="-15" dirty="0"/>
              <a:t> </a:t>
            </a:r>
            <a:r>
              <a:rPr dirty="0"/>
              <a:t>em</a:t>
            </a:r>
            <a:r>
              <a:rPr spc="-15" dirty="0"/>
              <a:t> </a:t>
            </a:r>
            <a:r>
              <a:rPr spc="-50" dirty="0"/>
              <a:t>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4911" y="78631"/>
            <a:ext cx="389509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Árvores</a:t>
            </a:r>
            <a:r>
              <a:rPr spc="-2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0" dirty="0"/>
              <a:t>Remoção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4575" y="588450"/>
            <a:ext cx="2232660" cy="844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3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Remoção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Nodo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3 </a:t>
            </a:r>
            <a:r>
              <a:rPr sz="1800" b="1" dirty="0">
                <a:latin typeface="Arial"/>
                <a:cs typeface="Arial"/>
              </a:rPr>
              <a:t>Caso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3: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5099" y="1407601"/>
            <a:ext cx="4220845" cy="166370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165"/>
              </a:spcBef>
              <a:buClr>
                <a:srgbClr val="000000"/>
              </a:buClr>
              <a:buFont typeface="Arial MT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Nodo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3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tem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filhos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1065"/>
              </a:spcBef>
              <a:buChar char="●"/>
              <a:tabLst>
                <a:tab pos="379095" algn="l"/>
              </a:tabLst>
            </a:pPr>
            <a:r>
              <a:rPr sz="1800" dirty="0">
                <a:latin typeface="Arial MT"/>
                <a:cs typeface="Arial MT"/>
              </a:rPr>
              <a:t>2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Estratégias:</a:t>
            </a:r>
            <a:endParaRPr sz="1800">
              <a:latin typeface="Arial MT"/>
              <a:cs typeface="Arial MT"/>
            </a:endParaRPr>
          </a:p>
          <a:p>
            <a:pPr marL="836294" marR="5080" lvl="1" indent="-367030">
              <a:lnSpc>
                <a:spcPct val="149300"/>
              </a:lnSpc>
              <a:buChar char="○"/>
              <a:tabLst>
                <a:tab pos="836294" algn="l"/>
              </a:tabLst>
            </a:pP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Substituir</a:t>
            </a:r>
            <a:r>
              <a:rPr sz="1800" b="1" spc="140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o</a:t>
            </a:r>
            <a:r>
              <a:rPr sz="1800" b="1" spc="145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Nodo</a:t>
            </a:r>
            <a:r>
              <a:rPr sz="1800" b="1" spc="145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3</a:t>
            </a:r>
            <a:r>
              <a:rPr sz="1800" b="1" spc="140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pelo</a:t>
            </a:r>
            <a:r>
              <a:rPr sz="1800" b="1" spc="145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0FF00"/>
                </a:solidFill>
                <a:latin typeface="Arial"/>
                <a:cs typeface="Arial"/>
              </a:rPr>
              <a:t>nodo 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mais</a:t>
            </a:r>
            <a:r>
              <a:rPr sz="1800" b="1" spc="250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à</a:t>
            </a:r>
            <a:r>
              <a:rPr sz="1800" b="1" spc="250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esquerda</a:t>
            </a:r>
            <a:r>
              <a:rPr sz="1800" b="1" spc="254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de</a:t>
            </a:r>
            <a:r>
              <a:rPr sz="1800" b="1" spc="250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seu</a:t>
            </a:r>
            <a:r>
              <a:rPr sz="1800" b="1" spc="254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0FF00"/>
                </a:solidFill>
                <a:latin typeface="Arial"/>
                <a:cs typeface="Arial"/>
              </a:rPr>
              <a:t>nodo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2299" y="3045901"/>
            <a:ext cx="3765550" cy="84455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>
              <a:lnSpc>
                <a:spcPct val="100000"/>
              </a:lnSpc>
              <a:spcBef>
                <a:spcPts val="1165"/>
              </a:spcBef>
            </a:pPr>
            <a:r>
              <a:rPr sz="1800" b="1" spc="-10" dirty="0">
                <a:solidFill>
                  <a:srgbClr val="00FF00"/>
                </a:solidFill>
                <a:latin typeface="Arial"/>
                <a:cs typeface="Arial"/>
              </a:rPr>
              <a:t>direito.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065"/>
              </a:spcBef>
              <a:buChar char="○"/>
              <a:tabLst>
                <a:tab pos="379095" algn="l"/>
                <a:tab pos="1467485" algn="l"/>
                <a:tab pos="1730375" algn="l"/>
                <a:tab pos="2413000" algn="l"/>
                <a:tab pos="2675890" algn="l"/>
                <a:tab pos="3243580" algn="l"/>
              </a:tabLst>
            </a:pPr>
            <a:r>
              <a:rPr sz="1800" spc="-10" dirty="0">
                <a:latin typeface="Arial MT"/>
                <a:cs typeface="Arial MT"/>
              </a:rPr>
              <a:t>Substituir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50" dirty="0">
                <a:latin typeface="Arial MT"/>
                <a:cs typeface="Arial MT"/>
              </a:rPr>
              <a:t>o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Nodo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50" dirty="0">
                <a:latin typeface="Arial MT"/>
                <a:cs typeface="Arial MT"/>
              </a:rPr>
              <a:t>3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pelo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nodo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994937" y="715599"/>
            <a:ext cx="443865" cy="441959"/>
            <a:chOff x="6994937" y="715599"/>
            <a:chExt cx="443865" cy="441959"/>
          </a:xfrm>
        </p:grpSpPr>
        <p:sp>
          <p:nvSpPr>
            <p:cNvPr id="12" name="object 12"/>
            <p:cNvSpPr/>
            <p:nvPr/>
          </p:nvSpPr>
          <p:spPr>
            <a:xfrm>
              <a:off x="6999699" y="7203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4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2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99699" y="7203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4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2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154485" y="81177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36125" y="1074810"/>
            <a:ext cx="2645410" cy="937260"/>
            <a:chOff x="5736125" y="1074810"/>
            <a:chExt cx="2645410" cy="937260"/>
          </a:xfrm>
        </p:grpSpPr>
        <p:sp>
          <p:nvSpPr>
            <p:cNvPr id="16" name="object 16"/>
            <p:cNvSpPr/>
            <p:nvPr/>
          </p:nvSpPr>
          <p:spPr>
            <a:xfrm>
              <a:off x="7369971" y="1089097"/>
              <a:ext cx="946785" cy="443865"/>
            </a:xfrm>
            <a:custGeom>
              <a:avLst/>
              <a:gdLst/>
              <a:ahLst/>
              <a:cxnLst/>
              <a:rect l="l" t="t" r="r" b="b"/>
              <a:pathLst>
                <a:path w="946784" h="443865">
                  <a:moveTo>
                    <a:pt x="0" y="0"/>
                  </a:moveTo>
                  <a:lnTo>
                    <a:pt x="946317" y="44326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59269" y="1475339"/>
              <a:ext cx="122159" cy="9512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047386" y="1089097"/>
              <a:ext cx="1016000" cy="446405"/>
            </a:xfrm>
            <a:custGeom>
              <a:avLst/>
              <a:gdLst/>
              <a:ahLst/>
              <a:cxnLst/>
              <a:rect l="l" t="t" r="r" b="b"/>
              <a:pathLst>
                <a:path w="1016000" h="446405">
                  <a:moveTo>
                    <a:pt x="1015842" y="0"/>
                  </a:moveTo>
                  <a:lnTo>
                    <a:pt x="0" y="446309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81686" y="1478772"/>
              <a:ext cx="122333" cy="9350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740887" y="15749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740887" y="15749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895673" y="166635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229340" y="1569274"/>
            <a:ext cx="3397250" cy="848360"/>
            <a:chOff x="5229340" y="1569274"/>
            <a:chExt cx="3397250" cy="848360"/>
          </a:xfrm>
        </p:grpSpPr>
        <p:sp>
          <p:nvSpPr>
            <p:cNvPr id="24" name="object 24"/>
            <p:cNvSpPr/>
            <p:nvPr/>
          </p:nvSpPr>
          <p:spPr>
            <a:xfrm>
              <a:off x="5287063" y="1943672"/>
              <a:ext cx="517525" cy="424180"/>
            </a:xfrm>
            <a:custGeom>
              <a:avLst/>
              <a:gdLst/>
              <a:ahLst/>
              <a:cxnLst/>
              <a:rect l="l" t="t" r="r" b="b"/>
              <a:pathLst>
                <a:path w="517525" h="424180">
                  <a:moveTo>
                    <a:pt x="517352" y="0"/>
                  </a:moveTo>
                  <a:lnTo>
                    <a:pt x="0" y="423931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29340" y="2308092"/>
              <a:ext cx="117233" cy="10939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111159" y="1943672"/>
              <a:ext cx="629920" cy="419734"/>
            </a:xfrm>
            <a:custGeom>
              <a:avLst/>
              <a:gdLst/>
              <a:ahLst/>
              <a:cxnLst/>
              <a:rect l="l" t="t" r="r" b="b"/>
              <a:pathLst>
                <a:path w="629920" h="419735">
                  <a:moveTo>
                    <a:pt x="0" y="0"/>
                  </a:moveTo>
                  <a:lnTo>
                    <a:pt x="629775" y="419141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82090" y="2303970"/>
              <a:ext cx="119879" cy="10424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187950" y="15740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87950" y="15740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342735" y="166545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989600" y="1928485"/>
            <a:ext cx="4003040" cy="938530"/>
            <a:chOff x="4989600" y="1928485"/>
            <a:chExt cx="4003040" cy="938530"/>
          </a:xfrm>
        </p:grpSpPr>
        <p:sp>
          <p:nvSpPr>
            <p:cNvPr id="32" name="object 32"/>
            <p:cNvSpPr/>
            <p:nvPr/>
          </p:nvSpPr>
          <p:spPr>
            <a:xfrm>
              <a:off x="7925375" y="1942772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90" h="398144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75480" y="2280935"/>
              <a:ext cx="109407" cy="11722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8558221" y="1942772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4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79928" y="2285387"/>
              <a:ext cx="112638" cy="11475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994362" y="242978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994362" y="242978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149148" y="252120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681891" y="2412312"/>
            <a:ext cx="2362835" cy="843915"/>
            <a:chOff x="4681891" y="2412312"/>
            <a:chExt cx="2362835" cy="843915"/>
          </a:xfrm>
        </p:grpSpPr>
        <p:sp>
          <p:nvSpPr>
            <p:cNvPr id="40" name="object 40"/>
            <p:cNvSpPr/>
            <p:nvPr/>
          </p:nvSpPr>
          <p:spPr>
            <a:xfrm>
              <a:off x="4731786" y="2798522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4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81891" y="3136685"/>
              <a:ext cx="109407" cy="11722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364633" y="2798522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5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86341" y="3141137"/>
              <a:ext cx="112639" cy="11475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605649" y="2417074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605649" y="2417074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760435" y="2508487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582699" y="2771522"/>
            <a:ext cx="1828164" cy="924560"/>
            <a:chOff x="5582699" y="2771522"/>
            <a:chExt cx="1828164" cy="924560"/>
          </a:xfrm>
        </p:grpSpPr>
        <p:sp>
          <p:nvSpPr>
            <p:cNvPr id="48" name="object 48"/>
            <p:cNvSpPr/>
            <p:nvPr/>
          </p:nvSpPr>
          <p:spPr>
            <a:xfrm>
              <a:off x="6343074" y="2785810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90" h="398144">
                  <a:moveTo>
                    <a:pt x="326104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93179" y="3123972"/>
              <a:ext cx="109407" cy="117222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975920" y="2785810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4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97628" y="3128424"/>
              <a:ext cx="112638" cy="114756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587462" y="3259199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2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587462" y="3259199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2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4496057" y="33018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116057" y="33018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231507" y="33018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616758" y="2446112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716533" y="24948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742248" y="3350613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5274991" y="3613647"/>
            <a:ext cx="1117600" cy="471805"/>
            <a:chOff x="5274991" y="3613647"/>
            <a:chExt cx="1117600" cy="471805"/>
          </a:xfrm>
        </p:grpSpPr>
        <p:sp>
          <p:nvSpPr>
            <p:cNvPr id="61" name="object 61"/>
            <p:cNvSpPr/>
            <p:nvPr/>
          </p:nvSpPr>
          <p:spPr>
            <a:xfrm>
              <a:off x="5324886" y="3627935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5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74991" y="3966098"/>
              <a:ext cx="109407" cy="117222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5957733" y="3627935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5" h="402589">
                  <a:moveTo>
                    <a:pt x="0" y="0"/>
                  </a:moveTo>
                  <a:lnTo>
                    <a:pt x="381424" y="402332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79441" y="3970550"/>
              <a:ext cx="112639" cy="114756"/>
            </a:xfrm>
            <a:prstGeom prst="rect">
              <a:avLst/>
            </a:prstGeom>
          </p:spPr>
        </p:pic>
      </p:grpSp>
      <p:sp>
        <p:nvSpPr>
          <p:cNvPr id="65" name="object 65"/>
          <p:cNvSpPr txBox="1"/>
          <p:nvPr/>
        </p:nvSpPr>
        <p:spPr>
          <a:xfrm>
            <a:off x="1098975" y="4021960"/>
            <a:ext cx="508634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20" dirty="0">
                <a:latin typeface="Arial MT"/>
                <a:cs typeface="Arial MT"/>
              </a:rPr>
              <a:t>mais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783478" y="4021960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0" dirty="0">
                <a:latin typeface="Arial MT"/>
                <a:cs typeface="Arial MT"/>
              </a:rPr>
              <a:t>à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112433" y="4021960"/>
            <a:ext cx="6483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latin typeface="Arial MT"/>
                <a:cs typeface="Arial MT"/>
              </a:rPr>
              <a:t>direita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936666" y="4021960"/>
            <a:ext cx="280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25" dirty="0">
                <a:latin typeface="Arial MT"/>
                <a:cs typeface="Arial MT"/>
              </a:rPr>
              <a:t>de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392723" y="4021960"/>
            <a:ext cx="3943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25" dirty="0">
                <a:latin typeface="Arial MT"/>
                <a:cs typeface="Arial MT"/>
              </a:rPr>
              <a:t>seu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63045" y="4021960"/>
            <a:ext cx="534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20" dirty="0">
                <a:latin typeface="Arial MT"/>
                <a:cs typeface="Arial MT"/>
              </a:rPr>
              <a:t>nodo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5089157" y="4175725"/>
            <a:ext cx="40386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3" name="object 7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Estrutura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Dados</a:t>
            </a:r>
            <a:r>
              <a:rPr spc="-15" dirty="0"/>
              <a:t> </a:t>
            </a:r>
            <a:r>
              <a:rPr dirty="0"/>
              <a:t>em</a:t>
            </a:r>
            <a:r>
              <a:rPr spc="-15" dirty="0"/>
              <a:t> </a:t>
            </a:r>
            <a:r>
              <a:rPr spc="-50" dirty="0"/>
              <a:t>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4911" y="78631"/>
            <a:ext cx="389509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Árvores</a:t>
            </a:r>
            <a:r>
              <a:rPr spc="-2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0" dirty="0"/>
              <a:t>Remoção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4575" y="588450"/>
            <a:ext cx="2232660" cy="844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3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Remoção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Nodo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3 </a:t>
            </a:r>
            <a:r>
              <a:rPr sz="1800" b="1" dirty="0">
                <a:latin typeface="Arial"/>
                <a:cs typeface="Arial"/>
              </a:rPr>
              <a:t>Caso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3: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5099" y="1407601"/>
            <a:ext cx="4220845" cy="166370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165"/>
              </a:spcBef>
              <a:buClr>
                <a:srgbClr val="000000"/>
              </a:buClr>
              <a:buFont typeface="Arial MT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Nodo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3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tem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filhos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1065"/>
              </a:spcBef>
              <a:buChar char="●"/>
              <a:tabLst>
                <a:tab pos="379095" algn="l"/>
              </a:tabLst>
            </a:pPr>
            <a:r>
              <a:rPr sz="1800" dirty="0">
                <a:latin typeface="Arial MT"/>
                <a:cs typeface="Arial MT"/>
              </a:rPr>
              <a:t>2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Estratégias:</a:t>
            </a:r>
            <a:endParaRPr sz="1800">
              <a:latin typeface="Arial MT"/>
              <a:cs typeface="Arial MT"/>
            </a:endParaRPr>
          </a:p>
          <a:p>
            <a:pPr marL="836294" marR="5080" lvl="1" indent="-367030">
              <a:lnSpc>
                <a:spcPct val="149300"/>
              </a:lnSpc>
              <a:buChar char="○"/>
              <a:tabLst>
                <a:tab pos="836294" algn="l"/>
              </a:tabLst>
            </a:pP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Substituir</a:t>
            </a:r>
            <a:r>
              <a:rPr sz="1800" b="1" spc="140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o</a:t>
            </a:r>
            <a:r>
              <a:rPr sz="1800" b="1" spc="145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Nodo</a:t>
            </a:r>
            <a:r>
              <a:rPr sz="1800" b="1" spc="145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3</a:t>
            </a:r>
            <a:r>
              <a:rPr sz="1800" b="1" spc="140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pelo</a:t>
            </a:r>
            <a:r>
              <a:rPr sz="1800" b="1" spc="145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0FF00"/>
                </a:solidFill>
                <a:latin typeface="Arial"/>
                <a:cs typeface="Arial"/>
              </a:rPr>
              <a:t>nodo 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mais</a:t>
            </a:r>
            <a:r>
              <a:rPr sz="1800" b="1" spc="250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à</a:t>
            </a:r>
            <a:r>
              <a:rPr sz="1800" b="1" spc="250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esquerda</a:t>
            </a:r>
            <a:r>
              <a:rPr sz="1800" b="1" spc="254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de</a:t>
            </a:r>
            <a:r>
              <a:rPr sz="1800" b="1" spc="250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seu</a:t>
            </a:r>
            <a:r>
              <a:rPr sz="1800" b="1" spc="254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0FF00"/>
                </a:solidFill>
                <a:latin typeface="Arial"/>
                <a:cs typeface="Arial"/>
              </a:rPr>
              <a:t>nodo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2299" y="3045901"/>
            <a:ext cx="3765550" cy="84455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>
              <a:lnSpc>
                <a:spcPct val="100000"/>
              </a:lnSpc>
              <a:spcBef>
                <a:spcPts val="1165"/>
              </a:spcBef>
            </a:pPr>
            <a:r>
              <a:rPr sz="1800" b="1" spc="-10" dirty="0">
                <a:solidFill>
                  <a:srgbClr val="00FF00"/>
                </a:solidFill>
                <a:latin typeface="Arial"/>
                <a:cs typeface="Arial"/>
              </a:rPr>
              <a:t>direito.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065"/>
              </a:spcBef>
              <a:buChar char="○"/>
              <a:tabLst>
                <a:tab pos="379095" algn="l"/>
                <a:tab pos="1467485" algn="l"/>
                <a:tab pos="1730375" algn="l"/>
                <a:tab pos="2413000" algn="l"/>
                <a:tab pos="2675890" algn="l"/>
                <a:tab pos="3243580" algn="l"/>
              </a:tabLst>
            </a:pPr>
            <a:r>
              <a:rPr sz="1800" spc="-10" dirty="0">
                <a:latin typeface="Arial MT"/>
                <a:cs typeface="Arial MT"/>
              </a:rPr>
              <a:t>Substituir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50" dirty="0">
                <a:latin typeface="Arial MT"/>
                <a:cs typeface="Arial MT"/>
              </a:rPr>
              <a:t>o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Nodo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50" dirty="0">
                <a:latin typeface="Arial MT"/>
                <a:cs typeface="Arial MT"/>
              </a:rPr>
              <a:t>3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pelo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nodo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994937" y="715599"/>
            <a:ext cx="443865" cy="441959"/>
            <a:chOff x="6994937" y="715599"/>
            <a:chExt cx="443865" cy="441959"/>
          </a:xfrm>
        </p:grpSpPr>
        <p:sp>
          <p:nvSpPr>
            <p:cNvPr id="12" name="object 12"/>
            <p:cNvSpPr/>
            <p:nvPr/>
          </p:nvSpPr>
          <p:spPr>
            <a:xfrm>
              <a:off x="6999699" y="7203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4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2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99699" y="7203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4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2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154485" y="81177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36125" y="1074810"/>
            <a:ext cx="2645410" cy="937260"/>
            <a:chOff x="5736125" y="1074810"/>
            <a:chExt cx="2645410" cy="937260"/>
          </a:xfrm>
        </p:grpSpPr>
        <p:sp>
          <p:nvSpPr>
            <p:cNvPr id="16" name="object 16"/>
            <p:cNvSpPr/>
            <p:nvPr/>
          </p:nvSpPr>
          <p:spPr>
            <a:xfrm>
              <a:off x="7369971" y="1089097"/>
              <a:ext cx="946785" cy="443865"/>
            </a:xfrm>
            <a:custGeom>
              <a:avLst/>
              <a:gdLst/>
              <a:ahLst/>
              <a:cxnLst/>
              <a:rect l="l" t="t" r="r" b="b"/>
              <a:pathLst>
                <a:path w="946784" h="443865">
                  <a:moveTo>
                    <a:pt x="0" y="0"/>
                  </a:moveTo>
                  <a:lnTo>
                    <a:pt x="946317" y="44326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59269" y="1475339"/>
              <a:ext cx="122159" cy="9512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047386" y="1089097"/>
              <a:ext cx="1016000" cy="446405"/>
            </a:xfrm>
            <a:custGeom>
              <a:avLst/>
              <a:gdLst/>
              <a:ahLst/>
              <a:cxnLst/>
              <a:rect l="l" t="t" r="r" b="b"/>
              <a:pathLst>
                <a:path w="1016000" h="446405">
                  <a:moveTo>
                    <a:pt x="1015842" y="0"/>
                  </a:moveTo>
                  <a:lnTo>
                    <a:pt x="0" y="446309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81686" y="1478772"/>
              <a:ext cx="122333" cy="9350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740887" y="15749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740887" y="15749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895673" y="166635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229340" y="1569274"/>
            <a:ext cx="3397250" cy="848360"/>
            <a:chOff x="5229340" y="1569274"/>
            <a:chExt cx="3397250" cy="848360"/>
          </a:xfrm>
        </p:grpSpPr>
        <p:sp>
          <p:nvSpPr>
            <p:cNvPr id="24" name="object 24"/>
            <p:cNvSpPr/>
            <p:nvPr/>
          </p:nvSpPr>
          <p:spPr>
            <a:xfrm>
              <a:off x="5287063" y="1943672"/>
              <a:ext cx="517525" cy="424180"/>
            </a:xfrm>
            <a:custGeom>
              <a:avLst/>
              <a:gdLst/>
              <a:ahLst/>
              <a:cxnLst/>
              <a:rect l="l" t="t" r="r" b="b"/>
              <a:pathLst>
                <a:path w="517525" h="424180">
                  <a:moveTo>
                    <a:pt x="517352" y="0"/>
                  </a:moveTo>
                  <a:lnTo>
                    <a:pt x="0" y="4239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29340" y="2308092"/>
              <a:ext cx="117233" cy="10939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111159" y="1943672"/>
              <a:ext cx="629920" cy="419734"/>
            </a:xfrm>
            <a:custGeom>
              <a:avLst/>
              <a:gdLst/>
              <a:ahLst/>
              <a:cxnLst/>
              <a:rect l="l" t="t" r="r" b="b"/>
              <a:pathLst>
                <a:path w="629920" h="419735">
                  <a:moveTo>
                    <a:pt x="0" y="0"/>
                  </a:moveTo>
                  <a:lnTo>
                    <a:pt x="629775" y="41914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82090" y="2303970"/>
              <a:ext cx="119879" cy="10424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187950" y="15740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87950" y="15740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342735" y="166545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989600" y="1928485"/>
            <a:ext cx="4003040" cy="938530"/>
            <a:chOff x="4989600" y="1928485"/>
            <a:chExt cx="4003040" cy="938530"/>
          </a:xfrm>
        </p:grpSpPr>
        <p:sp>
          <p:nvSpPr>
            <p:cNvPr id="32" name="object 32"/>
            <p:cNvSpPr/>
            <p:nvPr/>
          </p:nvSpPr>
          <p:spPr>
            <a:xfrm>
              <a:off x="7925375" y="1942772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90" h="398144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75480" y="2280935"/>
              <a:ext cx="109407" cy="11722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8558221" y="1942772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4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79928" y="2285387"/>
              <a:ext cx="112638" cy="11475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994362" y="242978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994362" y="242978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149148" y="252120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681891" y="2784235"/>
            <a:ext cx="1344295" cy="911860"/>
            <a:chOff x="4681891" y="2784235"/>
            <a:chExt cx="1344295" cy="911860"/>
          </a:xfrm>
        </p:grpSpPr>
        <p:sp>
          <p:nvSpPr>
            <p:cNvPr id="40" name="object 40"/>
            <p:cNvSpPr/>
            <p:nvPr/>
          </p:nvSpPr>
          <p:spPr>
            <a:xfrm>
              <a:off x="4731786" y="2798522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4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81891" y="3136685"/>
              <a:ext cx="109407" cy="11722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364633" y="2798522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5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86341" y="3141137"/>
              <a:ext cx="112639" cy="11475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5587462" y="3259200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2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587462" y="3259200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2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4496057" y="33018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632082" y="2446112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616758" y="2446112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716533" y="24948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742248" y="3350613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274991" y="3613647"/>
            <a:ext cx="1117600" cy="471805"/>
            <a:chOff x="5274991" y="3613647"/>
            <a:chExt cx="1117600" cy="471805"/>
          </a:xfrm>
        </p:grpSpPr>
        <p:sp>
          <p:nvSpPr>
            <p:cNvPr id="52" name="object 52"/>
            <p:cNvSpPr/>
            <p:nvPr/>
          </p:nvSpPr>
          <p:spPr>
            <a:xfrm>
              <a:off x="5324886" y="3627935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5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74991" y="3966098"/>
              <a:ext cx="109407" cy="117222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957733" y="3627935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5" h="402589">
                  <a:moveTo>
                    <a:pt x="0" y="0"/>
                  </a:moveTo>
                  <a:lnTo>
                    <a:pt x="381424" y="402332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79441" y="3970550"/>
              <a:ext cx="112639" cy="114756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1098975" y="4021960"/>
            <a:ext cx="508634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20" dirty="0">
                <a:latin typeface="Arial MT"/>
                <a:cs typeface="Arial MT"/>
              </a:rPr>
              <a:t>mais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783478" y="4021960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0" dirty="0">
                <a:latin typeface="Arial MT"/>
                <a:cs typeface="Arial MT"/>
              </a:rPr>
              <a:t>à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112433" y="4021960"/>
            <a:ext cx="6483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latin typeface="Arial MT"/>
                <a:cs typeface="Arial MT"/>
              </a:rPr>
              <a:t>direita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936666" y="4021960"/>
            <a:ext cx="280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25" dirty="0">
                <a:latin typeface="Arial MT"/>
                <a:cs typeface="Arial MT"/>
              </a:rPr>
              <a:t>de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392723" y="4021960"/>
            <a:ext cx="3943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25" dirty="0">
                <a:latin typeface="Arial MT"/>
                <a:cs typeface="Arial MT"/>
              </a:rPr>
              <a:t>seu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963045" y="4021960"/>
            <a:ext cx="534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20" dirty="0">
                <a:latin typeface="Arial MT"/>
                <a:cs typeface="Arial MT"/>
              </a:rPr>
              <a:t>nodo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089157" y="4175725"/>
            <a:ext cx="40386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4" name="object 6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Estrutura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Dados</a:t>
            </a:r>
            <a:r>
              <a:rPr spc="-15" dirty="0"/>
              <a:t> </a:t>
            </a:r>
            <a:r>
              <a:rPr dirty="0"/>
              <a:t>em</a:t>
            </a:r>
            <a:r>
              <a:rPr spc="-15" dirty="0"/>
              <a:t> </a:t>
            </a:r>
            <a:r>
              <a:rPr spc="-50" dirty="0"/>
              <a:t>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4911" y="78631"/>
            <a:ext cx="389509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Árvores</a:t>
            </a:r>
            <a:r>
              <a:rPr spc="-2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0" dirty="0"/>
              <a:t>Remoção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4575" y="588450"/>
            <a:ext cx="2232660" cy="844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3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Remoção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Nodo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3 </a:t>
            </a:r>
            <a:r>
              <a:rPr sz="1800" b="1" dirty="0">
                <a:latin typeface="Arial"/>
                <a:cs typeface="Arial"/>
              </a:rPr>
              <a:t>Caso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3: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5099" y="1407601"/>
            <a:ext cx="4222750" cy="166370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165"/>
              </a:spcBef>
              <a:buClr>
                <a:srgbClr val="000000"/>
              </a:buClr>
              <a:buFont typeface="Arial MT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Nodo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3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tem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filhos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1065"/>
              </a:spcBef>
              <a:buChar char="●"/>
              <a:tabLst>
                <a:tab pos="379095" algn="l"/>
              </a:tabLst>
            </a:pPr>
            <a:r>
              <a:rPr sz="1800" dirty="0">
                <a:latin typeface="Arial MT"/>
                <a:cs typeface="Arial MT"/>
              </a:rPr>
              <a:t>2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Estratégias:</a:t>
            </a:r>
            <a:endParaRPr sz="1800">
              <a:latin typeface="Arial MT"/>
              <a:cs typeface="Arial MT"/>
            </a:endParaRPr>
          </a:p>
          <a:p>
            <a:pPr marL="836294" marR="5080" lvl="1" indent="-367030">
              <a:lnSpc>
                <a:spcPct val="149300"/>
              </a:lnSpc>
              <a:buChar char="○"/>
              <a:tabLst>
                <a:tab pos="836294" algn="l"/>
                <a:tab pos="1454785" algn="l"/>
                <a:tab pos="1717675" algn="l"/>
                <a:tab pos="1924685" algn="l"/>
                <a:tab pos="2187575" algn="l"/>
                <a:tab pos="2806065" algn="l"/>
                <a:tab pos="2870200" algn="l"/>
                <a:tab pos="3133090" algn="l"/>
                <a:tab pos="3196590" algn="l"/>
                <a:tab pos="3700779" algn="l"/>
              </a:tabLst>
            </a:pPr>
            <a:r>
              <a:rPr sz="1800" spc="-10" dirty="0">
                <a:latin typeface="Arial MT"/>
                <a:cs typeface="Arial MT"/>
              </a:rPr>
              <a:t>Substituir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50" dirty="0">
                <a:latin typeface="Arial MT"/>
                <a:cs typeface="Arial MT"/>
              </a:rPr>
              <a:t>o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Nodo</a:t>
            </a:r>
            <a:r>
              <a:rPr sz="1800" dirty="0">
                <a:latin typeface="Arial MT"/>
                <a:cs typeface="Arial MT"/>
              </a:rPr>
              <a:t>		</a:t>
            </a:r>
            <a:r>
              <a:rPr sz="1800" spc="-50" dirty="0">
                <a:latin typeface="Arial MT"/>
                <a:cs typeface="Arial MT"/>
              </a:rPr>
              <a:t>3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pelo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nodo mais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50" dirty="0">
                <a:latin typeface="Arial MT"/>
                <a:cs typeface="Arial MT"/>
              </a:rPr>
              <a:t>à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esquerda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de</a:t>
            </a:r>
            <a:r>
              <a:rPr sz="1800" dirty="0">
                <a:latin typeface="Arial MT"/>
                <a:cs typeface="Arial MT"/>
              </a:rPr>
              <a:t>		</a:t>
            </a:r>
            <a:r>
              <a:rPr sz="1800" spc="-25" dirty="0">
                <a:latin typeface="Arial MT"/>
                <a:cs typeface="Arial MT"/>
              </a:rPr>
              <a:t>seu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nodo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2299" y="3045901"/>
            <a:ext cx="3763010" cy="84455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>
              <a:lnSpc>
                <a:spcPct val="100000"/>
              </a:lnSpc>
              <a:spcBef>
                <a:spcPts val="1165"/>
              </a:spcBef>
            </a:pPr>
            <a:r>
              <a:rPr sz="1800" spc="-10" dirty="0">
                <a:latin typeface="Arial MT"/>
                <a:cs typeface="Arial MT"/>
              </a:rPr>
              <a:t>direito.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1065"/>
              </a:spcBef>
              <a:buChar char="○"/>
              <a:tabLst>
                <a:tab pos="379095" algn="l"/>
              </a:tabLst>
            </a:pP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Substituir</a:t>
            </a:r>
            <a:r>
              <a:rPr sz="1800" b="1" spc="140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o</a:t>
            </a:r>
            <a:r>
              <a:rPr sz="1800" b="1" spc="145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Nodo</a:t>
            </a:r>
            <a:r>
              <a:rPr sz="1800" b="1" spc="145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3</a:t>
            </a:r>
            <a:r>
              <a:rPr sz="1800" b="1" spc="140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pelo</a:t>
            </a:r>
            <a:r>
              <a:rPr sz="1800" b="1" spc="145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0FF00"/>
                </a:solidFill>
                <a:latin typeface="Arial"/>
                <a:cs typeface="Arial"/>
              </a:rPr>
              <a:t>nodo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994937" y="715599"/>
            <a:ext cx="443865" cy="441959"/>
            <a:chOff x="6994937" y="715599"/>
            <a:chExt cx="443865" cy="441959"/>
          </a:xfrm>
        </p:grpSpPr>
        <p:sp>
          <p:nvSpPr>
            <p:cNvPr id="12" name="object 12"/>
            <p:cNvSpPr/>
            <p:nvPr/>
          </p:nvSpPr>
          <p:spPr>
            <a:xfrm>
              <a:off x="6999699" y="7203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4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2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99699" y="7203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4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2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154485" y="81177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36125" y="1074810"/>
            <a:ext cx="2645410" cy="937260"/>
            <a:chOff x="5736125" y="1074810"/>
            <a:chExt cx="2645410" cy="937260"/>
          </a:xfrm>
        </p:grpSpPr>
        <p:sp>
          <p:nvSpPr>
            <p:cNvPr id="16" name="object 16"/>
            <p:cNvSpPr/>
            <p:nvPr/>
          </p:nvSpPr>
          <p:spPr>
            <a:xfrm>
              <a:off x="7369971" y="1089097"/>
              <a:ext cx="946785" cy="443865"/>
            </a:xfrm>
            <a:custGeom>
              <a:avLst/>
              <a:gdLst/>
              <a:ahLst/>
              <a:cxnLst/>
              <a:rect l="l" t="t" r="r" b="b"/>
              <a:pathLst>
                <a:path w="946784" h="443865">
                  <a:moveTo>
                    <a:pt x="0" y="0"/>
                  </a:moveTo>
                  <a:lnTo>
                    <a:pt x="946317" y="44326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59269" y="1475339"/>
              <a:ext cx="122159" cy="9512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047386" y="1089097"/>
              <a:ext cx="1016000" cy="446405"/>
            </a:xfrm>
            <a:custGeom>
              <a:avLst/>
              <a:gdLst/>
              <a:ahLst/>
              <a:cxnLst/>
              <a:rect l="l" t="t" r="r" b="b"/>
              <a:pathLst>
                <a:path w="1016000" h="446405">
                  <a:moveTo>
                    <a:pt x="1015842" y="0"/>
                  </a:moveTo>
                  <a:lnTo>
                    <a:pt x="0" y="446309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81686" y="1478772"/>
              <a:ext cx="122333" cy="9350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740887" y="15749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740887" y="15749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895673" y="166635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229340" y="1569274"/>
            <a:ext cx="3397250" cy="848360"/>
            <a:chOff x="5229340" y="1569274"/>
            <a:chExt cx="3397250" cy="848360"/>
          </a:xfrm>
        </p:grpSpPr>
        <p:sp>
          <p:nvSpPr>
            <p:cNvPr id="24" name="object 24"/>
            <p:cNvSpPr/>
            <p:nvPr/>
          </p:nvSpPr>
          <p:spPr>
            <a:xfrm>
              <a:off x="5287063" y="1943672"/>
              <a:ext cx="517525" cy="424180"/>
            </a:xfrm>
            <a:custGeom>
              <a:avLst/>
              <a:gdLst/>
              <a:ahLst/>
              <a:cxnLst/>
              <a:rect l="l" t="t" r="r" b="b"/>
              <a:pathLst>
                <a:path w="517525" h="424180">
                  <a:moveTo>
                    <a:pt x="517352" y="0"/>
                  </a:moveTo>
                  <a:lnTo>
                    <a:pt x="0" y="423931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29340" y="2308092"/>
              <a:ext cx="117233" cy="10939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111159" y="1943672"/>
              <a:ext cx="629920" cy="419734"/>
            </a:xfrm>
            <a:custGeom>
              <a:avLst/>
              <a:gdLst/>
              <a:ahLst/>
              <a:cxnLst/>
              <a:rect l="l" t="t" r="r" b="b"/>
              <a:pathLst>
                <a:path w="629920" h="419735">
                  <a:moveTo>
                    <a:pt x="0" y="0"/>
                  </a:moveTo>
                  <a:lnTo>
                    <a:pt x="629775" y="419141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82090" y="2303970"/>
              <a:ext cx="119879" cy="10424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187950" y="15740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87950" y="15740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342735" y="166545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989600" y="1928485"/>
            <a:ext cx="4003040" cy="938530"/>
            <a:chOff x="4989600" y="1928485"/>
            <a:chExt cx="4003040" cy="938530"/>
          </a:xfrm>
        </p:grpSpPr>
        <p:sp>
          <p:nvSpPr>
            <p:cNvPr id="32" name="object 32"/>
            <p:cNvSpPr/>
            <p:nvPr/>
          </p:nvSpPr>
          <p:spPr>
            <a:xfrm>
              <a:off x="7925375" y="1942772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90" h="398144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75480" y="2280935"/>
              <a:ext cx="109407" cy="11722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8558221" y="1942772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4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79928" y="2285387"/>
              <a:ext cx="112638" cy="11475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994362" y="242978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994362" y="242978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149148" y="252120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681891" y="2412312"/>
            <a:ext cx="2362835" cy="843915"/>
            <a:chOff x="4681891" y="2412312"/>
            <a:chExt cx="2362835" cy="843915"/>
          </a:xfrm>
        </p:grpSpPr>
        <p:sp>
          <p:nvSpPr>
            <p:cNvPr id="40" name="object 40"/>
            <p:cNvSpPr/>
            <p:nvPr/>
          </p:nvSpPr>
          <p:spPr>
            <a:xfrm>
              <a:off x="4731786" y="2798522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4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81891" y="3136685"/>
              <a:ext cx="109407" cy="11722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364633" y="2798522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5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86341" y="3141137"/>
              <a:ext cx="112639" cy="11475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605649" y="2417074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605649" y="2417074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760435" y="2508487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582699" y="2771522"/>
            <a:ext cx="1828164" cy="924560"/>
            <a:chOff x="5582699" y="2771522"/>
            <a:chExt cx="1828164" cy="924560"/>
          </a:xfrm>
        </p:grpSpPr>
        <p:sp>
          <p:nvSpPr>
            <p:cNvPr id="48" name="object 48"/>
            <p:cNvSpPr/>
            <p:nvPr/>
          </p:nvSpPr>
          <p:spPr>
            <a:xfrm>
              <a:off x="6343074" y="2785810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90" h="398144">
                  <a:moveTo>
                    <a:pt x="326104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93179" y="3123972"/>
              <a:ext cx="109407" cy="117222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975920" y="2785810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4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97628" y="3128424"/>
              <a:ext cx="112638" cy="114756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587462" y="3259199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2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587462" y="3259199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2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4496057" y="33018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116057" y="33018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231507" y="33018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616758" y="2446112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716533" y="24948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742248" y="3350613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5274991" y="3613647"/>
            <a:ext cx="1117600" cy="471805"/>
            <a:chOff x="5274991" y="3613647"/>
            <a:chExt cx="1117600" cy="471805"/>
          </a:xfrm>
        </p:grpSpPr>
        <p:sp>
          <p:nvSpPr>
            <p:cNvPr id="61" name="object 61"/>
            <p:cNvSpPr/>
            <p:nvPr/>
          </p:nvSpPr>
          <p:spPr>
            <a:xfrm>
              <a:off x="5324886" y="3627935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5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74991" y="3966098"/>
              <a:ext cx="109407" cy="117222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5957733" y="3627935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5" h="402589">
                  <a:moveTo>
                    <a:pt x="0" y="0"/>
                  </a:moveTo>
                  <a:lnTo>
                    <a:pt x="381424" y="402332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79441" y="3970550"/>
              <a:ext cx="112639" cy="114756"/>
            </a:xfrm>
            <a:prstGeom prst="rect">
              <a:avLst/>
            </a:prstGeom>
          </p:spPr>
        </p:pic>
      </p:grpSp>
      <p:sp>
        <p:nvSpPr>
          <p:cNvPr id="65" name="object 65"/>
          <p:cNvSpPr txBox="1"/>
          <p:nvPr/>
        </p:nvSpPr>
        <p:spPr>
          <a:xfrm>
            <a:off x="1098975" y="4021960"/>
            <a:ext cx="5467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spc="-20" dirty="0">
                <a:solidFill>
                  <a:srgbClr val="00FF00"/>
                </a:solidFill>
                <a:latin typeface="Arial"/>
                <a:cs typeface="Arial"/>
              </a:rPr>
              <a:t>mais</a:t>
            </a:r>
            <a:endParaRPr sz="18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783789" y="4021960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spc="-50" dirty="0">
                <a:solidFill>
                  <a:srgbClr val="00FF00"/>
                </a:solidFill>
                <a:latin typeface="Arial"/>
                <a:cs typeface="Arial"/>
              </a:rPr>
              <a:t>à</a:t>
            </a:r>
            <a:endParaRPr sz="18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074797" y="4021960"/>
            <a:ext cx="71120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spc="-10" dirty="0">
                <a:solidFill>
                  <a:srgbClr val="00FF00"/>
                </a:solidFill>
                <a:latin typeface="Arial"/>
                <a:cs typeface="Arial"/>
              </a:rPr>
              <a:t>direita</a:t>
            </a:r>
            <a:endParaRPr sz="18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924482" y="4021960"/>
            <a:ext cx="29210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spc="-25" dirty="0">
                <a:solidFill>
                  <a:srgbClr val="00FF00"/>
                </a:solidFill>
                <a:latin typeface="Arial"/>
                <a:cs typeface="Arial"/>
              </a:rPr>
              <a:t>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355093" y="4021960"/>
            <a:ext cx="41910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spc="-25" dirty="0">
                <a:solidFill>
                  <a:srgbClr val="00FF00"/>
                </a:solidFill>
                <a:latin typeface="Arial"/>
                <a:cs typeface="Arial"/>
              </a:rPr>
              <a:t>seu</a:t>
            </a:r>
            <a:endParaRPr sz="18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12334" y="4021960"/>
            <a:ext cx="5835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spc="-20" dirty="0">
                <a:solidFill>
                  <a:srgbClr val="00FF00"/>
                </a:solidFill>
                <a:latin typeface="Arial"/>
                <a:cs typeface="Arial"/>
              </a:rPr>
              <a:t>nodo</a:t>
            </a:r>
            <a:endParaRPr sz="18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5089157" y="4175725"/>
            <a:ext cx="40386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3" name="object 7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Estrutura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Dados</a:t>
            </a:r>
            <a:r>
              <a:rPr spc="-15" dirty="0"/>
              <a:t> </a:t>
            </a:r>
            <a:r>
              <a:rPr dirty="0"/>
              <a:t>em</a:t>
            </a:r>
            <a:r>
              <a:rPr spc="-15" dirty="0"/>
              <a:t> </a:t>
            </a:r>
            <a:r>
              <a:rPr spc="-50" dirty="0"/>
              <a:t>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4911" y="78631"/>
            <a:ext cx="389509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Árvores</a:t>
            </a:r>
            <a:r>
              <a:rPr spc="-2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0" dirty="0"/>
              <a:t>Remoção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4575" y="588450"/>
            <a:ext cx="2232660" cy="844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3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Remoção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Nodo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3 </a:t>
            </a:r>
            <a:r>
              <a:rPr sz="1800" b="1" dirty="0">
                <a:latin typeface="Arial"/>
                <a:cs typeface="Arial"/>
              </a:rPr>
              <a:t>Caso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3: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5099" y="1407601"/>
            <a:ext cx="4222750" cy="166370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165"/>
              </a:spcBef>
              <a:buClr>
                <a:srgbClr val="000000"/>
              </a:buClr>
              <a:buFont typeface="Arial MT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Nodo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3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tem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filhos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1065"/>
              </a:spcBef>
              <a:buChar char="●"/>
              <a:tabLst>
                <a:tab pos="379095" algn="l"/>
              </a:tabLst>
            </a:pPr>
            <a:r>
              <a:rPr sz="1800" dirty="0">
                <a:latin typeface="Arial MT"/>
                <a:cs typeface="Arial MT"/>
              </a:rPr>
              <a:t>2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Estratégias:</a:t>
            </a:r>
            <a:endParaRPr sz="1800">
              <a:latin typeface="Arial MT"/>
              <a:cs typeface="Arial MT"/>
            </a:endParaRPr>
          </a:p>
          <a:p>
            <a:pPr marL="836294" marR="5080" lvl="1" indent="-367030">
              <a:lnSpc>
                <a:spcPct val="149300"/>
              </a:lnSpc>
              <a:buChar char="○"/>
              <a:tabLst>
                <a:tab pos="836294" algn="l"/>
                <a:tab pos="1454785" algn="l"/>
                <a:tab pos="1717675" algn="l"/>
                <a:tab pos="1924685" algn="l"/>
                <a:tab pos="2187575" algn="l"/>
                <a:tab pos="2806065" algn="l"/>
                <a:tab pos="2870200" algn="l"/>
                <a:tab pos="3133090" algn="l"/>
                <a:tab pos="3196590" algn="l"/>
                <a:tab pos="3700779" algn="l"/>
              </a:tabLst>
            </a:pPr>
            <a:r>
              <a:rPr sz="1800" spc="-10" dirty="0">
                <a:latin typeface="Arial MT"/>
                <a:cs typeface="Arial MT"/>
              </a:rPr>
              <a:t>Substituir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50" dirty="0">
                <a:latin typeface="Arial MT"/>
                <a:cs typeface="Arial MT"/>
              </a:rPr>
              <a:t>o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Nodo</a:t>
            </a:r>
            <a:r>
              <a:rPr sz="1800" dirty="0">
                <a:latin typeface="Arial MT"/>
                <a:cs typeface="Arial MT"/>
              </a:rPr>
              <a:t>		</a:t>
            </a:r>
            <a:r>
              <a:rPr sz="1800" spc="-50" dirty="0">
                <a:latin typeface="Arial MT"/>
                <a:cs typeface="Arial MT"/>
              </a:rPr>
              <a:t>3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pelo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nodo mais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50" dirty="0">
                <a:latin typeface="Arial MT"/>
                <a:cs typeface="Arial MT"/>
              </a:rPr>
              <a:t>à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esquerda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de</a:t>
            </a:r>
            <a:r>
              <a:rPr sz="1800" dirty="0">
                <a:latin typeface="Arial MT"/>
                <a:cs typeface="Arial MT"/>
              </a:rPr>
              <a:t>		</a:t>
            </a:r>
            <a:r>
              <a:rPr sz="1800" spc="-25" dirty="0">
                <a:latin typeface="Arial MT"/>
                <a:cs typeface="Arial MT"/>
              </a:rPr>
              <a:t>seu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nodo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2299" y="3045901"/>
            <a:ext cx="3763010" cy="84455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>
              <a:lnSpc>
                <a:spcPct val="100000"/>
              </a:lnSpc>
              <a:spcBef>
                <a:spcPts val="1165"/>
              </a:spcBef>
            </a:pPr>
            <a:r>
              <a:rPr sz="1800" spc="-10" dirty="0">
                <a:latin typeface="Arial MT"/>
                <a:cs typeface="Arial MT"/>
              </a:rPr>
              <a:t>direito.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1065"/>
              </a:spcBef>
              <a:buChar char="○"/>
              <a:tabLst>
                <a:tab pos="379095" algn="l"/>
              </a:tabLst>
            </a:pP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Substituir</a:t>
            </a:r>
            <a:r>
              <a:rPr sz="1800" b="1" spc="140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o</a:t>
            </a:r>
            <a:r>
              <a:rPr sz="1800" b="1" spc="145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Nodo</a:t>
            </a:r>
            <a:r>
              <a:rPr sz="1800" b="1" spc="145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3</a:t>
            </a:r>
            <a:r>
              <a:rPr sz="1800" b="1" spc="140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FF00"/>
                </a:solidFill>
                <a:latin typeface="Arial"/>
                <a:cs typeface="Arial"/>
              </a:rPr>
              <a:t>pelo</a:t>
            </a:r>
            <a:r>
              <a:rPr sz="1800" b="1" spc="145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0FF00"/>
                </a:solidFill>
                <a:latin typeface="Arial"/>
                <a:cs typeface="Arial"/>
              </a:rPr>
              <a:t>nodo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994937" y="715599"/>
            <a:ext cx="443865" cy="441959"/>
            <a:chOff x="6994937" y="715599"/>
            <a:chExt cx="443865" cy="441959"/>
          </a:xfrm>
        </p:grpSpPr>
        <p:sp>
          <p:nvSpPr>
            <p:cNvPr id="12" name="object 12"/>
            <p:cNvSpPr/>
            <p:nvPr/>
          </p:nvSpPr>
          <p:spPr>
            <a:xfrm>
              <a:off x="6999699" y="7203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4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2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99699" y="720362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4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2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154485" y="81177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36125" y="1074810"/>
            <a:ext cx="2645410" cy="937260"/>
            <a:chOff x="5736125" y="1074810"/>
            <a:chExt cx="2645410" cy="937260"/>
          </a:xfrm>
        </p:grpSpPr>
        <p:sp>
          <p:nvSpPr>
            <p:cNvPr id="16" name="object 16"/>
            <p:cNvSpPr/>
            <p:nvPr/>
          </p:nvSpPr>
          <p:spPr>
            <a:xfrm>
              <a:off x="7369971" y="1089097"/>
              <a:ext cx="946785" cy="443865"/>
            </a:xfrm>
            <a:custGeom>
              <a:avLst/>
              <a:gdLst/>
              <a:ahLst/>
              <a:cxnLst/>
              <a:rect l="l" t="t" r="r" b="b"/>
              <a:pathLst>
                <a:path w="946784" h="443865">
                  <a:moveTo>
                    <a:pt x="0" y="0"/>
                  </a:moveTo>
                  <a:lnTo>
                    <a:pt x="946317" y="44326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59269" y="1475339"/>
              <a:ext cx="122159" cy="9512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047386" y="1089097"/>
              <a:ext cx="1016000" cy="446405"/>
            </a:xfrm>
            <a:custGeom>
              <a:avLst/>
              <a:gdLst/>
              <a:ahLst/>
              <a:cxnLst/>
              <a:rect l="l" t="t" r="r" b="b"/>
              <a:pathLst>
                <a:path w="1016000" h="446405">
                  <a:moveTo>
                    <a:pt x="1015842" y="0"/>
                  </a:moveTo>
                  <a:lnTo>
                    <a:pt x="0" y="446309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81686" y="1478772"/>
              <a:ext cx="122333" cy="9350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740887" y="15749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740887" y="15749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895673" y="166635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229340" y="1569274"/>
            <a:ext cx="3397250" cy="848360"/>
            <a:chOff x="5229340" y="1569274"/>
            <a:chExt cx="3397250" cy="848360"/>
          </a:xfrm>
        </p:grpSpPr>
        <p:sp>
          <p:nvSpPr>
            <p:cNvPr id="24" name="object 24"/>
            <p:cNvSpPr/>
            <p:nvPr/>
          </p:nvSpPr>
          <p:spPr>
            <a:xfrm>
              <a:off x="5287063" y="1943672"/>
              <a:ext cx="517525" cy="424180"/>
            </a:xfrm>
            <a:custGeom>
              <a:avLst/>
              <a:gdLst/>
              <a:ahLst/>
              <a:cxnLst/>
              <a:rect l="l" t="t" r="r" b="b"/>
              <a:pathLst>
                <a:path w="517525" h="424180">
                  <a:moveTo>
                    <a:pt x="517352" y="0"/>
                  </a:moveTo>
                  <a:lnTo>
                    <a:pt x="0" y="4239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29340" y="2308092"/>
              <a:ext cx="117233" cy="10939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111159" y="1943672"/>
              <a:ext cx="629920" cy="419734"/>
            </a:xfrm>
            <a:custGeom>
              <a:avLst/>
              <a:gdLst/>
              <a:ahLst/>
              <a:cxnLst/>
              <a:rect l="l" t="t" r="r" b="b"/>
              <a:pathLst>
                <a:path w="629920" h="419735">
                  <a:moveTo>
                    <a:pt x="0" y="0"/>
                  </a:moveTo>
                  <a:lnTo>
                    <a:pt x="629775" y="41914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82090" y="2303970"/>
              <a:ext cx="119879" cy="10424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187950" y="15740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87950" y="157403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342735" y="166545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989600" y="1928485"/>
            <a:ext cx="4003040" cy="938530"/>
            <a:chOff x="4989600" y="1928485"/>
            <a:chExt cx="4003040" cy="938530"/>
          </a:xfrm>
        </p:grpSpPr>
        <p:sp>
          <p:nvSpPr>
            <p:cNvPr id="32" name="object 32"/>
            <p:cNvSpPr/>
            <p:nvPr/>
          </p:nvSpPr>
          <p:spPr>
            <a:xfrm>
              <a:off x="7925375" y="1942772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90" h="398144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75480" y="2280935"/>
              <a:ext cx="109407" cy="11722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8558221" y="1942772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4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79928" y="2285387"/>
              <a:ext cx="112638" cy="11475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994362" y="242978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994362" y="2429787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39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4" y="16441"/>
                  </a:lnTo>
                  <a:lnTo>
                    <a:pt x="337236" y="36290"/>
                  </a:lnTo>
                  <a:lnTo>
                    <a:pt x="370271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149148" y="252120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681891" y="2412312"/>
            <a:ext cx="2362835" cy="843915"/>
            <a:chOff x="4681891" y="2412312"/>
            <a:chExt cx="2362835" cy="843915"/>
          </a:xfrm>
        </p:grpSpPr>
        <p:sp>
          <p:nvSpPr>
            <p:cNvPr id="40" name="object 40"/>
            <p:cNvSpPr/>
            <p:nvPr/>
          </p:nvSpPr>
          <p:spPr>
            <a:xfrm>
              <a:off x="4731786" y="2798522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89" h="398144">
                  <a:moveTo>
                    <a:pt x="326103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81891" y="3136685"/>
              <a:ext cx="109407" cy="11722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364633" y="2798522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5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86341" y="3141137"/>
              <a:ext cx="112639" cy="11475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605649" y="2417074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216899" y="431999"/>
                  </a:move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605649" y="2417074"/>
              <a:ext cx="434340" cy="432434"/>
            </a:xfrm>
            <a:custGeom>
              <a:avLst/>
              <a:gdLst/>
              <a:ahLst/>
              <a:cxnLst/>
              <a:rect l="l" t="t" r="r" b="b"/>
              <a:pathLst>
                <a:path w="434340" h="432435">
                  <a:moveTo>
                    <a:pt x="0" y="215999"/>
                  </a:moveTo>
                  <a:lnTo>
                    <a:pt x="5728" y="166473"/>
                  </a:lnTo>
                  <a:lnTo>
                    <a:pt x="22045" y="121008"/>
                  </a:lnTo>
                  <a:lnTo>
                    <a:pt x="47650" y="80903"/>
                  </a:lnTo>
                  <a:lnTo>
                    <a:pt x="81240" y="47452"/>
                  </a:lnTo>
                  <a:lnTo>
                    <a:pt x="121512" y="21954"/>
                  </a:lnTo>
                  <a:lnTo>
                    <a:pt x="167166" y="5704"/>
                  </a:lnTo>
                  <a:lnTo>
                    <a:pt x="216899" y="0"/>
                  </a:lnTo>
                  <a:lnTo>
                    <a:pt x="259412" y="4188"/>
                  </a:lnTo>
                  <a:lnTo>
                    <a:pt x="299903" y="16441"/>
                  </a:lnTo>
                  <a:lnTo>
                    <a:pt x="337235" y="36290"/>
                  </a:lnTo>
                  <a:lnTo>
                    <a:pt x="370270" y="63264"/>
                  </a:lnTo>
                  <a:lnTo>
                    <a:pt x="397358" y="96163"/>
                  </a:lnTo>
                  <a:lnTo>
                    <a:pt x="417289" y="133340"/>
                  </a:lnTo>
                  <a:lnTo>
                    <a:pt x="429593" y="173663"/>
                  </a:lnTo>
                  <a:lnTo>
                    <a:pt x="433799" y="215999"/>
                  </a:lnTo>
                  <a:lnTo>
                    <a:pt x="428071" y="265526"/>
                  </a:lnTo>
                  <a:lnTo>
                    <a:pt x="411754" y="310991"/>
                  </a:lnTo>
                  <a:lnTo>
                    <a:pt x="386149" y="351096"/>
                  </a:lnTo>
                  <a:lnTo>
                    <a:pt x="352559" y="384547"/>
                  </a:lnTo>
                  <a:lnTo>
                    <a:pt x="312287" y="410045"/>
                  </a:lnTo>
                  <a:lnTo>
                    <a:pt x="266633" y="426295"/>
                  </a:lnTo>
                  <a:lnTo>
                    <a:pt x="216899" y="431999"/>
                  </a:lnTo>
                  <a:lnTo>
                    <a:pt x="167166" y="426295"/>
                  </a:lnTo>
                  <a:lnTo>
                    <a:pt x="121512" y="410045"/>
                  </a:lnTo>
                  <a:lnTo>
                    <a:pt x="81240" y="384547"/>
                  </a:lnTo>
                  <a:lnTo>
                    <a:pt x="47650" y="351096"/>
                  </a:lnTo>
                  <a:lnTo>
                    <a:pt x="22045" y="310991"/>
                  </a:lnTo>
                  <a:lnTo>
                    <a:pt x="5728" y="265526"/>
                  </a:lnTo>
                  <a:lnTo>
                    <a:pt x="0" y="215999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760435" y="2508487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293179" y="2771522"/>
            <a:ext cx="1117600" cy="471805"/>
            <a:chOff x="6293179" y="2771522"/>
            <a:chExt cx="1117600" cy="471805"/>
          </a:xfrm>
        </p:grpSpPr>
        <p:sp>
          <p:nvSpPr>
            <p:cNvPr id="48" name="object 48"/>
            <p:cNvSpPr/>
            <p:nvPr/>
          </p:nvSpPr>
          <p:spPr>
            <a:xfrm>
              <a:off x="6343074" y="2785810"/>
              <a:ext cx="326390" cy="398145"/>
            </a:xfrm>
            <a:custGeom>
              <a:avLst/>
              <a:gdLst/>
              <a:ahLst/>
              <a:cxnLst/>
              <a:rect l="l" t="t" r="r" b="b"/>
              <a:pathLst>
                <a:path w="326390" h="398144">
                  <a:moveTo>
                    <a:pt x="326104" y="0"/>
                  </a:moveTo>
                  <a:lnTo>
                    <a:pt x="0" y="39767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93179" y="3123972"/>
              <a:ext cx="109407" cy="117222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975920" y="2785810"/>
              <a:ext cx="381635" cy="402590"/>
            </a:xfrm>
            <a:custGeom>
              <a:avLst/>
              <a:gdLst/>
              <a:ahLst/>
              <a:cxnLst/>
              <a:rect l="l" t="t" r="r" b="b"/>
              <a:pathLst>
                <a:path w="381634" h="402589">
                  <a:moveTo>
                    <a:pt x="0" y="0"/>
                  </a:moveTo>
                  <a:lnTo>
                    <a:pt x="381424" y="4023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97628" y="3128424"/>
              <a:ext cx="112638" cy="114756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4496057" y="33018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098975" y="4021960"/>
            <a:ext cx="5467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spc="-20" dirty="0">
                <a:solidFill>
                  <a:srgbClr val="00FF00"/>
                </a:solidFill>
                <a:latin typeface="Arial"/>
                <a:cs typeface="Arial"/>
              </a:rPr>
              <a:t>mais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783789" y="4021960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spc="-50" dirty="0">
                <a:solidFill>
                  <a:srgbClr val="00FF00"/>
                </a:solidFill>
                <a:latin typeface="Arial"/>
                <a:cs typeface="Arial"/>
              </a:rPr>
              <a:t>à</a:t>
            </a:r>
            <a:endParaRPr sz="18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074797" y="4021960"/>
            <a:ext cx="71120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spc="-10" dirty="0">
                <a:solidFill>
                  <a:srgbClr val="00FF00"/>
                </a:solidFill>
                <a:latin typeface="Arial"/>
                <a:cs typeface="Arial"/>
              </a:rPr>
              <a:t>direita</a:t>
            </a:r>
            <a:endParaRPr sz="18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924482" y="4021960"/>
            <a:ext cx="29210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spc="-25" dirty="0">
                <a:solidFill>
                  <a:srgbClr val="00FF00"/>
                </a:solidFill>
                <a:latin typeface="Arial"/>
                <a:cs typeface="Arial"/>
              </a:rPr>
              <a:t>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355093" y="4021960"/>
            <a:ext cx="41910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spc="-25" dirty="0">
                <a:solidFill>
                  <a:srgbClr val="00FF00"/>
                </a:solidFill>
                <a:latin typeface="Arial"/>
                <a:cs typeface="Arial"/>
              </a:rPr>
              <a:t>seu</a:t>
            </a:r>
            <a:endParaRPr sz="18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912334" y="4021960"/>
            <a:ext cx="5835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spc="-20" dirty="0">
                <a:solidFill>
                  <a:srgbClr val="00FF00"/>
                </a:solidFill>
                <a:latin typeface="Arial"/>
                <a:cs typeface="Arial"/>
              </a:rPr>
              <a:t>nodo</a:t>
            </a:r>
            <a:endParaRPr sz="1800">
              <a:latin typeface="Arial"/>
              <a:cs typeface="Arial"/>
            </a:endParaRPr>
          </a:p>
        </p:txBody>
      </p:sp>
      <p:sp>
        <p:nvSpPr>
          <p:cNvPr id="65" name="object 6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Estrutura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Dados</a:t>
            </a:r>
            <a:r>
              <a:rPr spc="-15" dirty="0"/>
              <a:t> </a:t>
            </a:r>
            <a:r>
              <a:rPr dirty="0"/>
              <a:t>em</a:t>
            </a:r>
            <a:r>
              <a:rPr spc="-15" dirty="0"/>
              <a:t> </a:t>
            </a:r>
            <a:r>
              <a:rPr spc="-50" dirty="0"/>
              <a:t>C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6116057" y="33018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231507" y="33018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616758" y="2446112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716533" y="2494863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572170" y="3283325"/>
            <a:ext cx="403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NULL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</TotalTime>
  <Words>813</Words>
  <Application>Microsoft Office PowerPoint</Application>
  <PresentationFormat>Apresentação na tela (16:9)</PresentationFormat>
  <Paragraphs>290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Arial</vt:lpstr>
      <vt:lpstr>Arial MT</vt:lpstr>
      <vt:lpstr>Calibri</vt:lpstr>
      <vt:lpstr>Office Theme</vt:lpstr>
      <vt:lpstr>Árvores - Remoção</vt:lpstr>
      <vt:lpstr>Árvores - Remoção</vt:lpstr>
      <vt:lpstr>Árvores - Remoção</vt:lpstr>
      <vt:lpstr>Árvores - Remoção</vt:lpstr>
      <vt:lpstr>Árvores - Remoção</vt:lpstr>
      <vt:lpstr>Árvores - Remoção</vt:lpstr>
      <vt:lpstr>Árvores - Remoção</vt:lpstr>
      <vt:lpstr>Árvores - Remoção</vt:lpstr>
      <vt:lpstr>Árvores - Remoção</vt:lpstr>
      <vt:lpstr>Árvores - Remoção</vt:lpstr>
      <vt:lpstr>Árvores - Remoção</vt:lpstr>
      <vt:lpstr>Árvores - Remoção</vt:lpstr>
      <vt:lpstr>Árvores - Remoção</vt:lpstr>
      <vt:lpstr>Árvores - Remoção</vt:lpstr>
      <vt:lpstr>Árvores - Remoção</vt:lpstr>
      <vt:lpstr>Árvores - Remoção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Douglas Lopes Farias</cp:lastModifiedBy>
  <cp:revision>1</cp:revision>
  <dcterms:created xsi:type="dcterms:W3CDTF">2026-03-18T18:13:55Z</dcterms:created>
  <dcterms:modified xsi:type="dcterms:W3CDTF">2026-03-18T23:33:25Z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2026-03-18T00:00:00Z</vt:filetime>
  </property>
  <property fmtid="{D5CDD505-2E9C-101B-9397-08002B2CF9AE}" pid="3" name="Creator">
    <vt:lpwstr>Google</vt:lpwstr>
  </property>
  <property fmtid="{D5CDD505-2E9C-101B-9397-08002B2CF9AE}" pid="4" name="LastSaved">
    <vt:filetime>2026-03-18T00:00:00Z</vt:filetime>
  </property>
</Properties>
</file>